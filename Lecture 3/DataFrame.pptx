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5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5" r:id="rId1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77" y="1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лья Толоконов" userId="5d8833687a0f43b3" providerId="LiveId" clId="{5569BF33-C92B-4D40-A52A-48CBEFD8D4CF}"/>
    <pc:docChg chg="undo custSel addSld delSld modSld">
      <pc:chgData name="Илья Толоконов" userId="5d8833687a0f43b3" providerId="LiveId" clId="{5569BF33-C92B-4D40-A52A-48CBEFD8D4CF}" dt="2026-03-22T08:31:22.604" v="324" actId="1076"/>
      <pc:docMkLst>
        <pc:docMk/>
      </pc:docMkLst>
      <pc:sldChg chg="modSp mod">
        <pc:chgData name="Илья Толоконов" userId="5d8833687a0f43b3" providerId="LiveId" clId="{5569BF33-C92B-4D40-A52A-48CBEFD8D4CF}" dt="2026-03-22T08:12:02.686" v="31" actId="20577"/>
        <pc:sldMkLst>
          <pc:docMk/>
          <pc:sldMk cId="0" sldId="256"/>
        </pc:sldMkLst>
        <pc:spChg chg="mod">
          <ac:chgData name="Илья Толоконов" userId="5d8833687a0f43b3" providerId="LiveId" clId="{5569BF33-C92B-4D40-A52A-48CBEFD8D4CF}" dt="2026-03-22T08:11:32.772" v="2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11:41.959" v="2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12:02.686" v="31" actId="20577"/>
          <ac:spMkLst>
            <pc:docMk/>
            <pc:sldMk cId="0" sldId="256"/>
            <ac:spMk id="4" creationId="{00000000-0000-0000-0000-000000000000}"/>
          </ac:spMkLst>
        </pc:spChg>
      </pc:sldChg>
      <pc:sldChg chg="del">
        <pc:chgData name="Илья Толоконов" userId="5d8833687a0f43b3" providerId="LiveId" clId="{5569BF33-C92B-4D40-A52A-48CBEFD8D4CF}" dt="2026-03-22T08:12:10.857" v="32" actId="2696"/>
        <pc:sldMkLst>
          <pc:docMk/>
          <pc:sldMk cId="0" sldId="258"/>
        </pc:sldMkLst>
      </pc:sldChg>
      <pc:sldChg chg="modSp mod">
        <pc:chgData name="Илья Толоконов" userId="5d8833687a0f43b3" providerId="LiveId" clId="{5569BF33-C92B-4D40-A52A-48CBEFD8D4CF}" dt="2026-03-22T08:13:55.760" v="49" actId="6559"/>
        <pc:sldMkLst>
          <pc:docMk/>
          <pc:sldMk cId="0" sldId="260"/>
        </pc:sldMkLst>
        <pc:spChg chg="mod">
          <ac:chgData name="Илья Толоконов" userId="5d8833687a0f43b3" providerId="LiveId" clId="{5569BF33-C92B-4D40-A52A-48CBEFD8D4CF}" dt="2026-03-22T08:13:45.732" v="47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13:55.760" v="49" actId="6559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">
        <pc:chgData name="Илья Толоконов" userId="5d8833687a0f43b3" providerId="LiveId" clId="{5569BF33-C92B-4D40-A52A-48CBEFD8D4CF}" dt="2026-03-22T08:15:03.876" v="68" actId="1076"/>
        <pc:sldMkLst>
          <pc:docMk/>
          <pc:sldMk cId="0" sldId="261"/>
        </pc:sldMkLst>
        <pc:spChg chg="del">
          <ac:chgData name="Илья Толоконов" userId="5d8833687a0f43b3" providerId="LiveId" clId="{5569BF33-C92B-4D40-A52A-48CBEFD8D4CF}" dt="2026-03-22T08:14:35.346" v="50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15:03.876" v="68" actId="1076"/>
          <ac:spMkLst>
            <pc:docMk/>
            <pc:sldMk cId="0" sldId="261"/>
            <ac:spMk id="4" creationId="{00000000-0000-0000-0000-000000000000}"/>
          </ac:spMkLst>
        </pc:spChg>
        <pc:spChg chg="add del mod">
          <ac:chgData name="Илья Толоконов" userId="5d8833687a0f43b3" providerId="LiveId" clId="{5569BF33-C92B-4D40-A52A-48CBEFD8D4CF}" dt="2026-03-22T08:14:36.788" v="51" actId="478"/>
          <ac:spMkLst>
            <pc:docMk/>
            <pc:sldMk cId="0" sldId="261"/>
            <ac:spMk id="6" creationId="{B7D25401-DECA-F3A2-7D8C-76FC461FC8A0}"/>
          </ac:spMkLst>
        </pc:spChg>
        <pc:spChg chg="add mod">
          <ac:chgData name="Илья Толоконов" userId="5d8833687a0f43b3" providerId="LiveId" clId="{5569BF33-C92B-4D40-A52A-48CBEFD8D4CF}" dt="2026-03-22T08:14:37.114" v="52"/>
          <ac:spMkLst>
            <pc:docMk/>
            <pc:sldMk cId="0" sldId="261"/>
            <ac:spMk id="7" creationId="{A2F9B2CE-6B0B-7BB3-516B-0A1F667FF7E5}"/>
          </ac:spMkLst>
        </pc:spChg>
      </pc:sldChg>
      <pc:sldChg chg="modSp mod">
        <pc:chgData name="Илья Толоконов" userId="5d8833687a0f43b3" providerId="LiveId" clId="{5569BF33-C92B-4D40-A52A-48CBEFD8D4CF}" dt="2026-03-22T08:18:48.184" v="137" actId="255"/>
        <pc:sldMkLst>
          <pc:docMk/>
          <pc:sldMk cId="0" sldId="262"/>
        </pc:sldMkLst>
        <pc:spChg chg="mod">
          <ac:chgData name="Илья Толоконов" userId="5d8833687a0f43b3" providerId="LiveId" clId="{5569BF33-C92B-4D40-A52A-48CBEFD8D4CF}" dt="2026-03-22T08:18:48.184" v="137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16:10.332" v="79" actId="6559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Илья Толоконов" userId="5d8833687a0f43b3" providerId="LiveId" clId="{5569BF33-C92B-4D40-A52A-48CBEFD8D4CF}" dt="2026-03-22T08:25:23.812" v="189" actId="692"/>
        <pc:sldMkLst>
          <pc:docMk/>
          <pc:sldMk cId="0" sldId="263"/>
        </pc:sldMkLst>
        <pc:spChg chg="mod">
          <ac:chgData name="Илья Толоконов" userId="5d8833687a0f43b3" providerId="LiveId" clId="{5569BF33-C92B-4D40-A52A-48CBEFD8D4CF}" dt="2026-03-22T08:18:35.409" v="136" actId="1076"/>
          <ac:spMkLst>
            <pc:docMk/>
            <pc:sldMk cId="0" sldId="263"/>
            <ac:spMk id="2" creationId="{00000000-0000-0000-0000-000000000000}"/>
          </ac:spMkLst>
        </pc:spChg>
        <pc:spChg chg="del">
          <ac:chgData name="Илья Толоконов" userId="5d8833687a0f43b3" providerId="LiveId" clId="{5569BF33-C92B-4D40-A52A-48CBEFD8D4CF}" dt="2026-03-22T08:17:22.535" v="119" actId="478"/>
          <ac:spMkLst>
            <pc:docMk/>
            <pc:sldMk cId="0" sldId="263"/>
            <ac:spMk id="3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2T08:25:23.812" v="189" actId="692"/>
          <ac:picMkLst>
            <pc:docMk/>
            <pc:sldMk cId="0" sldId="263"/>
            <ac:picMk id="5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2T08:27:33.322" v="251" actId="20577"/>
        <pc:sldMkLst>
          <pc:docMk/>
          <pc:sldMk cId="0" sldId="264"/>
        </pc:sldMkLst>
        <pc:spChg chg="mod">
          <ac:chgData name="Илья Толоконов" userId="5d8833687a0f43b3" providerId="LiveId" clId="{5569BF33-C92B-4D40-A52A-48CBEFD8D4CF}" dt="2026-03-22T08:26:37.083" v="246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27:33.322" v="251" actId="20577"/>
          <ac:spMkLst>
            <pc:docMk/>
            <pc:sldMk cId="0" sldId="264"/>
            <ac:spMk id="4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2T08:25:12.866" v="188" actId="692"/>
          <ac:picMkLst>
            <pc:docMk/>
            <pc:sldMk cId="0" sldId="264"/>
            <ac:picMk id="2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2T08:28:30.117" v="270" actId="1035"/>
        <pc:sldMkLst>
          <pc:docMk/>
          <pc:sldMk cId="0" sldId="265"/>
        </pc:sldMkLst>
        <pc:spChg chg="mod">
          <ac:chgData name="Илья Толоконов" userId="5d8833687a0f43b3" providerId="LiveId" clId="{5569BF33-C92B-4D40-A52A-48CBEFD8D4CF}" dt="2026-03-22T08:28:24.290" v="268" actId="6559"/>
          <ac:spMkLst>
            <pc:docMk/>
            <pc:sldMk cId="0" sldId="265"/>
            <ac:spMk id="3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28:30.117" v="270" actId="1035"/>
          <ac:spMkLst>
            <pc:docMk/>
            <pc:sldMk cId="0" sldId="265"/>
            <ac:spMk id="4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2T08:28:30.117" v="270" actId="1035"/>
          <ac:picMkLst>
            <pc:docMk/>
            <pc:sldMk cId="0" sldId="265"/>
            <ac:picMk id="2" creationId="{00000000-0000-0000-0000-000000000000}"/>
          </ac:picMkLst>
        </pc:picChg>
      </pc:sldChg>
      <pc:sldChg chg="addSp delSp modSp mod">
        <pc:chgData name="Илья Толоконов" userId="5d8833687a0f43b3" providerId="LiveId" clId="{5569BF33-C92B-4D40-A52A-48CBEFD8D4CF}" dt="2026-03-22T08:30:49.518" v="318" actId="1076"/>
        <pc:sldMkLst>
          <pc:docMk/>
          <pc:sldMk cId="0" sldId="266"/>
        </pc:sldMkLst>
        <pc:spChg chg="del mod">
          <ac:chgData name="Илья Толоконов" userId="5d8833687a0f43b3" providerId="LiveId" clId="{5569BF33-C92B-4D40-A52A-48CBEFD8D4CF}" dt="2026-03-22T08:29:58.254" v="298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30:31.605" v="313" actId="20577"/>
          <ac:spMkLst>
            <pc:docMk/>
            <pc:sldMk cId="0" sldId="266"/>
            <ac:spMk id="4" creationId="{00000000-0000-0000-0000-000000000000}"/>
          </ac:spMkLst>
        </pc:spChg>
        <pc:spChg chg="add mod">
          <ac:chgData name="Илья Толоконов" userId="5d8833687a0f43b3" providerId="LiveId" clId="{5569BF33-C92B-4D40-A52A-48CBEFD8D4CF}" dt="2026-03-22T08:29:46.463" v="297" actId="20577"/>
          <ac:spMkLst>
            <pc:docMk/>
            <pc:sldMk cId="0" sldId="266"/>
            <ac:spMk id="5" creationId="{5F25DD9C-96C1-782B-FB9A-7B1E03FD3BB3}"/>
          </ac:spMkLst>
        </pc:spChg>
        <pc:spChg chg="add del mod">
          <ac:chgData name="Илья Толоконов" userId="5d8833687a0f43b3" providerId="LiveId" clId="{5569BF33-C92B-4D40-A52A-48CBEFD8D4CF}" dt="2026-03-22T08:30:02.477" v="299" actId="478"/>
          <ac:spMkLst>
            <pc:docMk/>
            <pc:sldMk cId="0" sldId="266"/>
            <ac:spMk id="7" creationId="{574E7719-2CA6-F79B-61DF-53FD15156852}"/>
          </ac:spMkLst>
        </pc:spChg>
        <pc:spChg chg="add mod">
          <ac:chgData name="Илья Толоконов" userId="5d8833687a0f43b3" providerId="LiveId" clId="{5569BF33-C92B-4D40-A52A-48CBEFD8D4CF}" dt="2026-03-22T08:30:45.797" v="317" actId="1076"/>
          <ac:spMkLst>
            <pc:docMk/>
            <pc:sldMk cId="0" sldId="266"/>
            <ac:spMk id="8" creationId="{9DDEB6C5-631B-D76E-1B25-06D3934DB3B3}"/>
          </ac:spMkLst>
        </pc:spChg>
        <pc:picChg chg="mod">
          <ac:chgData name="Илья Толоконов" userId="5d8833687a0f43b3" providerId="LiveId" clId="{5569BF33-C92B-4D40-A52A-48CBEFD8D4CF}" dt="2026-03-22T08:30:49.518" v="318" actId="1076"/>
          <ac:picMkLst>
            <pc:docMk/>
            <pc:sldMk cId="0" sldId="266"/>
            <ac:picMk id="2" creationId="{00000000-0000-0000-0000-000000000000}"/>
          </ac:picMkLst>
        </pc:picChg>
      </pc:sldChg>
      <pc:sldChg chg="addSp delSp modSp mod">
        <pc:chgData name="Илья Толоконов" userId="5d8833687a0f43b3" providerId="LiveId" clId="{5569BF33-C92B-4D40-A52A-48CBEFD8D4CF}" dt="2026-03-22T08:24:41.598" v="185"/>
        <pc:sldMkLst>
          <pc:docMk/>
          <pc:sldMk cId="0" sldId="267"/>
        </pc:sldMkLst>
        <pc:spChg chg="del">
          <ac:chgData name="Илья Толоконов" userId="5d8833687a0f43b3" providerId="LiveId" clId="{5569BF33-C92B-4D40-A52A-48CBEFD8D4CF}" dt="2026-03-22T08:24:40.106" v="183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24:04.539" v="179" actId="27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24:18.810" v="182" actId="1036"/>
          <ac:spMkLst>
            <pc:docMk/>
            <pc:sldMk cId="0" sldId="267"/>
            <ac:spMk id="4" creationId="{00000000-0000-0000-0000-000000000000}"/>
          </ac:spMkLst>
        </pc:spChg>
        <pc:spChg chg="add del mod">
          <ac:chgData name="Илья Толоконов" userId="5d8833687a0f43b3" providerId="LiveId" clId="{5569BF33-C92B-4D40-A52A-48CBEFD8D4CF}" dt="2026-03-22T08:24:41.336" v="184" actId="478"/>
          <ac:spMkLst>
            <pc:docMk/>
            <pc:sldMk cId="0" sldId="267"/>
            <ac:spMk id="7" creationId="{E479C51B-092F-6F14-AD06-25E8B4DEBD78}"/>
          </ac:spMkLst>
        </pc:spChg>
        <pc:spChg chg="add mod">
          <ac:chgData name="Илья Толоконов" userId="5d8833687a0f43b3" providerId="LiveId" clId="{5569BF33-C92B-4D40-A52A-48CBEFD8D4CF}" dt="2026-03-22T08:24:41.598" v="185"/>
          <ac:spMkLst>
            <pc:docMk/>
            <pc:sldMk cId="0" sldId="267"/>
            <ac:spMk id="8" creationId="{D0DFA770-BA54-3AE6-19A2-7347025139DE}"/>
          </ac:spMkLst>
        </pc:spChg>
        <pc:picChg chg="mod">
          <ac:chgData name="Илья Толоконов" userId="5d8833687a0f43b3" providerId="LiveId" clId="{5569BF33-C92B-4D40-A52A-48CBEFD8D4CF}" dt="2026-03-22T08:23:29.537" v="176" actId="692"/>
          <ac:picMkLst>
            <pc:docMk/>
            <pc:sldMk cId="0" sldId="267"/>
            <ac:picMk id="5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2T08:23:01.780" v="174" actId="948"/>
        <pc:sldMkLst>
          <pc:docMk/>
          <pc:sldMk cId="0" sldId="268"/>
        </pc:sldMkLst>
        <pc:spChg chg="mod">
          <ac:chgData name="Илья Толоконов" userId="5d8833687a0f43b3" providerId="LiveId" clId="{5569BF33-C92B-4D40-A52A-48CBEFD8D4CF}" dt="2026-03-22T08:23:01.780" v="174" actId="948"/>
          <ac:spMkLst>
            <pc:docMk/>
            <pc:sldMk cId="0" sldId="268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22:02.725" v="165" actId="113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Илья Толоконов" userId="5d8833687a0f43b3" providerId="LiveId" clId="{5569BF33-C92B-4D40-A52A-48CBEFD8D4CF}" dt="2026-03-22T08:21:06.556" v="160" actId="113"/>
        <pc:sldMkLst>
          <pc:docMk/>
          <pc:sldMk cId="0" sldId="270"/>
        </pc:sldMkLst>
        <pc:spChg chg="mod">
          <ac:chgData name="Илья Толоконов" userId="5d8833687a0f43b3" providerId="LiveId" clId="{5569BF33-C92B-4D40-A52A-48CBEFD8D4CF}" dt="2026-03-22T08:21:06.556" v="160" actId="113"/>
          <ac:spMkLst>
            <pc:docMk/>
            <pc:sldMk cId="0" sldId="270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20:55.413" v="157" actId="6559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Илья Толоконов" userId="5d8833687a0f43b3" providerId="LiveId" clId="{5569BF33-C92B-4D40-A52A-48CBEFD8D4CF}" dt="2026-03-22T08:20:43.394" v="155" actId="113"/>
        <pc:sldMkLst>
          <pc:docMk/>
          <pc:sldMk cId="0" sldId="271"/>
        </pc:sldMkLst>
        <pc:spChg chg="mod">
          <ac:chgData name="Илья Толоконов" userId="5d8833687a0f43b3" providerId="LiveId" clId="{5569BF33-C92B-4D40-A52A-48CBEFD8D4CF}" dt="2026-03-22T08:20:43.394" v="155" actId="113"/>
          <ac:spMkLst>
            <pc:docMk/>
            <pc:sldMk cId="0" sldId="271"/>
            <ac:spMk id="2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2T08:09:39.903" v="7" actId="692"/>
          <ac:picMkLst>
            <pc:docMk/>
            <pc:sldMk cId="0" sldId="271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2T08:20:04.870" v="148" actId="113"/>
        <pc:sldMkLst>
          <pc:docMk/>
          <pc:sldMk cId="0" sldId="272"/>
        </pc:sldMkLst>
        <pc:spChg chg="mod">
          <ac:chgData name="Илья Толоконов" userId="5d8833687a0f43b3" providerId="LiveId" clId="{5569BF33-C92B-4D40-A52A-48CBEFD8D4CF}" dt="2026-03-22T08:20:04.870" v="148" actId="113"/>
          <ac:spMkLst>
            <pc:docMk/>
            <pc:sldMk cId="0" sldId="272"/>
            <ac:spMk id="2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2T08:09:35.023" v="6" actId="692"/>
          <ac:picMkLst>
            <pc:docMk/>
            <pc:sldMk cId="0" sldId="272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2T08:31:22.604" v="324" actId="1076"/>
        <pc:sldMkLst>
          <pc:docMk/>
          <pc:sldMk cId="0" sldId="273"/>
        </pc:sldMkLst>
        <pc:spChg chg="mod">
          <ac:chgData name="Илья Толоконов" userId="5d8833687a0f43b3" providerId="LiveId" clId="{5569BF33-C92B-4D40-A52A-48CBEFD8D4CF}" dt="2026-03-22T08:31:22.604" v="324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2T08:31:08.493" v="319" actId="2711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Илья Толоконов" userId="5d8833687a0f43b3" providerId="LiveId" clId="{5569BF33-C92B-4D40-A52A-48CBEFD8D4CF}" dt="2026-03-22T08:19:15.638" v="141" actId="1076"/>
        <pc:sldMkLst>
          <pc:docMk/>
          <pc:sldMk cId="0" sldId="275"/>
        </pc:sldMkLst>
        <pc:spChg chg="mod">
          <ac:chgData name="Илья Толоконов" userId="5d8833687a0f43b3" providerId="LiveId" clId="{5569BF33-C92B-4D40-A52A-48CBEFD8D4CF}" dt="2026-03-22T08:19:15.638" v="141" actId="1076"/>
          <ac:spMkLst>
            <pc:docMk/>
            <pc:sldMk cId="0" sldId="275"/>
            <ac:spMk id="2" creationId="{00000000-0000-0000-0000-000000000000}"/>
          </ac:spMkLst>
        </pc:spChg>
      </pc:sldChg>
      <pc:sldChg chg="modSp add mod setBg">
        <pc:chgData name="Илья Толоконов" userId="5d8833687a0f43b3" providerId="LiveId" clId="{5569BF33-C92B-4D40-A52A-48CBEFD8D4CF}" dt="2026-03-22T08:11:53.456" v="25" actId="113"/>
        <pc:sldMkLst>
          <pc:docMk/>
          <pc:sldMk cId="0" sldId="295"/>
        </pc:sldMkLst>
        <pc:spChg chg="mod">
          <ac:chgData name="Илья Толоконов" userId="5d8833687a0f43b3" providerId="LiveId" clId="{5569BF33-C92B-4D40-A52A-48CBEFD8D4CF}" dt="2026-03-22T08:11:53.456" v="25" actId="113"/>
          <ac:spMkLst>
            <pc:docMk/>
            <pc:sldMk cId="0" sldId="29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552904" y="2530730"/>
            <a:ext cx="8234044" cy="689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21273" y="845493"/>
            <a:ext cx="11452225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4388" y="3162982"/>
            <a:ext cx="13087350" cy="2826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58382" y="9998075"/>
            <a:ext cx="3375097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ru-RU" sz="2800" b="1" dirty="0">
                <a:latin typeface="Calibri (Основной текст)"/>
                <a:cs typeface="Arial"/>
              </a:rPr>
              <a:t>Толоконов Илья</a:t>
            </a:r>
            <a:endParaRPr sz="2800" dirty="0">
              <a:latin typeface="Calibri (Основной текст)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72771" y="3216275"/>
            <a:ext cx="7346315" cy="163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50" b="1" dirty="0">
                <a:latin typeface="Calibri (Основной текст)"/>
                <a:cs typeface="Times New Roman"/>
              </a:rPr>
              <a:t>Среда </a:t>
            </a:r>
            <a:r>
              <a:rPr sz="10550" b="1" dirty="0">
                <a:latin typeface="Calibri (Основной текст)"/>
              </a:rPr>
              <a:t>Spark</a:t>
            </a:r>
            <a:endParaRPr sz="10550" b="1" dirty="0">
              <a:latin typeface="Calibri (Основной текст)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32400" y="5045075"/>
            <a:ext cx="8227059" cy="170116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4950" dirty="0">
                <a:latin typeface="Calibri (Основной текст)"/>
                <a:cs typeface="Arial Black"/>
              </a:rPr>
              <a:t>Spark </a:t>
            </a:r>
            <a:r>
              <a:rPr sz="4950" dirty="0" err="1">
                <a:latin typeface="Calibri (Основной текст)"/>
                <a:cs typeface="Arial Black"/>
              </a:rPr>
              <a:t>DataFrame</a:t>
            </a:r>
            <a:r>
              <a:rPr sz="4950" dirty="0">
                <a:latin typeface="Calibri (Основной текст)"/>
                <a:cs typeface="Arial Black"/>
              </a:rPr>
              <a:t> API</a:t>
            </a:r>
          </a:p>
          <a:p>
            <a:pPr marL="5715" algn="ctr">
              <a:lnSpc>
                <a:spcPct val="100000"/>
              </a:lnSpc>
              <a:spcBef>
                <a:spcPts val="655"/>
              </a:spcBef>
            </a:pPr>
            <a:r>
              <a:rPr sz="4950" dirty="0">
                <a:latin typeface="Calibri (Основной текст)"/>
                <a:cs typeface="Arial"/>
              </a:rPr>
              <a:t>Лекция </a:t>
            </a:r>
            <a:r>
              <a:rPr sz="4950" dirty="0">
                <a:latin typeface="Calibri (Основной текст)"/>
                <a:cs typeface="Arial Black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0450" y="2835275"/>
            <a:ext cx="16413480" cy="67883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00100" indent="-787400">
              <a:lnSpc>
                <a:spcPct val="100000"/>
              </a:lnSpc>
              <a:spcBef>
                <a:spcPts val="114"/>
              </a:spcBef>
              <a:buFont typeface="Arial"/>
              <a:buAutoNum type="arabicPeriod"/>
              <a:tabLst>
                <a:tab pos="800100" algn="l"/>
              </a:tabLst>
            </a:pPr>
            <a:r>
              <a:rPr sz="3900" dirty="0">
                <a:latin typeface="+mn-lt"/>
                <a:cs typeface="Times New Roman"/>
              </a:rPr>
              <a:t>Введение</a:t>
            </a:r>
            <a:r>
              <a:rPr sz="3900" spc="-114" dirty="0">
                <a:latin typeface="+mn-lt"/>
                <a:cs typeface="Times New Roman"/>
              </a:rPr>
              <a:t> </a:t>
            </a:r>
            <a:r>
              <a:rPr sz="3900" dirty="0">
                <a:latin typeface="+mn-lt"/>
                <a:cs typeface="Times New Roman"/>
              </a:rPr>
              <a:t>в</a:t>
            </a:r>
            <a:r>
              <a:rPr sz="3900" spc="-110" dirty="0">
                <a:latin typeface="+mn-lt"/>
                <a:cs typeface="Times New Roman"/>
              </a:rPr>
              <a:t> </a:t>
            </a:r>
            <a:r>
              <a:rPr sz="3900" dirty="0">
                <a:latin typeface="+mn-lt"/>
                <a:cs typeface="Arial"/>
              </a:rPr>
              <a:t>Big</a:t>
            </a:r>
            <a:r>
              <a:rPr sz="3900" spc="-215" dirty="0">
                <a:latin typeface="+mn-lt"/>
                <a:cs typeface="Arial"/>
              </a:rPr>
              <a:t> </a:t>
            </a:r>
            <a:r>
              <a:rPr sz="3900" spc="110" dirty="0">
                <a:latin typeface="+mn-lt"/>
                <a:cs typeface="Arial"/>
              </a:rPr>
              <a:t>Data</a:t>
            </a:r>
            <a:r>
              <a:rPr lang="ru-RU" sz="3900" spc="-10" dirty="0">
                <a:latin typeface="+mn-lt"/>
                <a:cs typeface="Arial"/>
              </a:rPr>
              <a:t>. Обзор парадигмы </a:t>
            </a:r>
            <a:r>
              <a:rPr lang="en-US" sz="3900" spc="-10" dirty="0">
                <a:latin typeface="+mn-lt"/>
                <a:cs typeface="Arial"/>
              </a:rPr>
              <a:t>MapReduce;</a:t>
            </a:r>
            <a:endParaRPr sz="3900" dirty="0">
              <a:latin typeface="+mn-lt"/>
              <a:cs typeface="Arial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Font typeface="Arial MT"/>
              <a:buAutoNum type="arabicPeriod"/>
              <a:tabLst>
                <a:tab pos="800100" algn="l"/>
              </a:tabLst>
            </a:pPr>
            <a:r>
              <a:rPr sz="3600" dirty="0">
                <a:latin typeface="+mn-lt"/>
                <a:cs typeface="Times New Roman"/>
              </a:rPr>
              <a:t>Среда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Arial MT"/>
              </a:rPr>
              <a:t>Spark.</a:t>
            </a:r>
            <a:r>
              <a:rPr sz="3600" spc="-200" dirty="0">
                <a:latin typeface="+mn-lt"/>
                <a:cs typeface="Arial MT"/>
              </a:rPr>
              <a:t> </a:t>
            </a:r>
            <a:r>
              <a:rPr sz="3600" dirty="0">
                <a:latin typeface="+mn-lt"/>
                <a:cs typeface="Arial MT"/>
              </a:rPr>
              <a:t>Spark</a:t>
            </a:r>
            <a:r>
              <a:rPr sz="3600" spc="-200" dirty="0">
                <a:latin typeface="+mn-lt"/>
                <a:cs typeface="Arial MT"/>
              </a:rPr>
              <a:t> </a:t>
            </a:r>
            <a:r>
              <a:rPr sz="3600" dirty="0">
                <a:latin typeface="+mn-lt"/>
                <a:cs typeface="Arial MT"/>
              </a:rPr>
              <a:t>RDD</a:t>
            </a:r>
            <a:r>
              <a:rPr sz="3600" spc="-2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AutoNum type="arabicPeriod"/>
              <a:tabLst>
                <a:tab pos="800100" algn="l"/>
              </a:tabLst>
            </a:pPr>
            <a:r>
              <a:rPr lang="en-US" sz="3600" b="1" dirty="0" err="1">
                <a:latin typeface="+mn-lt"/>
                <a:cs typeface="Arial MT"/>
              </a:rPr>
              <a:t>DataFrame</a:t>
            </a:r>
            <a:r>
              <a:rPr lang="en-US" sz="3600" b="1" dirty="0">
                <a:latin typeface="+mn-lt"/>
                <a:cs typeface="Arial MT"/>
              </a:rPr>
              <a:t> API</a:t>
            </a:r>
            <a:r>
              <a:rPr sz="3600" b="1" spc="-20" dirty="0">
                <a:latin typeface="+mn-lt"/>
                <a:cs typeface="Arial MT"/>
              </a:rPr>
              <a:t>;</a:t>
            </a:r>
            <a:endParaRPr sz="3600" b="1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AutoNum type="arabicPeriod"/>
              <a:tabLst>
                <a:tab pos="800100" algn="l"/>
              </a:tabLst>
            </a:pPr>
            <a:r>
              <a:rPr sz="3600" dirty="0">
                <a:latin typeface="+mn-lt"/>
                <a:cs typeface="Arial MT"/>
              </a:rPr>
              <a:t>Spark</a:t>
            </a:r>
            <a:r>
              <a:rPr sz="3600" spc="-170" dirty="0">
                <a:latin typeface="+mn-lt"/>
                <a:cs typeface="Arial MT"/>
              </a:rPr>
              <a:t> </a:t>
            </a:r>
            <a:r>
              <a:rPr lang="en-US" sz="3600" spc="-170" dirty="0">
                <a:latin typeface="+mn-lt"/>
                <a:cs typeface="Arial MT"/>
              </a:rPr>
              <a:t>SQL</a:t>
            </a:r>
            <a:r>
              <a:rPr sz="3600" spc="-1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AutoNum type="arabicPeriod"/>
              <a:tabLst>
                <a:tab pos="800100" algn="l"/>
              </a:tabLst>
            </a:pPr>
            <a:r>
              <a:rPr lang="ru-RU" sz="3600" dirty="0">
                <a:latin typeface="+mn-lt"/>
                <a:cs typeface="Arial MT"/>
              </a:rPr>
              <a:t>Распределенное обучение моделей</a:t>
            </a:r>
            <a:r>
              <a:rPr sz="3600" spc="-1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AutoNum type="arabicPeriod"/>
              <a:tabLst>
                <a:tab pos="800100" algn="l"/>
              </a:tabLst>
            </a:pPr>
            <a:r>
              <a:rPr lang="ru-RU" sz="3600" dirty="0">
                <a:latin typeface="+mn-lt"/>
                <a:cs typeface="Arial MT"/>
              </a:rPr>
              <a:t>Рекомендательные системы и </a:t>
            </a:r>
            <a:r>
              <a:rPr lang="en-US" sz="3600" dirty="0">
                <a:latin typeface="+mn-lt"/>
                <a:cs typeface="Arial MT"/>
              </a:rPr>
              <a:t>NLP</a:t>
            </a:r>
            <a:r>
              <a:rPr lang="ru-RU" sz="3600" dirty="0">
                <a:latin typeface="+mn-lt"/>
                <a:cs typeface="Arial MT"/>
              </a:rPr>
              <a:t> в распределенной среде</a:t>
            </a:r>
            <a:r>
              <a:rPr sz="3600" spc="-1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Font typeface="Arial MT"/>
              <a:buAutoNum type="arabicPeriod"/>
              <a:tabLst>
                <a:tab pos="800100" algn="l"/>
              </a:tabLst>
            </a:pPr>
            <a:r>
              <a:rPr lang="ru-RU" sz="3600" spc="-20" dirty="0">
                <a:latin typeface="+mn-lt"/>
                <a:cs typeface="Times New Roman"/>
              </a:rPr>
              <a:t>Обработка потоковых данных. </a:t>
            </a:r>
            <a:r>
              <a:rPr lang="en-US" sz="3600" spc="-20" dirty="0">
                <a:latin typeface="+mn-lt"/>
                <a:cs typeface="Times New Roman"/>
              </a:rPr>
              <a:t>Spark</a:t>
            </a:r>
            <a:r>
              <a:rPr lang="ru-RU" sz="3600" spc="-20" dirty="0">
                <a:latin typeface="+mn-lt"/>
                <a:cs typeface="Times New Roman"/>
              </a:rPr>
              <a:t> </a:t>
            </a:r>
            <a:r>
              <a:rPr lang="en-US" sz="3600" spc="-20" dirty="0">
                <a:latin typeface="+mn-lt"/>
                <a:cs typeface="Times New Roman"/>
              </a:rPr>
              <a:t>Streaming</a:t>
            </a:r>
            <a:r>
              <a:rPr sz="3600" spc="75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0"/>
              </a:spcBef>
              <a:buAutoNum type="arabicPeriod"/>
              <a:tabLst>
                <a:tab pos="800100" algn="l"/>
              </a:tabLst>
            </a:pPr>
            <a:r>
              <a:rPr lang="en-US" sz="3600" dirty="0">
                <a:latin typeface="+mn-lt"/>
                <a:cs typeface="Arial MT"/>
              </a:rPr>
              <a:t>GPU </a:t>
            </a:r>
            <a:r>
              <a:rPr lang="ru-RU" sz="3600" dirty="0">
                <a:latin typeface="+mn-lt"/>
                <a:cs typeface="Arial MT"/>
              </a:rPr>
              <a:t>вычисления</a:t>
            </a:r>
            <a:r>
              <a:rPr sz="3600" spc="45" dirty="0">
                <a:latin typeface="+mn-lt"/>
                <a:cs typeface="Arial MT"/>
              </a:rPr>
              <a:t>.</a:t>
            </a:r>
            <a:endParaRPr sz="3600" dirty="0">
              <a:latin typeface="+mn-lt"/>
              <a:cs typeface="Arial M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B51C93A-9358-F865-DB36-A516E50622AA}"/>
              </a:ext>
            </a:extLst>
          </p:cNvPr>
          <p:cNvSpPr txBox="1">
            <a:spLocks/>
          </p:cNvSpPr>
          <p:nvPr/>
        </p:nvSpPr>
        <p:spPr>
          <a:xfrm>
            <a:off x="4908550" y="623695"/>
            <a:ext cx="10287000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algn="ctr">
              <a:spcBef>
                <a:spcPts val="125"/>
              </a:spcBef>
            </a:pPr>
            <a:r>
              <a:rPr lang="ru-RU" spc="-80" dirty="0">
                <a:latin typeface="+mn-lt"/>
              </a:rPr>
              <a:t>Содержание курса</a:t>
            </a:r>
            <a:endParaRPr lang="ru-RU" spc="-25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5937" y="625475"/>
            <a:ext cx="11452225" cy="1338187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en-US" b="1" dirty="0">
                <a:latin typeface="+mn-lt"/>
              </a:rPr>
              <a:t>Apache Spark</a:t>
            </a:r>
            <a:endParaRPr b="1" dirty="0">
              <a:latin typeface="+mn-lt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388" y="3425519"/>
            <a:ext cx="9959975" cy="41325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08355" indent="-795655">
              <a:lnSpc>
                <a:spcPct val="100000"/>
              </a:lnSpc>
              <a:spcBef>
                <a:spcPts val="125"/>
              </a:spcBef>
              <a:buFont typeface="Arial"/>
              <a:buAutoNum type="arabicPeriod"/>
              <a:tabLst>
                <a:tab pos="808355" algn="l"/>
              </a:tabLst>
            </a:pPr>
            <a:r>
              <a:rPr sz="3600" b="1" dirty="0">
                <a:latin typeface="+mn-lt"/>
                <a:cs typeface="Times New Roman"/>
              </a:rPr>
              <a:t>Что такое </a:t>
            </a:r>
            <a:r>
              <a:rPr sz="3600" b="1" dirty="0">
                <a:latin typeface="+mn-lt"/>
                <a:cs typeface="Arial"/>
              </a:rPr>
              <a:t>Apache Spark?</a:t>
            </a:r>
            <a:endParaRPr sz="3600" dirty="0">
              <a:latin typeface="+mn-lt"/>
              <a:cs typeface="Arial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AutoNum type="arabicPeriod"/>
              <a:tabLst>
                <a:tab pos="808355" algn="l"/>
              </a:tabLst>
            </a:pPr>
            <a:r>
              <a:rPr sz="3600" b="1" dirty="0">
                <a:latin typeface="+mn-lt"/>
                <a:cs typeface="Arial"/>
              </a:rPr>
              <a:t>SparkSession, SparkConf, SparkContext</a:t>
            </a:r>
            <a:endParaRPr sz="3600" dirty="0">
              <a:latin typeface="+mn-lt"/>
              <a:cs typeface="Arial"/>
            </a:endParaRPr>
          </a:p>
          <a:p>
            <a:pPr marL="808355" indent="-795655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808355" algn="l"/>
              </a:tabLst>
            </a:pPr>
            <a:r>
              <a:rPr sz="3600" b="1" dirty="0">
                <a:latin typeface="+mn-lt"/>
                <a:cs typeface="Arial"/>
              </a:rPr>
              <a:t>Driver &amp; Executors</a:t>
            </a:r>
            <a:endParaRPr sz="3600" dirty="0">
              <a:latin typeface="+mn-lt"/>
              <a:cs typeface="Arial"/>
            </a:endParaRPr>
          </a:p>
          <a:p>
            <a:pPr marL="808355" indent="-795655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808355" algn="l"/>
              </a:tabLst>
            </a:pPr>
            <a:r>
              <a:rPr sz="3600" b="1" dirty="0">
                <a:latin typeface="+mn-lt"/>
                <a:cs typeface="Arial"/>
              </a:rPr>
              <a:t>Transformations &amp; Actions</a:t>
            </a:r>
            <a:endParaRPr sz="3600" dirty="0">
              <a:latin typeface="+mn-lt"/>
              <a:cs typeface="Arial"/>
            </a:endParaRPr>
          </a:p>
          <a:p>
            <a:pPr marL="808355" indent="-795655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808355" algn="l"/>
              </a:tabLst>
            </a:pPr>
            <a:r>
              <a:rPr sz="3600" b="1" dirty="0">
                <a:latin typeface="+mn-lt"/>
                <a:cs typeface="Arial"/>
              </a:rPr>
              <a:t>RDD</a:t>
            </a:r>
            <a:endParaRPr sz="3600" dirty="0"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9261" y="4512095"/>
            <a:ext cx="9477912" cy="45816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8050" y="2835275"/>
            <a:ext cx="17881600" cy="75137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3185"/>
              </a:spcBef>
            </a:pPr>
            <a:r>
              <a:rPr sz="3600" b="1" dirty="0">
                <a:latin typeface="+mn-lt"/>
                <a:cs typeface="Arial"/>
              </a:rPr>
              <a:t>Apache Spark </a:t>
            </a:r>
            <a:r>
              <a:rPr sz="3600" dirty="0">
                <a:latin typeface="+mn-lt"/>
                <a:cs typeface="Times New Roman"/>
              </a:rPr>
              <a:t>— это распределённый движок обработки данных, созданный для быстрой работы с большими объёмами данных.</a:t>
            </a:r>
          </a:p>
          <a:p>
            <a:pPr marL="131445">
              <a:lnSpc>
                <a:spcPct val="100000"/>
              </a:lnSpc>
              <a:spcBef>
                <a:spcPts val="2014"/>
              </a:spcBef>
            </a:pPr>
            <a:r>
              <a:rPr sz="2350" b="1" dirty="0">
                <a:latin typeface="+mn-lt"/>
                <a:cs typeface="Times New Roman"/>
              </a:rPr>
              <a:t>Преимущества</a:t>
            </a:r>
            <a:r>
              <a:rPr sz="2350" b="1" dirty="0">
                <a:latin typeface="+mn-lt"/>
                <a:cs typeface="Arial"/>
              </a:rPr>
              <a:t>:</a:t>
            </a:r>
            <a:endParaRPr sz="2350" dirty="0">
              <a:latin typeface="+mn-lt"/>
              <a:cs typeface="Arial"/>
            </a:endParaRPr>
          </a:p>
          <a:p>
            <a:pPr marL="869950" indent="-623570">
              <a:lnSpc>
                <a:spcPct val="100000"/>
              </a:lnSpc>
              <a:spcBef>
                <a:spcPts val="1735"/>
              </a:spcBef>
              <a:buAutoNum type="arabicPeriod"/>
              <a:tabLst>
                <a:tab pos="869950" algn="l"/>
              </a:tabLst>
            </a:pPr>
            <a:r>
              <a:rPr sz="2350" b="1" dirty="0">
                <a:latin typeface="+mn-lt"/>
                <a:cs typeface="Times New Roman"/>
              </a:rPr>
              <a:t>Скорость</a:t>
            </a:r>
            <a:r>
              <a:rPr sz="2350" b="1" dirty="0">
                <a:latin typeface="+mn-lt"/>
                <a:cs typeface="Arial"/>
              </a:rPr>
              <a:t>: </a:t>
            </a:r>
            <a:r>
              <a:rPr sz="2350" dirty="0">
                <a:latin typeface="+mn-lt"/>
                <a:cs typeface="Times New Roman"/>
              </a:rPr>
              <a:t>Работает в памяти, в 10–100 раз быстрее</a:t>
            </a:r>
          </a:p>
          <a:p>
            <a:pPr marL="870585">
              <a:lnSpc>
                <a:spcPct val="100000"/>
              </a:lnSpc>
              <a:spcBef>
                <a:spcPts val="450"/>
              </a:spcBef>
            </a:pPr>
            <a:r>
              <a:rPr sz="2350" dirty="0">
                <a:latin typeface="+mn-lt"/>
                <a:cs typeface="Times New Roman"/>
              </a:rPr>
              <a:t>MapReduce.</a:t>
            </a:r>
          </a:p>
          <a:p>
            <a:pPr marL="870585" marR="9918065" indent="-624205">
              <a:lnSpc>
                <a:spcPct val="115900"/>
              </a:lnSpc>
              <a:spcBef>
                <a:spcPts val="1210"/>
              </a:spcBef>
              <a:buAutoNum type="arabicPeriod" startAt="2"/>
              <a:tabLst>
                <a:tab pos="870585" algn="l"/>
              </a:tabLst>
            </a:pPr>
            <a:r>
              <a:rPr sz="2350" b="1" dirty="0">
                <a:latin typeface="+mn-lt"/>
                <a:cs typeface="Times New Roman"/>
              </a:rPr>
              <a:t>Универсальность</a:t>
            </a:r>
            <a:r>
              <a:rPr sz="2350" b="1" dirty="0">
                <a:latin typeface="+mn-lt"/>
                <a:cs typeface="Arial"/>
              </a:rPr>
              <a:t>: </a:t>
            </a:r>
            <a:r>
              <a:rPr sz="2350" dirty="0">
                <a:latin typeface="+mn-lt"/>
                <a:cs typeface="Times New Roman"/>
              </a:rPr>
              <a:t>Поддерживает batch, real-time (Streaming), SQL-запросы, ML и графовую обработку.</a:t>
            </a:r>
          </a:p>
          <a:p>
            <a:pPr marL="869950" indent="-623570">
              <a:lnSpc>
                <a:spcPct val="100000"/>
              </a:lnSpc>
              <a:spcBef>
                <a:spcPts val="1735"/>
              </a:spcBef>
              <a:buAutoNum type="arabicPeriod" startAt="2"/>
              <a:tabLst>
                <a:tab pos="869950" algn="l"/>
              </a:tabLst>
            </a:pPr>
            <a:r>
              <a:rPr sz="2350" b="1" dirty="0">
                <a:latin typeface="+mn-lt"/>
                <a:cs typeface="Times New Roman"/>
              </a:rPr>
              <a:t>Простота и гибкость</a:t>
            </a:r>
            <a:r>
              <a:rPr sz="2350" b="1" dirty="0">
                <a:latin typeface="+mn-lt"/>
                <a:cs typeface="Arial"/>
              </a:rPr>
              <a:t>: </a:t>
            </a:r>
            <a:r>
              <a:rPr sz="2350" dirty="0">
                <a:latin typeface="+mn-lt"/>
                <a:cs typeface="Times New Roman"/>
              </a:rPr>
              <a:t>Удобные API на Scala, Python, Java и</a:t>
            </a:r>
          </a:p>
          <a:p>
            <a:pPr marL="870585">
              <a:lnSpc>
                <a:spcPct val="100000"/>
              </a:lnSpc>
              <a:spcBef>
                <a:spcPts val="450"/>
              </a:spcBef>
            </a:pPr>
            <a:r>
              <a:rPr sz="2350" dirty="0">
                <a:latin typeface="+mn-lt"/>
                <a:cs typeface="Times New Roman"/>
              </a:rPr>
              <a:t>SQL.</a:t>
            </a:r>
          </a:p>
          <a:p>
            <a:pPr marL="869950" indent="-623570">
              <a:lnSpc>
                <a:spcPct val="100000"/>
              </a:lnSpc>
              <a:spcBef>
                <a:spcPts val="1660"/>
              </a:spcBef>
              <a:buAutoNum type="arabicPeriod" startAt="4"/>
              <a:tabLst>
                <a:tab pos="869950" algn="l"/>
              </a:tabLst>
            </a:pPr>
            <a:r>
              <a:rPr sz="2350" b="1" dirty="0">
                <a:latin typeface="+mn-lt"/>
                <a:cs typeface="Times New Roman"/>
              </a:rPr>
              <a:t>Масштабируемость</a:t>
            </a:r>
            <a:r>
              <a:rPr sz="2350" b="1" dirty="0">
                <a:latin typeface="+mn-lt"/>
                <a:cs typeface="Arial"/>
              </a:rPr>
              <a:t>: </a:t>
            </a:r>
            <a:r>
              <a:rPr sz="2350" dirty="0">
                <a:latin typeface="+mn-lt"/>
                <a:cs typeface="Times New Roman"/>
              </a:rPr>
              <a:t>Легко масштабируется на кластерах.</a:t>
            </a:r>
          </a:p>
          <a:p>
            <a:pPr marL="870585" marR="9264650" indent="-624205">
              <a:lnSpc>
                <a:spcPct val="115900"/>
              </a:lnSpc>
              <a:spcBef>
                <a:spcPts val="1285"/>
              </a:spcBef>
              <a:buAutoNum type="arabicPeriod" startAt="4"/>
              <a:tabLst>
                <a:tab pos="870585" algn="l"/>
              </a:tabLst>
            </a:pPr>
            <a:r>
              <a:rPr sz="2350" b="1" dirty="0">
                <a:latin typeface="+mn-lt"/>
                <a:cs typeface="Times New Roman"/>
              </a:rPr>
              <a:t>Экосистема</a:t>
            </a:r>
            <a:r>
              <a:rPr sz="2350" b="1" dirty="0">
                <a:latin typeface="+mn-lt"/>
                <a:cs typeface="Arial"/>
              </a:rPr>
              <a:t>: </a:t>
            </a:r>
            <a:r>
              <a:rPr sz="2350" dirty="0">
                <a:latin typeface="+mn-lt"/>
                <a:cs typeface="Times New Roman"/>
              </a:rPr>
              <a:t>Широкий набор библиотек (Spark SQL, Spark Streaming, MLlib, GraphX).</a:t>
            </a:r>
          </a:p>
          <a:p>
            <a:pPr marL="869950" indent="-623570">
              <a:lnSpc>
                <a:spcPct val="100000"/>
              </a:lnSpc>
              <a:spcBef>
                <a:spcPts val="1660"/>
              </a:spcBef>
              <a:buAutoNum type="arabicPeriod" startAt="4"/>
              <a:tabLst>
                <a:tab pos="869950" algn="l"/>
              </a:tabLst>
            </a:pPr>
            <a:r>
              <a:rPr sz="2350" b="1" dirty="0">
                <a:latin typeface="+mn-lt"/>
                <a:cs typeface="Times New Roman"/>
              </a:rPr>
              <a:t>Поддержка различных источников данных</a:t>
            </a:r>
            <a:r>
              <a:rPr sz="2350" b="1" dirty="0">
                <a:latin typeface="+mn-lt"/>
                <a:cs typeface="Arial"/>
              </a:rPr>
              <a:t>: </a:t>
            </a:r>
            <a:r>
              <a:rPr sz="2350" dirty="0">
                <a:latin typeface="+mn-lt"/>
                <a:cs typeface="Times New Roman"/>
              </a:rPr>
              <a:t>Интеграция с</a:t>
            </a:r>
          </a:p>
          <a:p>
            <a:pPr marL="870585">
              <a:lnSpc>
                <a:spcPct val="100000"/>
              </a:lnSpc>
              <a:spcBef>
                <a:spcPts val="450"/>
              </a:spcBef>
            </a:pPr>
            <a:r>
              <a:rPr sz="2350" dirty="0">
                <a:latin typeface="+mn-lt"/>
                <a:cs typeface="Times New Roman"/>
              </a:rPr>
              <a:t>Hadoop, базами данных, облачными хранилищами.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A2F9B2CE-6B0B-7BB3-516B-0A1F667FF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5937" y="625475"/>
            <a:ext cx="11452225" cy="1338187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en-US" b="1" dirty="0">
                <a:latin typeface="+mn-lt"/>
              </a:rPr>
              <a:t>Apache Spark</a:t>
            </a:r>
            <a:endParaRPr b="1" dirty="0">
              <a:latin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4693" y="625475"/>
            <a:ext cx="13574713" cy="1384353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155"/>
              </a:spcBef>
            </a:pPr>
            <a:r>
              <a:rPr lang="ru-RU" b="1" dirty="0">
                <a:latin typeface="+mn-lt"/>
                <a:cs typeface="Arial"/>
              </a:rPr>
              <a:t>Конфигурационные настройки</a:t>
            </a:r>
            <a:endParaRPr b="1" dirty="0">
              <a:latin typeface="+mn-lt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290" y="3473898"/>
            <a:ext cx="10607675" cy="55569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b="1" dirty="0">
                <a:latin typeface="+mn-lt"/>
                <a:cs typeface="Arial"/>
              </a:rPr>
              <a:t>SparkSession </a:t>
            </a:r>
            <a:r>
              <a:rPr sz="3600" dirty="0">
                <a:latin typeface="+mn-lt"/>
                <a:cs typeface="Times New Roman"/>
              </a:rPr>
              <a:t>— интерфейс взаимодействия с Spark (рекомендуемый способ работы).</a:t>
            </a:r>
          </a:p>
          <a:p>
            <a:pPr>
              <a:lnSpc>
                <a:spcPct val="100000"/>
              </a:lnSpc>
            </a:pPr>
            <a:endParaRPr sz="3600" dirty="0">
              <a:latin typeface="+mn-l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3600" dirty="0">
              <a:latin typeface="+mn-lt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="1" dirty="0">
                <a:latin typeface="+mn-lt"/>
                <a:cs typeface="Arial"/>
              </a:rPr>
              <a:t>SparkConf </a:t>
            </a:r>
            <a:r>
              <a:rPr sz="3600" dirty="0">
                <a:latin typeface="+mn-lt"/>
                <a:cs typeface="Times New Roman"/>
              </a:rPr>
              <a:t>— настройки приложения.</a:t>
            </a:r>
          </a:p>
          <a:p>
            <a:pPr>
              <a:lnSpc>
                <a:spcPct val="100000"/>
              </a:lnSpc>
            </a:pPr>
            <a:endParaRPr sz="3600" dirty="0">
              <a:latin typeface="+mn-l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3600" dirty="0">
              <a:latin typeface="+mn-lt"/>
              <a:cs typeface="Times New Roman"/>
            </a:endParaRPr>
          </a:p>
          <a:p>
            <a:pPr marL="12700" marR="269875">
              <a:lnSpc>
                <a:spcPct val="116199"/>
              </a:lnSpc>
              <a:spcBef>
                <a:spcPts val="5"/>
              </a:spcBef>
            </a:pPr>
            <a:r>
              <a:rPr sz="3600" b="1" dirty="0">
                <a:latin typeface="+mn-lt"/>
                <a:cs typeface="Arial"/>
              </a:rPr>
              <a:t>SparkContext </a:t>
            </a:r>
            <a:r>
              <a:rPr sz="3600" dirty="0">
                <a:latin typeface="+mn-lt"/>
                <a:cs typeface="Times New Roman"/>
              </a:rPr>
              <a:t>— обеспечивает связь с кластером и управление задачами.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8666" y="3553331"/>
            <a:ext cx="5758986" cy="16185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91619" y="5758512"/>
            <a:ext cx="4502480" cy="15636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54971" y="7781164"/>
            <a:ext cx="4722369" cy="7901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5937" y="563527"/>
            <a:ext cx="11452225" cy="1384353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spcBef>
                <a:spcPts val="2155"/>
              </a:spcBef>
            </a:pPr>
            <a:r>
              <a:rPr lang="en-US" b="1" dirty="0">
                <a:latin typeface="+mn-lt"/>
                <a:cs typeface="Arial"/>
              </a:rPr>
              <a:t>Driver &amp; Executors</a:t>
            </a:r>
            <a:endParaRPr lang="en-US" dirty="0">
              <a:latin typeface="+mn-lt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650" y="2530386"/>
            <a:ext cx="15544800" cy="8215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6189" y="2910114"/>
            <a:ext cx="11435916" cy="7384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25937" y="854075"/>
            <a:ext cx="11452225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spcBef>
                <a:spcPts val="125"/>
              </a:spcBef>
            </a:pPr>
            <a:r>
              <a:rPr lang="ru-RU" b="1" dirty="0">
                <a:latin typeface="+mn-lt"/>
                <a:cs typeface="Arial"/>
              </a:rPr>
              <a:t>Виды операторов в </a:t>
            </a:r>
            <a:r>
              <a:rPr lang="en-US" b="1" dirty="0">
                <a:latin typeface="+mn-lt"/>
              </a:rPr>
              <a:t>Spark</a:t>
            </a:r>
            <a:endParaRPr b="1" dirty="0">
              <a:latin typeface="+mn-l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228" y="3043659"/>
            <a:ext cx="12501880" cy="672581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29"/>
              </a:spcBef>
            </a:pPr>
            <a:r>
              <a:rPr sz="2650" b="1" dirty="0" err="1">
                <a:latin typeface="+mn-lt"/>
                <a:cs typeface="Times New Roman"/>
              </a:rPr>
              <a:t>Трансформации</a:t>
            </a:r>
            <a:r>
              <a:rPr sz="2650" b="1" spc="-50" dirty="0">
                <a:latin typeface="+mn-lt"/>
                <a:cs typeface="Times New Roman"/>
              </a:rPr>
              <a:t> </a:t>
            </a:r>
            <a:r>
              <a:rPr sz="2650" b="1" spc="55" dirty="0">
                <a:latin typeface="+mn-lt"/>
                <a:cs typeface="Arial"/>
              </a:rPr>
              <a:t>(transformations):</a:t>
            </a:r>
            <a:endParaRPr sz="2650" dirty="0">
              <a:latin typeface="+mn-lt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010"/>
              </a:spcBef>
              <a:buSzPct val="150943"/>
              <a:buFont typeface="Arial" panose="020B0604020202020204" pitchFamily="34" charset="0"/>
              <a:buChar char="•"/>
              <a:tabLst>
                <a:tab pos="345440" algn="l"/>
              </a:tabLst>
            </a:pPr>
            <a:r>
              <a:rPr sz="2650" dirty="0">
                <a:latin typeface="+mn-lt"/>
                <a:cs typeface="Times New Roman"/>
              </a:rPr>
              <a:t>Формируют новый </a:t>
            </a:r>
            <a:r>
              <a:rPr sz="2650" spc="140" dirty="0">
                <a:latin typeface="+mn-lt"/>
                <a:cs typeface="Times New Roman"/>
              </a:rPr>
              <a:t>RDD/DataFrame.</a:t>
            </a:r>
            <a:endParaRPr sz="2650" dirty="0">
              <a:latin typeface="+mn-lt"/>
              <a:cs typeface="Times New Roman"/>
            </a:endParaRPr>
          </a:p>
          <a:p>
            <a:pPr marL="469265" marR="5894070" indent="-457200">
              <a:lnSpc>
                <a:spcPct val="117200"/>
              </a:lnSpc>
              <a:spcBef>
                <a:spcPts val="1460"/>
              </a:spcBef>
              <a:buSzPct val="150943"/>
              <a:buFont typeface="Arial" panose="020B0604020202020204" pitchFamily="34" charset="0"/>
              <a:buChar char="•"/>
              <a:tabLst>
                <a:tab pos="345440" algn="l"/>
              </a:tabLst>
            </a:pPr>
            <a:r>
              <a:rPr sz="2650" dirty="0">
                <a:latin typeface="+mn-lt"/>
                <a:cs typeface="Times New Roman"/>
              </a:rPr>
              <a:t>Выполняются</a:t>
            </a:r>
            <a:r>
              <a:rPr sz="2650" spc="10" dirty="0">
                <a:latin typeface="+mn-lt"/>
                <a:cs typeface="Times New Roman"/>
              </a:rPr>
              <a:t> </a:t>
            </a:r>
            <a:r>
              <a:rPr sz="2650" dirty="0">
                <a:latin typeface="+mn-lt"/>
                <a:cs typeface="Times New Roman"/>
              </a:rPr>
              <a:t>лениво</a:t>
            </a:r>
            <a:r>
              <a:rPr sz="2650" spc="10" dirty="0">
                <a:latin typeface="+mn-lt"/>
                <a:cs typeface="Times New Roman"/>
              </a:rPr>
              <a:t> </a:t>
            </a:r>
            <a:r>
              <a:rPr sz="2650" spc="95" dirty="0">
                <a:latin typeface="+mn-lt"/>
                <a:cs typeface="Times New Roman"/>
              </a:rPr>
              <a:t>(lazy</a:t>
            </a:r>
            <a:r>
              <a:rPr sz="2650" spc="15" dirty="0">
                <a:latin typeface="+mn-lt"/>
                <a:cs typeface="Times New Roman"/>
              </a:rPr>
              <a:t> </a:t>
            </a:r>
            <a:r>
              <a:rPr sz="2650" spc="135" dirty="0">
                <a:latin typeface="+mn-lt"/>
                <a:cs typeface="Times New Roman"/>
              </a:rPr>
              <a:t>evaluation),</a:t>
            </a:r>
            <a:r>
              <a:rPr sz="2650" spc="10" dirty="0">
                <a:latin typeface="+mn-lt"/>
                <a:cs typeface="Times New Roman"/>
              </a:rPr>
              <a:t> </a:t>
            </a:r>
            <a:r>
              <a:rPr sz="2650" spc="-25" dirty="0">
                <a:latin typeface="+mn-lt"/>
                <a:cs typeface="Times New Roman"/>
              </a:rPr>
              <a:t>не </a:t>
            </a:r>
            <a:r>
              <a:rPr sz="2650" dirty="0">
                <a:latin typeface="+mn-lt"/>
                <a:cs typeface="Times New Roman"/>
              </a:rPr>
              <a:t>запускаются</a:t>
            </a:r>
            <a:r>
              <a:rPr sz="2650" spc="-25" dirty="0">
                <a:latin typeface="+mn-lt"/>
                <a:cs typeface="Times New Roman"/>
              </a:rPr>
              <a:t> </a:t>
            </a:r>
            <a:r>
              <a:rPr sz="2650" spc="-10" dirty="0">
                <a:latin typeface="+mn-lt"/>
                <a:cs typeface="Times New Roman"/>
              </a:rPr>
              <a:t>сразу.</a:t>
            </a:r>
            <a:endParaRPr sz="2650" dirty="0">
              <a:latin typeface="+mn-lt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10"/>
              </a:spcBef>
              <a:buSzPct val="150943"/>
              <a:buFont typeface="Arial" panose="020B0604020202020204" pitchFamily="34" charset="0"/>
              <a:buChar char="•"/>
              <a:tabLst>
                <a:tab pos="345440" algn="l"/>
              </a:tabLst>
            </a:pPr>
            <a:r>
              <a:rPr sz="2650" dirty="0">
                <a:latin typeface="+mn-lt"/>
                <a:cs typeface="Times New Roman"/>
              </a:rPr>
              <a:t>Примеры:</a:t>
            </a:r>
            <a:r>
              <a:rPr sz="2650" spc="25" dirty="0">
                <a:latin typeface="+mn-lt"/>
                <a:cs typeface="Times New Roman"/>
              </a:rPr>
              <a:t> </a:t>
            </a:r>
            <a:r>
              <a:rPr sz="2650" i="1" spc="-60" dirty="0">
                <a:latin typeface="+mn-lt"/>
                <a:cs typeface="Arial"/>
              </a:rPr>
              <a:t>map(),</a:t>
            </a:r>
            <a:r>
              <a:rPr sz="2650" i="1" spc="-170" dirty="0">
                <a:latin typeface="+mn-lt"/>
                <a:cs typeface="Arial"/>
              </a:rPr>
              <a:t> </a:t>
            </a:r>
            <a:r>
              <a:rPr sz="2650" i="1" dirty="0">
                <a:latin typeface="+mn-lt"/>
                <a:cs typeface="Arial"/>
              </a:rPr>
              <a:t>fllter(),</a:t>
            </a:r>
            <a:r>
              <a:rPr sz="2650" i="1" spc="-165" dirty="0">
                <a:latin typeface="+mn-lt"/>
                <a:cs typeface="Arial"/>
              </a:rPr>
              <a:t> </a:t>
            </a:r>
            <a:r>
              <a:rPr sz="2650" i="1" spc="-10" dirty="0">
                <a:latin typeface="+mn-lt"/>
                <a:cs typeface="Arial"/>
              </a:rPr>
              <a:t>flatMap(),</a:t>
            </a:r>
            <a:r>
              <a:rPr sz="2650" i="1" spc="-170" dirty="0">
                <a:latin typeface="+mn-lt"/>
                <a:cs typeface="Arial"/>
              </a:rPr>
              <a:t> </a:t>
            </a:r>
            <a:r>
              <a:rPr sz="2650" i="1" spc="-85" dirty="0">
                <a:latin typeface="+mn-lt"/>
                <a:cs typeface="Arial"/>
              </a:rPr>
              <a:t>groupBy(),</a:t>
            </a:r>
            <a:r>
              <a:rPr sz="2650" i="1" spc="-165" dirty="0">
                <a:latin typeface="+mn-lt"/>
                <a:cs typeface="Arial"/>
              </a:rPr>
              <a:t> </a:t>
            </a:r>
            <a:r>
              <a:rPr sz="2650" i="1" spc="-10" dirty="0">
                <a:latin typeface="+mn-lt"/>
                <a:cs typeface="Arial"/>
              </a:rPr>
              <a:t>join()</a:t>
            </a:r>
            <a:r>
              <a:rPr sz="2650" spc="-10" dirty="0">
                <a:latin typeface="+mn-lt"/>
                <a:cs typeface="Times New Roman"/>
              </a:rPr>
              <a:t>.</a:t>
            </a:r>
            <a:endParaRPr sz="2650" dirty="0">
              <a:latin typeface="+mn-lt"/>
              <a:cs typeface="Times New Roman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2650" dirty="0">
              <a:latin typeface="+mn-lt"/>
              <a:cs typeface="Times New Roman"/>
            </a:endParaRPr>
          </a:p>
          <a:p>
            <a:pPr marL="457200" indent="-457200">
              <a:lnSpc>
                <a:spcPct val="100000"/>
              </a:lnSpc>
              <a:spcBef>
                <a:spcPts val="1019"/>
              </a:spcBef>
              <a:buFont typeface="Arial" panose="020B0604020202020204" pitchFamily="34" charset="0"/>
              <a:buChar char="•"/>
            </a:pPr>
            <a:endParaRPr sz="2650" dirty="0">
              <a:latin typeface="+mn-lt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50" b="1" dirty="0">
                <a:latin typeface="+mn-lt"/>
                <a:cs typeface="Times New Roman"/>
              </a:rPr>
              <a:t>Действия</a:t>
            </a:r>
            <a:r>
              <a:rPr sz="2650" b="1" spc="100" dirty="0">
                <a:latin typeface="+mn-lt"/>
                <a:cs typeface="Times New Roman"/>
              </a:rPr>
              <a:t> </a:t>
            </a:r>
            <a:r>
              <a:rPr sz="2650" b="1" spc="-10" dirty="0">
                <a:latin typeface="+mn-lt"/>
                <a:cs typeface="Arial"/>
              </a:rPr>
              <a:t>(actions):</a:t>
            </a:r>
            <a:endParaRPr sz="2650" dirty="0">
              <a:latin typeface="+mn-lt"/>
              <a:cs typeface="Arial"/>
            </a:endParaRPr>
          </a:p>
          <a:p>
            <a:pPr marL="469265" marR="5245100" indent="-457200">
              <a:lnSpc>
                <a:spcPct val="117200"/>
              </a:lnSpc>
              <a:spcBef>
                <a:spcPts val="1465"/>
              </a:spcBef>
              <a:buSzPct val="150943"/>
              <a:buFont typeface="Arial" panose="020B0604020202020204" pitchFamily="34" charset="0"/>
              <a:buChar char="•"/>
              <a:tabLst>
                <a:tab pos="345440" algn="l"/>
              </a:tabLst>
            </a:pPr>
            <a:r>
              <a:rPr sz="2650" dirty="0" err="1">
                <a:latin typeface="+mn-lt"/>
                <a:cs typeface="Times New Roman"/>
              </a:rPr>
              <a:t>Запускают</a:t>
            </a:r>
            <a:r>
              <a:rPr sz="2650" spc="-10" dirty="0">
                <a:latin typeface="+mn-lt"/>
                <a:cs typeface="Times New Roman"/>
              </a:rPr>
              <a:t> </a:t>
            </a:r>
            <a:r>
              <a:rPr sz="2650" dirty="0">
                <a:latin typeface="+mn-lt"/>
                <a:cs typeface="Times New Roman"/>
              </a:rPr>
              <a:t>вычисления</a:t>
            </a:r>
            <a:r>
              <a:rPr sz="2650" spc="5" dirty="0">
                <a:latin typeface="+mn-lt"/>
                <a:cs typeface="Times New Roman"/>
              </a:rPr>
              <a:t> </a:t>
            </a:r>
            <a:r>
              <a:rPr sz="2650" dirty="0">
                <a:latin typeface="+mn-lt"/>
                <a:cs typeface="Times New Roman"/>
              </a:rPr>
              <a:t>и возвращают</a:t>
            </a:r>
            <a:r>
              <a:rPr sz="2650" spc="5" dirty="0">
                <a:latin typeface="+mn-lt"/>
                <a:cs typeface="Times New Roman"/>
              </a:rPr>
              <a:t> </a:t>
            </a:r>
            <a:r>
              <a:rPr sz="2650" spc="-10" dirty="0">
                <a:latin typeface="+mn-lt"/>
                <a:cs typeface="Times New Roman"/>
              </a:rPr>
              <a:t>результат драйверу.</a:t>
            </a:r>
            <a:endParaRPr sz="2650" dirty="0">
              <a:latin typeface="+mn-lt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10"/>
              </a:spcBef>
              <a:buSzPct val="150943"/>
              <a:buFont typeface="Arial" panose="020B0604020202020204" pitchFamily="34" charset="0"/>
              <a:buChar char="•"/>
              <a:tabLst>
                <a:tab pos="345440" algn="l"/>
              </a:tabLst>
            </a:pPr>
            <a:r>
              <a:rPr sz="2650" dirty="0">
                <a:latin typeface="+mn-lt"/>
                <a:cs typeface="Times New Roman"/>
              </a:rPr>
              <a:t>Немедленно</a:t>
            </a:r>
            <a:r>
              <a:rPr sz="2650" spc="-20" dirty="0">
                <a:latin typeface="+mn-lt"/>
                <a:cs typeface="Times New Roman"/>
              </a:rPr>
              <a:t> </a:t>
            </a:r>
            <a:r>
              <a:rPr sz="2650" dirty="0">
                <a:latin typeface="+mn-lt"/>
                <a:cs typeface="Times New Roman"/>
              </a:rPr>
              <a:t>запускают</a:t>
            </a:r>
            <a:r>
              <a:rPr sz="2650" spc="-15" dirty="0">
                <a:latin typeface="+mn-lt"/>
                <a:cs typeface="Times New Roman"/>
              </a:rPr>
              <a:t> </a:t>
            </a:r>
            <a:r>
              <a:rPr sz="2650" dirty="0">
                <a:latin typeface="+mn-lt"/>
                <a:cs typeface="Times New Roman"/>
              </a:rPr>
              <a:t>цепочку</a:t>
            </a:r>
            <a:r>
              <a:rPr sz="2650" spc="-15" dirty="0">
                <a:latin typeface="+mn-lt"/>
                <a:cs typeface="Times New Roman"/>
              </a:rPr>
              <a:t> </a:t>
            </a:r>
            <a:r>
              <a:rPr sz="2650" spc="-10" dirty="0">
                <a:latin typeface="+mn-lt"/>
                <a:cs typeface="Times New Roman"/>
              </a:rPr>
              <a:t>трансформаций.</a:t>
            </a:r>
            <a:endParaRPr sz="2650" dirty="0">
              <a:latin typeface="+mn-lt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10"/>
              </a:spcBef>
              <a:buSzPct val="150943"/>
              <a:buFont typeface="Arial" panose="020B0604020202020204" pitchFamily="34" charset="0"/>
              <a:buChar char="•"/>
              <a:tabLst>
                <a:tab pos="345440" algn="l"/>
              </a:tabLst>
            </a:pPr>
            <a:r>
              <a:rPr sz="2650" dirty="0">
                <a:latin typeface="+mn-lt"/>
                <a:cs typeface="Times New Roman"/>
              </a:rPr>
              <a:t>Примеры:</a:t>
            </a:r>
            <a:r>
              <a:rPr sz="2650" spc="45" dirty="0">
                <a:latin typeface="+mn-lt"/>
                <a:cs typeface="Times New Roman"/>
              </a:rPr>
              <a:t> </a:t>
            </a:r>
            <a:r>
              <a:rPr sz="2650" i="1" spc="-65" dirty="0">
                <a:latin typeface="+mn-lt"/>
                <a:cs typeface="Arial"/>
              </a:rPr>
              <a:t>collect(),</a:t>
            </a:r>
            <a:r>
              <a:rPr sz="2650" i="1" spc="-155" dirty="0">
                <a:latin typeface="+mn-lt"/>
                <a:cs typeface="Arial"/>
              </a:rPr>
              <a:t> </a:t>
            </a:r>
            <a:r>
              <a:rPr sz="2650" i="1" spc="-45" dirty="0">
                <a:latin typeface="+mn-lt"/>
                <a:cs typeface="Arial"/>
              </a:rPr>
              <a:t>count(),</a:t>
            </a:r>
            <a:r>
              <a:rPr sz="2650" i="1" spc="-150" dirty="0">
                <a:latin typeface="+mn-lt"/>
                <a:cs typeface="Arial"/>
              </a:rPr>
              <a:t> </a:t>
            </a:r>
            <a:r>
              <a:rPr sz="2650" i="1" spc="-65" dirty="0">
                <a:latin typeface="+mn-lt"/>
                <a:cs typeface="Arial"/>
              </a:rPr>
              <a:t>take(),</a:t>
            </a:r>
            <a:r>
              <a:rPr sz="2650" i="1" spc="-155" dirty="0">
                <a:latin typeface="+mn-lt"/>
                <a:cs typeface="Arial"/>
              </a:rPr>
              <a:t> </a:t>
            </a:r>
            <a:r>
              <a:rPr sz="2650" i="1" spc="-105" dirty="0">
                <a:latin typeface="+mn-lt"/>
                <a:cs typeface="Arial"/>
              </a:rPr>
              <a:t>reduce(),</a:t>
            </a:r>
            <a:r>
              <a:rPr sz="2650" i="1" spc="-150" dirty="0">
                <a:latin typeface="+mn-lt"/>
                <a:cs typeface="Arial"/>
              </a:rPr>
              <a:t> </a:t>
            </a:r>
            <a:r>
              <a:rPr sz="2650" i="1" spc="-10" dirty="0">
                <a:latin typeface="+mn-lt"/>
                <a:cs typeface="Arial"/>
              </a:rPr>
              <a:t>foreach()</a:t>
            </a:r>
            <a:r>
              <a:rPr sz="2650" spc="-10" dirty="0">
                <a:latin typeface="+mn-lt"/>
                <a:cs typeface="Times New Roman"/>
              </a:rPr>
              <a:t>.</a:t>
            </a:r>
            <a:endParaRPr sz="2650" dirty="0">
              <a:latin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6422" y="4601750"/>
            <a:ext cx="9950457" cy="50802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21273" y="845493"/>
            <a:ext cx="11452225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b="1" dirty="0">
                <a:latin typeface="+mn-lt"/>
                <a:cs typeface="Times New Roman"/>
              </a:rPr>
              <a:t>RDD</a:t>
            </a:r>
            <a:endParaRPr b="1" dirty="0">
              <a:latin typeface="+mn-l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221" y="2682875"/>
            <a:ext cx="18767425" cy="746037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3190"/>
              </a:spcBef>
            </a:pPr>
            <a:r>
              <a:rPr sz="3400" b="1" spc="220" dirty="0">
                <a:latin typeface="+mn-lt"/>
                <a:cs typeface="Arial"/>
              </a:rPr>
              <a:t>RDD</a:t>
            </a:r>
            <a:r>
              <a:rPr sz="3400" b="1" spc="-120" dirty="0">
                <a:latin typeface="+mn-lt"/>
                <a:cs typeface="Arial"/>
              </a:rPr>
              <a:t> </a:t>
            </a:r>
            <a:r>
              <a:rPr sz="3400" b="1" dirty="0">
                <a:latin typeface="+mn-lt"/>
                <a:cs typeface="Arial"/>
              </a:rPr>
              <a:t>(Resilient</a:t>
            </a:r>
            <a:r>
              <a:rPr sz="3400" b="1" spc="-114" dirty="0">
                <a:latin typeface="+mn-lt"/>
                <a:cs typeface="Arial"/>
              </a:rPr>
              <a:t> </a:t>
            </a:r>
            <a:r>
              <a:rPr sz="3400" b="1" spc="110" dirty="0">
                <a:latin typeface="+mn-lt"/>
                <a:cs typeface="Arial"/>
              </a:rPr>
              <a:t>Distributed</a:t>
            </a:r>
            <a:r>
              <a:rPr sz="3400" b="1" spc="-120" dirty="0">
                <a:latin typeface="+mn-lt"/>
                <a:cs typeface="Arial"/>
              </a:rPr>
              <a:t> </a:t>
            </a:r>
            <a:r>
              <a:rPr sz="3400" b="1" spc="75" dirty="0">
                <a:latin typeface="+mn-lt"/>
                <a:cs typeface="Arial"/>
              </a:rPr>
              <a:t>Dataset)</a:t>
            </a:r>
            <a:r>
              <a:rPr sz="3400" b="1" spc="-125" dirty="0">
                <a:latin typeface="+mn-lt"/>
                <a:cs typeface="Arial"/>
              </a:rPr>
              <a:t> </a:t>
            </a:r>
            <a:r>
              <a:rPr sz="3400" spc="-545" dirty="0">
                <a:latin typeface="+mn-lt"/>
                <a:cs typeface="Times New Roman"/>
              </a:rPr>
              <a:t>—</a:t>
            </a:r>
            <a:r>
              <a:rPr sz="3400" spc="-35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это</a:t>
            </a:r>
            <a:r>
              <a:rPr sz="3400" spc="-30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базовая</a:t>
            </a:r>
            <a:r>
              <a:rPr sz="3400" spc="-35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абстракция</a:t>
            </a:r>
            <a:r>
              <a:rPr sz="3400" spc="-30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данных</a:t>
            </a:r>
            <a:r>
              <a:rPr sz="3400" spc="-30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в</a:t>
            </a:r>
            <a:r>
              <a:rPr sz="3400" spc="-30" dirty="0">
                <a:latin typeface="+mn-lt"/>
                <a:cs typeface="Times New Roman"/>
              </a:rPr>
              <a:t> </a:t>
            </a:r>
            <a:r>
              <a:rPr sz="3400" spc="165" dirty="0">
                <a:latin typeface="+mn-lt"/>
                <a:cs typeface="Times New Roman"/>
              </a:rPr>
              <a:t>Spark,</a:t>
            </a:r>
            <a:r>
              <a:rPr sz="3400" spc="-30" dirty="0">
                <a:latin typeface="+mn-lt"/>
                <a:cs typeface="Times New Roman"/>
              </a:rPr>
              <a:t> </a:t>
            </a:r>
            <a:r>
              <a:rPr sz="3400" spc="-10" dirty="0">
                <a:latin typeface="+mn-lt"/>
                <a:cs typeface="Times New Roman"/>
              </a:rPr>
              <a:t>представляющая </a:t>
            </a:r>
            <a:r>
              <a:rPr sz="3400" dirty="0">
                <a:latin typeface="+mn-lt"/>
                <a:cs typeface="Times New Roman"/>
              </a:rPr>
              <a:t>собой</a:t>
            </a:r>
            <a:r>
              <a:rPr sz="3400" spc="-120" dirty="0">
                <a:latin typeface="+mn-lt"/>
                <a:cs typeface="Times New Roman"/>
              </a:rPr>
              <a:t> </a:t>
            </a:r>
            <a:r>
              <a:rPr sz="3400" spc="-25" dirty="0">
                <a:latin typeface="+mn-lt"/>
                <a:cs typeface="Times New Roman"/>
              </a:rPr>
              <a:t>отказоустойчивую</a:t>
            </a:r>
            <a:r>
              <a:rPr sz="3400" spc="-120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распределённую</a:t>
            </a:r>
            <a:r>
              <a:rPr sz="3400" spc="-120" dirty="0">
                <a:latin typeface="+mn-lt"/>
                <a:cs typeface="Times New Roman"/>
              </a:rPr>
              <a:t> </a:t>
            </a:r>
            <a:r>
              <a:rPr sz="3400" spc="-20" dirty="0">
                <a:latin typeface="+mn-lt"/>
                <a:cs typeface="Times New Roman"/>
              </a:rPr>
              <a:t>коллекцию</a:t>
            </a:r>
            <a:r>
              <a:rPr sz="3400" spc="-120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элементов,</a:t>
            </a:r>
            <a:r>
              <a:rPr sz="3400" spc="-120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размещённую</a:t>
            </a:r>
            <a:r>
              <a:rPr sz="3400" spc="-120" dirty="0">
                <a:latin typeface="+mn-lt"/>
                <a:cs typeface="Times New Roman"/>
              </a:rPr>
              <a:t> </a:t>
            </a:r>
            <a:r>
              <a:rPr sz="3400" dirty="0">
                <a:latin typeface="+mn-lt"/>
                <a:cs typeface="Times New Roman"/>
              </a:rPr>
              <a:t>на</a:t>
            </a:r>
            <a:r>
              <a:rPr sz="3400" spc="-120" dirty="0">
                <a:latin typeface="+mn-lt"/>
                <a:cs typeface="Times New Roman"/>
              </a:rPr>
              <a:t> </a:t>
            </a:r>
            <a:r>
              <a:rPr sz="3400" spc="-10" dirty="0">
                <a:latin typeface="+mn-lt"/>
                <a:cs typeface="Times New Roman"/>
              </a:rPr>
              <a:t>кластере.</a:t>
            </a:r>
            <a:endParaRPr sz="3400" dirty="0">
              <a:latin typeface="+mn-lt"/>
              <a:cs typeface="Times New Roman"/>
            </a:endParaRPr>
          </a:p>
          <a:p>
            <a:pPr marL="131445">
              <a:lnSpc>
                <a:spcPct val="100000"/>
              </a:lnSpc>
              <a:spcBef>
                <a:spcPts val="2720"/>
              </a:spcBef>
            </a:pPr>
            <a:r>
              <a:rPr sz="2900" b="1" dirty="0">
                <a:latin typeface="+mn-lt"/>
                <a:cs typeface="Times New Roman"/>
              </a:rPr>
              <a:t>Свойства</a:t>
            </a:r>
            <a:r>
              <a:rPr sz="2900" b="1" spc="-114" dirty="0">
                <a:latin typeface="+mn-lt"/>
                <a:cs typeface="Times New Roman"/>
              </a:rPr>
              <a:t> </a:t>
            </a:r>
            <a:r>
              <a:rPr sz="2900" b="1" spc="85" dirty="0">
                <a:latin typeface="+mn-lt"/>
                <a:cs typeface="Arial"/>
              </a:rPr>
              <a:t>RDD:</a:t>
            </a:r>
            <a:endParaRPr sz="2900" dirty="0">
              <a:latin typeface="+mn-lt"/>
              <a:cs typeface="Arial"/>
            </a:endParaRPr>
          </a:p>
          <a:p>
            <a:pPr marL="767715" marR="9989820" indent="-636905">
              <a:lnSpc>
                <a:spcPct val="115799"/>
              </a:lnSpc>
              <a:spcBef>
                <a:spcPts val="1585"/>
              </a:spcBef>
              <a:buFont typeface="Times New Roman"/>
              <a:buAutoNum type="arabicPeriod"/>
              <a:tabLst>
                <a:tab pos="767715" algn="l"/>
              </a:tabLst>
            </a:pPr>
            <a:r>
              <a:rPr sz="2900" b="1" spc="-10" dirty="0">
                <a:latin typeface="+mn-lt"/>
                <a:cs typeface="Times New Roman"/>
              </a:rPr>
              <a:t>Распределённость</a:t>
            </a:r>
            <a:r>
              <a:rPr sz="2900" spc="-10" dirty="0">
                <a:latin typeface="+mn-lt"/>
                <a:cs typeface="Times New Roman"/>
              </a:rPr>
              <a:t>:</a:t>
            </a:r>
            <a:r>
              <a:rPr sz="2900" spc="-55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Данные</a:t>
            </a:r>
            <a:r>
              <a:rPr sz="2900" spc="-55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хранятся</a:t>
            </a:r>
            <a:r>
              <a:rPr sz="2900" spc="-55" dirty="0">
                <a:latin typeface="+mn-lt"/>
                <a:cs typeface="Times New Roman"/>
              </a:rPr>
              <a:t> </a:t>
            </a:r>
            <a:r>
              <a:rPr sz="2900" spc="-50" dirty="0">
                <a:latin typeface="+mn-lt"/>
                <a:cs typeface="Times New Roman"/>
              </a:rPr>
              <a:t>и </a:t>
            </a:r>
            <a:r>
              <a:rPr sz="2900" spc="-10" dirty="0">
                <a:latin typeface="+mn-lt"/>
                <a:cs typeface="Times New Roman"/>
              </a:rPr>
              <a:t>обрабатываются</a:t>
            </a:r>
            <a:r>
              <a:rPr sz="2900" spc="-85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параллельно</a:t>
            </a:r>
            <a:r>
              <a:rPr sz="2900" spc="-85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на</a:t>
            </a:r>
            <a:r>
              <a:rPr sz="2900" spc="-80" dirty="0">
                <a:latin typeface="+mn-lt"/>
                <a:cs typeface="Times New Roman"/>
              </a:rPr>
              <a:t> </a:t>
            </a:r>
            <a:r>
              <a:rPr sz="2900" spc="-10" dirty="0">
                <a:latin typeface="+mn-lt"/>
                <a:cs typeface="Times New Roman"/>
              </a:rPr>
              <a:t>нескольких</a:t>
            </a:r>
            <a:r>
              <a:rPr sz="2900" spc="-85" dirty="0">
                <a:latin typeface="+mn-lt"/>
                <a:cs typeface="Times New Roman"/>
              </a:rPr>
              <a:t> </a:t>
            </a:r>
            <a:r>
              <a:rPr sz="2900" spc="-10" dirty="0">
                <a:latin typeface="+mn-lt"/>
                <a:cs typeface="Times New Roman"/>
              </a:rPr>
              <a:t>узлах.</a:t>
            </a:r>
            <a:endParaRPr sz="2900" dirty="0">
              <a:latin typeface="+mn-lt"/>
              <a:cs typeface="Times New Roman"/>
            </a:endParaRPr>
          </a:p>
          <a:p>
            <a:pPr marL="767715" marR="9923780" indent="-636905">
              <a:lnSpc>
                <a:spcPct val="115799"/>
              </a:lnSpc>
              <a:spcBef>
                <a:spcPts val="1585"/>
              </a:spcBef>
              <a:buFont typeface="Times New Roman"/>
              <a:buAutoNum type="arabicPeriod"/>
              <a:tabLst>
                <a:tab pos="767715" algn="l"/>
              </a:tabLst>
            </a:pPr>
            <a:r>
              <a:rPr sz="2900" b="1" spc="-25" dirty="0">
                <a:latin typeface="+mn-lt"/>
                <a:cs typeface="Times New Roman"/>
              </a:rPr>
              <a:t>Отказоустойчивость</a:t>
            </a:r>
            <a:r>
              <a:rPr sz="2900" spc="-25" dirty="0">
                <a:latin typeface="+mn-lt"/>
                <a:cs typeface="Times New Roman"/>
              </a:rPr>
              <a:t>:</a:t>
            </a:r>
            <a:r>
              <a:rPr sz="2900" spc="-100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В</a:t>
            </a:r>
            <a:r>
              <a:rPr sz="2900" spc="-95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случае</a:t>
            </a:r>
            <a:r>
              <a:rPr sz="2900" spc="-100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отказа</a:t>
            </a:r>
            <a:r>
              <a:rPr sz="2900" spc="-95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узла</a:t>
            </a:r>
            <a:r>
              <a:rPr sz="2900" spc="-100" dirty="0">
                <a:latin typeface="+mn-lt"/>
                <a:cs typeface="Times New Roman"/>
              </a:rPr>
              <a:t> </a:t>
            </a:r>
            <a:r>
              <a:rPr sz="2900" spc="-10" dirty="0">
                <a:latin typeface="+mn-lt"/>
                <a:cs typeface="Times New Roman"/>
              </a:rPr>
              <a:t>данные </a:t>
            </a:r>
            <a:r>
              <a:rPr sz="2900" dirty="0">
                <a:latin typeface="+mn-lt"/>
                <a:cs typeface="Times New Roman"/>
              </a:rPr>
              <a:t>восстанавливаются</a:t>
            </a:r>
            <a:r>
              <a:rPr sz="2900" spc="-130" dirty="0">
                <a:latin typeface="+mn-lt"/>
                <a:cs typeface="Times New Roman"/>
              </a:rPr>
              <a:t> </a:t>
            </a:r>
            <a:r>
              <a:rPr sz="2900" spc="-10" dirty="0">
                <a:latin typeface="+mn-lt"/>
                <a:cs typeface="Times New Roman"/>
              </a:rPr>
              <a:t>автоматически.</a:t>
            </a:r>
            <a:endParaRPr sz="2900" dirty="0">
              <a:latin typeface="+mn-lt"/>
              <a:cs typeface="Times New Roman"/>
            </a:endParaRPr>
          </a:p>
          <a:p>
            <a:pPr marL="767715" marR="11309350" indent="-636905">
              <a:lnSpc>
                <a:spcPct val="115799"/>
              </a:lnSpc>
              <a:spcBef>
                <a:spcPts val="1580"/>
              </a:spcBef>
              <a:buFont typeface="Times New Roman"/>
              <a:buAutoNum type="arabicPeriod"/>
              <a:tabLst>
                <a:tab pos="767715" algn="l"/>
              </a:tabLst>
            </a:pPr>
            <a:r>
              <a:rPr sz="2900" b="1" spc="-10" dirty="0">
                <a:latin typeface="+mn-lt"/>
                <a:cs typeface="Times New Roman"/>
              </a:rPr>
              <a:t>Неизменяемость</a:t>
            </a:r>
            <a:r>
              <a:rPr sz="2900" b="1" spc="-50" dirty="0">
                <a:latin typeface="+mn-lt"/>
                <a:cs typeface="Times New Roman"/>
              </a:rPr>
              <a:t> </a:t>
            </a:r>
            <a:r>
              <a:rPr sz="2900" b="1" spc="75" dirty="0">
                <a:latin typeface="+mn-lt"/>
                <a:cs typeface="Arial"/>
              </a:rPr>
              <a:t>(Immutable)</a:t>
            </a:r>
            <a:r>
              <a:rPr sz="2900" spc="75" dirty="0">
                <a:latin typeface="+mn-lt"/>
                <a:cs typeface="Times New Roman"/>
              </a:rPr>
              <a:t>:</a:t>
            </a:r>
            <a:r>
              <a:rPr sz="2900" spc="-60" dirty="0">
                <a:latin typeface="+mn-lt"/>
                <a:cs typeface="Times New Roman"/>
              </a:rPr>
              <a:t> </a:t>
            </a:r>
            <a:r>
              <a:rPr sz="2900" spc="-10" dirty="0">
                <a:latin typeface="+mn-lt"/>
                <a:cs typeface="Times New Roman"/>
              </a:rPr>
              <a:t>Любое </a:t>
            </a:r>
            <a:r>
              <a:rPr sz="2900" dirty="0">
                <a:latin typeface="+mn-lt"/>
                <a:cs typeface="Times New Roman"/>
              </a:rPr>
              <a:t>преобразование</a:t>
            </a:r>
            <a:r>
              <a:rPr sz="2900" spc="-110" dirty="0">
                <a:latin typeface="+mn-lt"/>
                <a:cs typeface="Times New Roman"/>
              </a:rPr>
              <a:t> </a:t>
            </a:r>
            <a:r>
              <a:rPr sz="2900" spc="60" dirty="0">
                <a:latin typeface="+mn-lt"/>
                <a:cs typeface="Times New Roman"/>
              </a:rPr>
              <a:t>RDD</a:t>
            </a:r>
            <a:r>
              <a:rPr sz="2900" spc="-105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создаёт</a:t>
            </a:r>
            <a:r>
              <a:rPr sz="2900" spc="-110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новый</a:t>
            </a:r>
            <a:r>
              <a:rPr sz="2900" spc="-105" dirty="0">
                <a:latin typeface="+mn-lt"/>
                <a:cs typeface="Times New Roman"/>
              </a:rPr>
              <a:t> </a:t>
            </a:r>
            <a:r>
              <a:rPr sz="2900" spc="-20" dirty="0">
                <a:latin typeface="+mn-lt"/>
                <a:cs typeface="Times New Roman"/>
              </a:rPr>
              <a:t>RDD.</a:t>
            </a:r>
            <a:endParaRPr sz="2900" dirty="0">
              <a:latin typeface="+mn-lt"/>
              <a:cs typeface="Times New Roman"/>
            </a:endParaRPr>
          </a:p>
          <a:p>
            <a:pPr marL="767715" marR="10380345" indent="-636905">
              <a:lnSpc>
                <a:spcPct val="115799"/>
              </a:lnSpc>
              <a:spcBef>
                <a:spcPts val="1585"/>
              </a:spcBef>
              <a:buFont typeface="Times New Roman"/>
              <a:buAutoNum type="arabicPeriod"/>
              <a:tabLst>
                <a:tab pos="767715" algn="l"/>
              </a:tabLst>
            </a:pPr>
            <a:r>
              <a:rPr sz="2900" b="1" spc="-10" dirty="0">
                <a:latin typeface="+mn-lt"/>
                <a:cs typeface="Times New Roman"/>
              </a:rPr>
              <a:t>Отложенные</a:t>
            </a:r>
            <a:r>
              <a:rPr sz="2900" b="1" spc="-30" dirty="0">
                <a:latin typeface="+mn-lt"/>
                <a:cs typeface="Times New Roman"/>
              </a:rPr>
              <a:t> </a:t>
            </a:r>
            <a:r>
              <a:rPr sz="2900" b="1" dirty="0">
                <a:latin typeface="+mn-lt"/>
                <a:cs typeface="Times New Roman"/>
              </a:rPr>
              <a:t>вычисления</a:t>
            </a:r>
            <a:r>
              <a:rPr sz="2900" b="1" spc="-25" dirty="0">
                <a:latin typeface="+mn-lt"/>
                <a:cs typeface="Times New Roman"/>
              </a:rPr>
              <a:t> </a:t>
            </a:r>
            <a:r>
              <a:rPr sz="2900" b="1" dirty="0">
                <a:latin typeface="+mn-lt"/>
                <a:cs typeface="Arial"/>
              </a:rPr>
              <a:t>(Lazy</a:t>
            </a:r>
            <a:r>
              <a:rPr sz="2900" b="1" spc="-105" dirty="0">
                <a:latin typeface="+mn-lt"/>
                <a:cs typeface="Arial"/>
              </a:rPr>
              <a:t> </a:t>
            </a:r>
            <a:r>
              <a:rPr sz="2900" b="1" spc="-10" dirty="0">
                <a:latin typeface="+mn-lt"/>
                <a:cs typeface="Arial"/>
              </a:rPr>
              <a:t>Evaluation)</a:t>
            </a:r>
            <a:r>
              <a:rPr sz="2900" spc="-10" dirty="0">
                <a:latin typeface="+mn-lt"/>
                <a:cs typeface="Times New Roman"/>
              </a:rPr>
              <a:t>: </a:t>
            </a:r>
            <a:r>
              <a:rPr sz="2900" spc="60" dirty="0">
                <a:latin typeface="+mn-lt"/>
                <a:cs typeface="Times New Roman"/>
              </a:rPr>
              <a:t>RDD</a:t>
            </a:r>
            <a:r>
              <a:rPr sz="2900" spc="-90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вычисляются</a:t>
            </a:r>
            <a:r>
              <a:rPr sz="2900" spc="-85" dirty="0">
                <a:latin typeface="+mn-lt"/>
                <a:cs typeface="Times New Roman"/>
              </a:rPr>
              <a:t> </a:t>
            </a:r>
            <a:r>
              <a:rPr sz="2900" spc="-30" dirty="0">
                <a:latin typeface="+mn-lt"/>
                <a:cs typeface="Times New Roman"/>
              </a:rPr>
              <a:t>только</a:t>
            </a:r>
            <a:r>
              <a:rPr sz="2900" spc="-90" dirty="0">
                <a:latin typeface="+mn-lt"/>
                <a:cs typeface="Times New Roman"/>
              </a:rPr>
              <a:t> </a:t>
            </a:r>
            <a:r>
              <a:rPr sz="2900" dirty="0">
                <a:latin typeface="+mn-lt"/>
                <a:cs typeface="Times New Roman"/>
              </a:rPr>
              <a:t>при</a:t>
            </a:r>
            <a:r>
              <a:rPr sz="2900" spc="-85" dirty="0">
                <a:latin typeface="+mn-lt"/>
                <a:cs typeface="Times New Roman"/>
              </a:rPr>
              <a:t> </a:t>
            </a:r>
            <a:r>
              <a:rPr sz="2900" spc="-10" dirty="0">
                <a:latin typeface="+mn-lt"/>
                <a:cs typeface="Times New Roman"/>
              </a:rPr>
              <a:t>выполнении </a:t>
            </a:r>
            <a:r>
              <a:rPr sz="2900" dirty="0">
                <a:latin typeface="+mn-lt"/>
                <a:cs typeface="Times New Roman"/>
              </a:rPr>
              <a:t>действий</a:t>
            </a:r>
            <a:r>
              <a:rPr sz="2900" spc="-55" dirty="0">
                <a:latin typeface="+mn-lt"/>
                <a:cs typeface="Times New Roman"/>
              </a:rPr>
              <a:t> </a:t>
            </a:r>
            <a:r>
              <a:rPr sz="2900" spc="125" dirty="0">
                <a:latin typeface="+mn-lt"/>
                <a:cs typeface="Times New Roman"/>
              </a:rPr>
              <a:t>(actions).</a:t>
            </a:r>
            <a:endParaRPr sz="2900" dirty="0">
              <a:latin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8050" y="4168364"/>
            <a:ext cx="11171307" cy="51804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object 4"/>
          <p:cNvSpPr txBox="1"/>
          <p:nvPr/>
        </p:nvSpPr>
        <p:spPr>
          <a:xfrm>
            <a:off x="1033161" y="2454275"/>
            <a:ext cx="16910733" cy="11240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3600" b="1" spc="80" dirty="0">
                <a:latin typeface="+mn-lt"/>
                <a:cs typeface="Arial"/>
              </a:rPr>
              <a:t>Spark</a:t>
            </a:r>
            <a:r>
              <a:rPr lang="ru-RU" sz="3600" b="1" spc="-210" dirty="0">
                <a:latin typeface="+mn-lt"/>
                <a:cs typeface="Arial"/>
              </a:rPr>
              <a:t> </a:t>
            </a:r>
            <a:r>
              <a:rPr lang="ru-RU" sz="3600" b="1" spc="125" dirty="0" err="1">
                <a:latin typeface="+mn-lt"/>
                <a:cs typeface="Arial"/>
              </a:rPr>
              <a:t>DataFrame</a:t>
            </a:r>
            <a:r>
              <a:rPr lang="ru-RU" sz="3600" b="1" spc="-180" dirty="0">
                <a:latin typeface="+mn-lt"/>
                <a:cs typeface="Arial"/>
              </a:rPr>
              <a:t> </a:t>
            </a:r>
            <a:r>
              <a:rPr lang="ru-RU" sz="3600" spc="-540" dirty="0">
                <a:latin typeface="+mn-lt"/>
                <a:cs typeface="Times New Roman"/>
              </a:rPr>
              <a:t>—</a:t>
            </a:r>
            <a:r>
              <a:rPr lang="ru-RU" sz="3600" spc="-45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это</a:t>
            </a:r>
            <a:r>
              <a:rPr lang="ru-RU" sz="3600" spc="-80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распределённая</a:t>
            </a:r>
            <a:r>
              <a:rPr lang="ru-RU" sz="3600" spc="-85" dirty="0">
                <a:latin typeface="+mn-lt"/>
                <a:cs typeface="Times New Roman"/>
              </a:rPr>
              <a:t> </a:t>
            </a:r>
            <a:r>
              <a:rPr lang="ru-RU" sz="3600" spc="-10" dirty="0">
                <a:latin typeface="+mn-lt"/>
                <a:cs typeface="Times New Roman"/>
              </a:rPr>
              <a:t>коллекция</a:t>
            </a:r>
            <a:r>
              <a:rPr lang="ru-RU" sz="3600" spc="-80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данных,</a:t>
            </a:r>
            <a:r>
              <a:rPr lang="ru-RU" sz="3600" spc="-85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организованная</a:t>
            </a:r>
            <a:r>
              <a:rPr lang="ru-RU" sz="3600" spc="-75" dirty="0">
                <a:latin typeface="+mn-lt"/>
                <a:cs typeface="Times New Roman"/>
              </a:rPr>
              <a:t> </a:t>
            </a:r>
            <a:r>
              <a:rPr lang="ru-RU" sz="3600" spc="-25" dirty="0">
                <a:latin typeface="+mn-lt"/>
                <a:cs typeface="Times New Roman"/>
              </a:rPr>
              <a:t>по </a:t>
            </a:r>
            <a:r>
              <a:rPr lang="ru-RU" sz="3600" dirty="0">
                <a:latin typeface="+mn-lt"/>
                <a:cs typeface="Times New Roman"/>
              </a:rPr>
              <a:t>столбцам,</a:t>
            </a:r>
            <a:r>
              <a:rPr lang="ru-RU" sz="3600" spc="-90" dirty="0">
                <a:latin typeface="+mn-lt"/>
                <a:cs typeface="Times New Roman"/>
              </a:rPr>
              <a:t> </a:t>
            </a:r>
            <a:r>
              <a:rPr lang="ru-RU" sz="3600" spc="-30" dirty="0">
                <a:latin typeface="+mn-lt"/>
                <a:cs typeface="Times New Roman"/>
              </a:rPr>
              <a:t>похожая</a:t>
            </a:r>
            <a:r>
              <a:rPr lang="ru-RU" sz="3600" spc="-85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на</a:t>
            </a:r>
            <a:r>
              <a:rPr lang="ru-RU" sz="3600" spc="-90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таблицу</a:t>
            </a:r>
            <a:r>
              <a:rPr lang="ru-RU" sz="3600" spc="-80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в</a:t>
            </a:r>
            <a:r>
              <a:rPr lang="ru-RU" sz="3600" spc="-85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реляционной</a:t>
            </a:r>
            <a:r>
              <a:rPr lang="ru-RU" sz="3600" spc="-85" dirty="0">
                <a:latin typeface="+mn-lt"/>
                <a:cs typeface="Times New Roman"/>
              </a:rPr>
              <a:t> </a:t>
            </a:r>
            <a:r>
              <a:rPr lang="ru-RU" sz="3600" dirty="0">
                <a:latin typeface="+mn-lt"/>
                <a:cs typeface="Times New Roman"/>
              </a:rPr>
              <a:t>базе</a:t>
            </a:r>
            <a:r>
              <a:rPr lang="ru-RU" sz="3600" spc="-85" dirty="0">
                <a:latin typeface="+mn-lt"/>
                <a:cs typeface="Times New Roman"/>
              </a:rPr>
              <a:t> </a:t>
            </a:r>
            <a:r>
              <a:rPr lang="ru-RU" sz="3600" spc="-10" dirty="0">
                <a:latin typeface="+mn-lt"/>
                <a:cs typeface="Times New Roman"/>
              </a:rPr>
              <a:t>данных.</a:t>
            </a:r>
            <a:endParaRPr lang="en-US" sz="3600" b="1" spc="-10" dirty="0">
              <a:latin typeface="+mn-lt"/>
              <a:cs typeface="Times New Roman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F25DD9C-96C1-782B-FB9A-7B1E03FD3BB3}"/>
              </a:ext>
            </a:extLst>
          </p:cNvPr>
          <p:cNvSpPr txBox="1">
            <a:spLocks/>
          </p:cNvSpPr>
          <p:nvPr/>
        </p:nvSpPr>
        <p:spPr>
          <a:xfrm>
            <a:off x="4285543" y="807149"/>
            <a:ext cx="114522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6900" b="0" i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/>
            <a:r>
              <a:rPr lang="en-US" b="1" dirty="0">
                <a:latin typeface="+mn-lt"/>
              </a:rPr>
              <a:t>Spark </a:t>
            </a:r>
            <a:r>
              <a:rPr lang="en-US" b="1" dirty="0" err="1">
                <a:latin typeface="+mn-lt"/>
              </a:rPr>
              <a:t>DataFrame</a:t>
            </a:r>
            <a:endParaRPr lang="en-US" b="1" dirty="0">
              <a:latin typeface="+mn-lt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DEB6C5-631B-D76E-1B25-06D3934DB3B3}"/>
              </a:ext>
            </a:extLst>
          </p:cNvPr>
          <p:cNvSpPr txBox="1"/>
          <p:nvPr/>
        </p:nvSpPr>
        <p:spPr>
          <a:xfrm>
            <a:off x="1035278" y="4168364"/>
            <a:ext cx="7342489" cy="515756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spc="-10" dirty="0" err="1">
                <a:latin typeface="+mn-lt"/>
                <a:cs typeface="Times New Roman"/>
              </a:rPr>
              <a:t>Свойства</a:t>
            </a:r>
            <a:r>
              <a:rPr sz="3600" b="1" spc="-10" dirty="0">
                <a:latin typeface="+mn-lt"/>
                <a:cs typeface="Arial"/>
              </a:rPr>
              <a:t>:</a:t>
            </a:r>
            <a:endParaRPr sz="3600" dirty="0">
              <a:latin typeface="+mn-lt"/>
              <a:cs typeface="Arial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Имеет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именованные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столбцы.</a:t>
            </a:r>
            <a:endParaRPr sz="3600" dirty="0">
              <a:latin typeface="+mn-lt"/>
              <a:cs typeface="Times New Roman"/>
            </a:endParaRPr>
          </a:p>
          <a:p>
            <a:pPr marL="808355" marR="5080" indent="-796290">
              <a:lnSpc>
                <a:spcPct val="116199"/>
              </a:lnSpc>
              <a:spcBef>
                <a:spcPts val="1975"/>
              </a:spcBef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Данные</a:t>
            </a:r>
            <a:r>
              <a:rPr sz="3600" spc="-6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структурированы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spc="-50" dirty="0">
                <a:latin typeface="+mn-lt"/>
                <a:cs typeface="Times New Roman"/>
              </a:rPr>
              <a:t>и </a:t>
            </a:r>
            <a:r>
              <a:rPr sz="3600" dirty="0">
                <a:latin typeface="+mn-lt"/>
                <a:cs typeface="Times New Roman"/>
              </a:rPr>
              <a:t>распределены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по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узлам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кластера.</a:t>
            </a:r>
            <a:endParaRPr sz="3600" dirty="0">
              <a:latin typeface="+mn-lt"/>
              <a:cs typeface="Times New Roman"/>
            </a:endParaRPr>
          </a:p>
          <a:p>
            <a:pPr marL="808355" marR="275590" indent="-796290">
              <a:lnSpc>
                <a:spcPct val="116199"/>
              </a:lnSpc>
              <a:spcBef>
                <a:spcPts val="1980"/>
              </a:spcBef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Обладает</a:t>
            </a:r>
            <a:r>
              <a:rPr sz="3600" spc="-15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оптимизацией </a:t>
            </a:r>
            <a:r>
              <a:rPr sz="3600" dirty="0">
                <a:latin typeface="+mn-lt"/>
                <a:cs typeface="Times New Roman"/>
              </a:rPr>
              <a:t>запросов</a:t>
            </a:r>
            <a:r>
              <a:rPr sz="3600" spc="-15" dirty="0">
                <a:latin typeface="+mn-lt"/>
                <a:cs typeface="Times New Roman"/>
              </a:rPr>
              <a:t> </a:t>
            </a:r>
            <a:r>
              <a:rPr sz="3600" spc="185" dirty="0">
                <a:latin typeface="+mn-lt"/>
                <a:cs typeface="Times New Roman"/>
              </a:rPr>
              <a:t>(Catalyst</a:t>
            </a:r>
            <a:r>
              <a:rPr sz="3600" spc="-10" dirty="0">
                <a:latin typeface="+mn-lt"/>
                <a:cs typeface="Times New Roman"/>
              </a:rPr>
              <a:t> </a:t>
            </a:r>
            <a:r>
              <a:rPr sz="3600" spc="170" dirty="0">
                <a:latin typeface="+mn-lt"/>
                <a:cs typeface="Times New Roman"/>
              </a:rPr>
              <a:t>Optimizer).</a:t>
            </a:r>
            <a:endParaRPr sz="3600" dirty="0">
              <a:latin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4388" y="2528752"/>
            <a:ext cx="8735060" cy="5076825"/>
          </a:xfrm>
          <a:prstGeom prst="rect">
            <a:avLst/>
          </a:prstGeom>
        </p:spPr>
        <p:txBody>
          <a:bodyPr vert="horz" wrap="square" lIns="0" tIns="337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600" b="1" spc="260" dirty="0">
                <a:latin typeface="+mn-lt"/>
                <a:cs typeface="Arial"/>
              </a:rPr>
              <a:t>RDD</a:t>
            </a:r>
            <a:r>
              <a:rPr sz="3600" b="1" spc="10" dirty="0">
                <a:latin typeface="+mn-lt"/>
                <a:cs typeface="Arial"/>
              </a:rPr>
              <a:t> </a:t>
            </a:r>
            <a:r>
              <a:rPr sz="3600" b="1" dirty="0">
                <a:latin typeface="+mn-lt"/>
                <a:cs typeface="Arial"/>
              </a:rPr>
              <a:t>(Resilient</a:t>
            </a:r>
            <a:r>
              <a:rPr sz="3600" b="1" spc="10" dirty="0">
                <a:latin typeface="+mn-lt"/>
                <a:cs typeface="Arial"/>
              </a:rPr>
              <a:t> </a:t>
            </a:r>
            <a:r>
              <a:rPr sz="3600" b="1" spc="125" dirty="0">
                <a:latin typeface="+mn-lt"/>
                <a:cs typeface="Arial"/>
              </a:rPr>
              <a:t>Distributed</a:t>
            </a:r>
            <a:r>
              <a:rPr sz="3600" b="1" spc="10" dirty="0">
                <a:latin typeface="+mn-lt"/>
                <a:cs typeface="Arial"/>
              </a:rPr>
              <a:t> </a:t>
            </a:r>
            <a:r>
              <a:rPr sz="3600" b="1" spc="75" dirty="0">
                <a:latin typeface="+mn-lt"/>
                <a:cs typeface="Arial"/>
              </a:rPr>
              <a:t>Dataset)</a:t>
            </a:r>
            <a:endParaRPr sz="3600" dirty="0">
              <a:latin typeface="+mn-lt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2560"/>
              </a:spcBef>
              <a:buChar char="-"/>
              <a:tabLst>
                <a:tab pos="270510" algn="l"/>
              </a:tabLst>
            </a:pPr>
            <a:r>
              <a:rPr sz="3600" spc="-20" dirty="0">
                <a:latin typeface="+mn-lt"/>
                <a:cs typeface="Times New Roman"/>
              </a:rPr>
              <a:t>Низкоуровневая</a:t>
            </a:r>
            <a:r>
              <a:rPr sz="3600" spc="-15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структура</a:t>
            </a:r>
            <a:r>
              <a:rPr sz="3600" spc="-15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данных.</a:t>
            </a:r>
            <a:endParaRPr sz="3600" dirty="0">
              <a:latin typeface="+mn-lt"/>
              <a:cs typeface="Times New Roman"/>
            </a:endParaRPr>
          </a:p>
          <a:p>
            <a:pPr marL="270510" indent="-257810">
              <a:lnSpc>
                <a:spcPct val="100000"/>
              </a:lnSpc>
              <a:spcBef>
                <a:spcPts val="2675"/>
              </a:spcBef>
              <a:buChar char="-"/>
              <a:tabLst>
                <a:tab pos="270510" algn="l"/>
              </a:tabLst>
            </a:pPr>
            <a:r>
              <a:rPr sz="3600" dirty="0">
                <a:latin typeface="+mn-lt"/>
                <a:cs typeface="Times New Roman"/>
              </a:rPr>
              <a:t>Не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имеет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схемы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(нужна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ручная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обработка).</a:t>
            </a:r>
            <a:endParaRPr sz="3600" dirty="0">
              <a:latin typeface="+mn-lt"/>
              <a:cs typeface="Times New Roman"/>
            </a:endParaRPr>
          </a:p>
          <a:p>
            <a:pPr marL="270510" indent="-257810">
              <a:lnSpc>
                <a:spcPct val="100000"/>
              </a:lnSpc>
              <a:spcBef>
                <a:spcPts val="2680"/>
              </a:spcBef>
              <a:buChar char="-"/>
              <a:tabLst>
                <a:tab pos="270510" algn="l"/>
              </a:tabLst>
            </a:pPr>
            <a:r>
              <a:rPr sz="3600" dirty="0">
                <a:latin typeface="+mn-lt"/>
                <a:cs typeface="Times New Roman"/>
              </a:rPr>
              <a:t>Операции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менее</a:t>
            </a:r>
            <a:r>
              <a:rPr sz="3600" spc="-5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оптимизированы.</a:t>
            </a:r>
            <a:endParaRPr sz="3600" dirty="0">
              <a:latin typeface="+mn-lt"/>
              <a:cs typeface="Times New Roman"/>
            </a:endParaRPr>
          </a:p>
          <a:p>
            <a:pPr marL="12700" marR="1184910" indent="257810">
              <a:lnSpc>
                <a:spcPct val="116199"/>
              </a:lnSpc>
              <a:spcBef>
                <a:spcPts val="1975"/>
              </a:spcBef>
              <a:buChar char="-"/>
              <a:tabLst>
                <a:tab pos="270510" algn="l"/>
              </a:tabLst>
            </a:pPr>
            <a:r>
              <a:rPr sz="3600" spc="-30" dirty="0">
                <a:latin typeface="+mn-lt"/>
                <a:cs typeface="Times New Roman"/>
              </a:rPr>
              <a:t>Подходит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для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нестандартных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задач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50" dirty="0">
                <a:latin typeface="+mn-lt"/>
                <a:cs typeface="Times New Roman"/>
              </a:rPr>
              <a:t>и </a:t>
            </a:r>
            <a:r>
              <a:rPr sz="3600" spc="-20" dirty="0">
                <a:latin typeface="+mn-lt"/>
                <a:cs typeface="Times New Roman"/>
              </a:rPr>
              <a:t>низкоуровневой</a:t>
            </a:r>
            <a:r>
              <a:rPr sz="3600" spc="-13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обработки</a:t>
            </a:r>
            <a:r>
              <a:rPr sz="3600" spc="-12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данных.</a:t>
            </a:r>
            <a:endParaRPr sz="3600" dirty="0">
              <a:latin typeface="+mn-lt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10552904" y="2498091"/>
            <a:ext cx="8234044" cy="6890384"/>
          </a:xfrm>
          <a:prstGeom prst="rect">
            <a:avLst/>
          </a:prstGeom>
        </p:spPr>
        <p:txBody>
          <a:bodyPr vert="horz" wrap="square" lIns="0" tIns="325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65"/>
              </a:spcBef>
            </a:pPr>
            <a:r>
              <a:rPr spc="95" dirty="0">
                <a:latin typeface="+mn-lt"/>
              </a:rPr>
              <a:t>DataFrame</a:t>
            </a:r>
          </a:p>
          <a:p>
            <a:pPr marL="12700" marR="823594" indent="255904">
              <a:lnSpc>
                <a:spcPct val="114399"/>
              </a:lnSpc>
              <a:spcBef>
                <a:spcPts val="1845"/>
              </a:spcBef>
              <a:buChar char="-"/>
              <a:tabLst>
                <a:tab pos="268605" algn="l"/>
              </a:tabLst>
            </a:pPr>
            <a:r>
              <a:rPr b="0" spc="-40" dirty="0">
                <a:latin typeface="+mn-lt"/>
                <a:cs typeface="Times New Roman"/>
              </a:rPr>
              <a:t>Высокоуровневая</a:t>
            </a:r>
            <a:r>
              <a:rPr b="0" spc="-130" dirty="0">
                <a:latin typeface="+mn-lt"/>
                <a:cs typeface="Times New Roman"/>
              </a:rPr>
              <a:t> </a:t>
            </a:r>
            <a:r>
              <a:rPr b="0" spc="-20" dirty="0">
                <a:latin typeface="+mn-lt"/>
                <a:cs typeface="Times New Roman"/>
              </a:rPr>
              <a:t>структура</a:t>
            </a:r>
            <a:r>
              <a:rPr b="0" spc="-125" dirty="0">
                <a:latin typeface="+mn-lt"/>
                <a:cs typeface="Times New Roman"/>
              </a:rPr>
              <a:t> </a:t>
            </a:r>
            <a:r>
              <a:rPr b="0" spc="-10" dirty="0">
                <a:latin typeface="+mn-lt"/>
                <a:cs typeface="Times New Roman"/>
              </a:rPr>
              <a:t>данных, </a:t>
            </a:r>
            <a:r>
              <a:rPr b="0" dirty="0">
                <a:latin typeface="+mn-lt"/>
                <a:cs typeface="Times New Roman"/>
              </a:rPr>
              <a:t>основанная</a:t>
            </a:r>
            <a:r>
              <a:rPr b="0" spc="-140" dirty="0">
                <a:latin typeface="+mn-lt"/>
                <a:cs typeface="Times New Roman"/>
              </a:rPr>
              <a:t> </a:t>
            </a:r>
            <a:r>
              <a:rPr b="0" dirty="0">
                <a:latin typeface="+mn-lt"/>
                <a:cs typeface="Times New Roman"/>
              </a:rPr>
              <a:t>на</a:t>
            </a:r>
            <a:r>
              <a:rPr b="0" spc="-145" dirty="0">
                <a:latin typeface="+mn-lt"/>
                <a:cs typeface="Times New Roman"/>
              </a:rPr>
              <a:t> </a:t>
            </a:r>
            <a:r>
              <a:rPr b="0" spc="-20" dirty="0">
                <a:latin typeface="+mn-lt"/>
                <a:cs typeface="Times New Roman"/>
              </a:rPr>
              <a:t>RDD.</a:t>
            </a:r>
          </a:p>
          <a:p>
            <a:pPr marL="268605" indent="-255904">
              <a:lnSpc>
                <a:spcPct val="100000"/>
              </a:lnSpc>
              <a:spcBef>
                <a:spcPts val="2580"/>
              </a:spcBef>
              <a:buChar char="-"/>
              <a:tabLst>
                <a:tab pos="268605" algn="l"/>
              </a:tabLst>
            </a:pPr>
            <a:r>
              <a:rPr b="0" dirty="0">
                <a:latin typeface="+mn-lt"/>
                <a:cs typeface="Times New Roman"/>
              </a:rPr>
              <a:t>Имеет</a:t>
            </a:r>
            <a:r>
              <a:rPr b="0" spc="-150" dirty="0">
                <a:latin typeface="+mn-lt"/>
                <a:cs typeface="Times New Roman"/>
              </a:rPr>
              <a:t> </a:t>
            </a:r>
            <a:r>
              <a:rPr b="0" spc="-30" dirty="0">
                <a:latin typeface="+mn-lt"/>
                <a:cs typeface="Times New Roman"/>
              </a:rPr>
              <a:t>четко</a:t>
            </a:r>
            <a:r>
              <a:rPr b="0" spc="-145" dirty="0">
                <a:latin typeface="+mn-lt"/>
                <a:cs typeface="Times New Roman"/>
              </a:rPr>
              <a:t> </a:t>
            </a:r>
            <a:r>
              <a:rPr b="0" spc="-20" dirty="0">
                <a:latin typeface="+mn-lt"/>
                <a:cs typeface="Times New Roman"/>
              </a:rPr>
              <a:t>определённую</a:t>
            </a:r>
            <a:r>
              <a:rPr b="0" spc="-140" dirty="0">
                <a:latin typeface="+mn-lt"/>
                <a:cs typeface="Times New Roman"/>
              </a:rPr>
              <a:t> </a:t>
            </a:r>
            <a:r>
              <a:rPr b="0" spc="-10" dirty="0">
                <a:latin typeface="+mn-lt"/>
                <a:cs typeface="Times New Roman"/>
              </a:rPr>
              <a:t>схему</a:t>
            </a: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b="0" spc="-10" dirty="0">
                <a:latin typeface="+mn-lt"/>
                <a:cs typeface="Times New Roman"/>
              </a:rPr>
              <a:t>(столбцы,</a:t>
            </a:r>
            <a:r>
              <a:rPr b="0" spc="-165" dirty="0">
                <a:latin typeface="+mn-lt"/>
                <a:cs typeface="Times New Roman"/>
              </a:rPr>
              <a:t> </a:t>
            </a:r>
            <a:r>
              <a:rPr b="0" dirty="0">
                <a:latin typeface="+mn-lt"/>
                <a:cs typeface="Times New Roman"/>
              </a:rPr>
              <a:t>типы</a:t>
            </a:r>
            <a:r>
              <a:rPr b="0" spc="-165" dirty="0">
                <a:latin typeface="+mn-lt"/>
                <a:cs typeface="Times New Roman"/>
              </a:rPr>
              <a:t> </a:t>
            </a:r>
            <a:r>
              <a:rPr b="0" spc="-10" dirty="0">
                <a:latin typeface="+mn-lt"/>
                <a:cs typeface="Times New Roman"/>
              </a:rPr>
              <a:t>данных).</a:t>
            </a:r>
          </a:p>
          <a:p>
            <a:pPr marL="12700" marR="927100" indent="255904">
              <a:lnSpc>
                <a:spcPct val="114399"/>
              </a:lnSpc>
              <a:spcBef>
                <a:spcPts val="1960"/>
              </a:spcBef>
              <a:buChar char="-"/>
              <a:tabLst>
                <a:tab pos="268605" algn="l"/>
              </a:tabLst>
            </a:pPr>
            <a:r>
              <a:rPr b="0" spc="-25" dirty="0">
                <a:latin typeface="+mn-lt"/>
                <a:cs typeface="Times New Roman"/>
              </a:rPr>
              <a:t>Использует</a:t>
            </a:r>
            <a:r>
              <a:rPr b="0" spc="-70" dirty="0">
                <a:latin typeface="+mn-lt"/>
                <a:cs typeface="Times New Roman"/>
              </a:rPr>
              <a:t> </a:t>
            </a:r>
            <a:r>
              <a:rPr b="0" spc="195" dirty="0">
                <a:latin typeface="+mn-lt"/>
                <a:cs typeface="Times New Roman"/>
              </a:rPr>
              <a:t>Catalyst</a:t>
            </a:r>
            <a:r>
              <a:rPr b="0" spc="-70" dirty="0">
                <a:latin typeface="+mn-lt"/>
                <a:cs typeface="Times New Roman"/>
              </a:rPr>
              <a:t> </a:t>
            </a:r>
            <a:r>
              <a:rPr b="0" spc="200" dirty="0">
                <a:latin typeface="+mn-lt"/>
                <a:cs typeface="Times New Roman"/>
              </a:rPr>
              <a:t>Optimizer</a:t>
            </a:r>
            <a:r>
              <a:rPr b="0" spc="-70" dirty="0">
                <a:latin typeface="+mn-lt"/>
                <a:cs typeface="Times New Roman"/>
              </a:rPr>
              <a:t> </a:t>
            </a:r>
            <a:r>
              <a:rPr b="0" spc="-25" dirty="0">
                <a:latin typeface="+mn-lt"/>
                <a:cs typeface="Times New Roman"/>
              </a:rPr>
              <a:t>для </a:t>
            </a:r>
            <a:r>
              <a:rPr b="0" spc="-10" dirty="0">
                <a:latin typeface="+mn-lt"/>
                <a:cs typeface="Times New Roman"/>
              </a:rPr>
              <a:t>оптимизации</a:t>
            </a:r>
            <a:r>
              <a:rPr b="0" spc="-160" dirty="0">
                <a:latin typeface="+mn-lt"/>
                <a:cs typeface="Times New Roman"/>
              </a:rPr>
              <a:t> </a:t>
            </a:r>
            <a:r>
              <a:rPr b="0" spc="-10" dirty="0">
                <a:latin typeface="+mn-lt"/>
                <a:cs typeface="Times New Roman"/>
              </a:rPr>
              <a:t>операций.</a:t>
            </a:r>
          </a:p>
          <a:p>
            <a:pPr marL="12700" marR="5080" indent="255904">
              <a:lnSpc>
                <a:spcPct val="114399"/>
              </a:lnSpc>
              <a:spcBef>
                <a:spcPts val="1960"/>
              </a:spcBef>
              <a:buChar char="-"/>
              <a:tabLst>
                <a:tab pos="268605" algn="l"/>
              </a:tabLst>
            </a:pPr>
            <a:r>
              <a:rPr b="0" spc="-10" dirty="0">
                <a:latin typeface="+mn-lt"/>
                <a:cs typeface="Times New Roman"/>
              </a:rPr>
              <a:t>Лучше</a:t>
            </a:r>
            <a:r>
              <a:rPr b="0" spc="-150" dirty="0">
                <a:latin typeface="+mn-lt"/>
                <a:cs typeface="Times New Roman"/>
              </a:rPr>
              <a:t> </a:t>
            </a:r>
            <a:r>
              <a:rPr b="0" spc="-50" dirty="0">
                <a:latin typeface="+mn-lt"/>
                <a:cs typeface="Times New Roman"/>
              </a:rPr>
              <a:t>подходит</a:t>
            </a:r>
            <a:r>
              <a:rPr b="0" spc="-155" dirty="0">
                <a:latin typeface="+mn-lt"/>
                <a:cs typeface="Times New Roman"/>
              </a:rPr>
              <a:t> </a:t>
            </a:r>
            <a:r>
              <a:rPr b="0" dirty="0">
                <a:latin typeface="+mn-lt"/>
                <a:cs typeface="Times New Roman"/>
              </a:rPr>
              <a:t>для</a:t>
            </a:r>
            <a:r>
              <a:rPr b="0" spc="-150" dirty="0">
                <a:latin typeface="+mn-lt"/>
                <a:cs typeface="Times New Roman"/>
              </a:rPr>
              <a:t> </a:t>
            </a:r>
            <a:r>
              <a:rPr b="0" spc="-10" dirty="0">
                <a:latin typeface="+mn-lt"/>
                <a:cs typeface="Times New Roman"/>
              </a:rPr>
              <a:t>структурированных </a:t>
            </a:r>
            <a:r>
              <a:rPr b="0" dirty="0">
                <a:latin typeface="+mn-lt"/>
                <a:cs typeface="Times New Roman"/>
              </a:rPr>
              <a:t>данных</a:t>
            </a:r>
            <a:r>
              <a:rPr b="0" spc="-130" dirty="0">
                <a:latin typeface="+mn-lt"/>
                <a:cs typeface="Times New Roman"/>
              </a:rPr>
              <a:t> </a:t>
            </a:r>
            <a:r>
              <a:rPr b="0" dirty="0">
                <a:latin typeface="+mn-lt"/>
                <a:cs typeface="Times New Roman"/>
              </a:rPr>
              <a:t>и</a:t>
            </a:r>
            <a:r>
              <a:rPr b="0" spc="-130" dirty="0">
                <a:latin typeface="+mn-lt"/>
                <a:cs typeface="Times New Roman"/>
              </a:rPr>
              <a:t> </a:t>
            </a:r>
            <a:r>
              <a:rPr b="0" spc="65" dirty="0">
                <a:latin typeface="+mn-lt"/>
                <a:cs typeface="Times New Roman"/>
              </a:rPr>
              <a:t>SQL-</a:t>
            </a:r>
            <a:r>
              <a:rPr b="0" spc="-10" dirty="0">
                <a:latin typeface="+mn-lt"/>
                <a:cs typeface="Times New Roman"/>
              </a:rPr>
              <a:t>запросов.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9351" y="10020089"/>
            <a:ext cx="14185400" cy="8662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D0DFA770-BA54-3AE6-19A2-7347025139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5543" y="807149"/>
            <a:ext cx="114522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b="1" dirty="0">
                <a:latin typeface="+mn-lt"/>
              </a:rPr>
              <a:t>RDD vs DataFrame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5543" y="807149"/>
            <a:ext cx="114522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b="1" dirty="0">
                <a:latin typeface="+mn-lt"/>
              </a:rPr>
              <a:t>RDD vs DataFrame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2220603"/>
            <a:ext cx="16720819" cy="2289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spc="-20" dirty="0">
                <a:latin typeface="+mn-lt"/>
                <a:cs typeface="Times New Roman"/>
              </a:rPr>
              <a:t>Задача: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Имеются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данные</a:t>
            </a:r>
            <a:r>
              <a:rPr sz="3600" spc="-8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о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20" dirty="0">
                <a:latin typeface="+mn-lt"/>
                <a:cs typeface="Times New Roman"/>
              </a:rPr>
              <a:t>сотрудниках.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Нужно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отобрать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35" dirty="0">
                <a:latin typeface="+mn-lt"/>
                <a:cs typeface="Times New Roman"/>
              </a:rPr>
              <a:t>сотрудников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старше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spc="160" dirty="0">
                <a:latin typeface="+mn-lt"/>
                <a:cs typeface="Times New Roman"/>
              </a:rPr>
              <a:t>30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20" dirty="0">
                <a:latin typeface="+mn-lt"/>
                <a:cs typeface="Times New Roman"/>
              </a:rPr>
              <a:t>лет, </a:t>
            </a:r>
            <a:r>
              <a:rPr sz="3600" spc="-10" dirty="0">
                <a:latin typeface="+mn-lt"/>
                <a:cs typeface="Times New Roman"/>
              </a:rPr>
              <a:t>сгруппировать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по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отделу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и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посчитать,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spc="-45" dirty="0">
                <a:latin typeface="+mn-lt"/>
                <a:cs typeface="Times New Roman"/>
              </a:rPr>
              <a:t>сколько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spc="-35" dirty="0">
                <a:latin typeface="+mn-lt"/>
                <a:cs typeface="Times New Roman"/>
              </a:rPr>
              <a:t>сотрудников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каждом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отделе.</a:t>
            </a:r>
            <a:endParaRPr sz="3600" dirty="0">
              <a:latin typeface="+mn-lt"/>
              <a:cs typeface="Times New Roman"/>
            </a:endParaRPr>
          </a:p>
          <a:p>
            <a:pPr marL="882650" algn="ctr">
              <a:lnSpc>
                <a:spcPct val="100000"/>
              </a:lnSpc>
              <a:spcBef>
                <a:spcPts val="3465"/>
              </a:spcBef>
              <a:tabLst>
                <a:tab pos="8830945" algn="l"/>
              </a:tabLst>
            </a:pPr>
            <a:r>
              <a:rPr sz="3600" b="1" dirty="0">
                <a:latin typeface="+mn-lt"/>
                <a:cs typeface="Arial Black"/>
              </a:rPr>
              <a:t>RDD</a:t>
            </a:r>
            <a:r>
              <a:rPr sz="3600" dirty="0">
                <a:latin typeface="+mn-lt"/>
                <a:cs typeface="Arial Black"/>
              </a:rPr>
              <a:t>	</a:t>
            </a:r>
            <a:r>
              <a:rPr sz="3600" b="1" dirty="0">
                <a:latin typeface="+mn-lt"/>
                <a:cs typeface="Arial Black"/>
              </a:rPr>
              <a:t>DataFrame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031" y="5025206"/>
            <a:ext cx="8964920" cy="4395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1656" y="5023520"/>
            <a:ext cx="9562141" cy="33912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14420">
              <a:lnSpc>
                <a:spcPct val="100000"/>
              </a:lnSpc>
              <a:spcBef>
                <a:spcPts val="125"/>
              </a:spcBef>
            </a:pPr>
            <a:r>
              <a:rPr b="1" dirty="0">
                <a:latin typeface="+mn-lt"/>
              </a:rPr>
              <a:t>Spark 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161" y="2659490"/>
            <a:ext cx="17059910" cy="5492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b="1" dirty="0">
                <a:latin typeface="+mn-lt"/>
                <a:cs typeface="Arial"/>
              </a:rPr>
              <a:t>Spark SQL </a:t>
            </a:r>
            <a:r>
              <a:rPr sz="3600" dirty="0">
                <a:latin typeface="+mn-lt"/>
                <a:cs typeface="Times New Roman"/>
              </a:rPr>
              <a:t>– это модуль Spark для обработки структурированных данных с использованием </a:t>
            </a:r>
            <a:r>
              <a:rPr sz="3600" b="1" dirty="0">
                <a:latin typeface="+mn-lt"/>
                <a:cs typeface="Arial"/>
              </a:rPr>
              <a:t>SQL-</a:t>
            </a:r>
            <a:r>
              <a:rPr sz="3600" b="1" dirty="0">
                <a:latin typeface="+mn-lt"/>
                <a:cs typeface="Times New Roman"/>
              </a:rPr>
              <a:t>запросов </a:t>
            </a:r>
            <a:r>
              <a:rPr sz="3600" dirty="0">
                <a:latin typeface="+mn-lt"/>
                <a:cs typeface="Times New Roman"/>
              </a:rPr>
              <a:t>и </a:t>
            </a:r>
            <a:r>
              <a:rPr sz="3600" b="1" dirty="0">
                <a:latin typeface="+mn-lt"/>
                <a:cs typeface="Arial"/>
              </a:rPr>
              <a:t>DataFrame API</a:t>
            </a:r>
            <a:r>
              <a:rPr sz="3600" dirty="0">
                <a:latin typeface="+mn-lt"/>
                <a:cs typeface="Times New Roman"/>
              </a:rPr>
              <a:t>. Он позволяет работать с данными аналогично обычным таблицам в реляционных БД.</a:t>
            </a: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sz="3600" b="1" dirty="0">
                <a:latin typeface="+mn-lt"/>
                <a:cs typeface="Arial"/>
              </a:rPr>
              <a:t>Spark SQL </a:t>
            </a:r>
            <a:r>
              <a:rPr sz="3600" dirty="0">
                <a:latin typeface="+mn-lt"/>
                <a:cs typeface="Times New Roman"/>
              </a:rPr>
              <a:t>предоставляет:</a:t>
            </a:r>
          </a:p>
          <a:p>
            <a:pPr marL="808355" indent="-795655">
              <a:lnSpc>
                <a:spcPct val="100000"/>
              </a:lnSpc>
              <a:spcBef>
                <a:spcPts val="2675"/>
              </a:spcBef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Выполнение SQL-запросов напрямую.</a:t>
            </a: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DataFrame API, оптимизированный через Catalyst Optimizer.</a:t>
            </a:r>
          </a:p>
          <a:p>
            <a:pPr marL="808355" indent="-795655">
              <a:lnSpc>
                <a:spcPct val="100000"/>
              </a:lnSpc>
              <a:spcBef>
                <a:spcPts val="2675"/>
              </a:spcBef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Поддержку форматов данных: Parquet, CSV, JSON и других.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5357" y="777875"/>
            <a:ext cx="1311338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b="1" dirty="0">
                <a:latin typeface="+mn-lt"/>
              </a:rPr>
              <a:t>DataFrame API (</a:t>
            </a:r>
            <a:r>
              <a:rPr b="1" dirty="0">
                <a:latin typeface="+mn-lt"/>
                <a:cs typeface="Times New Roman"/>
              </a:rPr>
              <a:t>Трансформации</a:t>
            </a:r>
            <a:r>
              <a:rPr b="1" dirty="0">
                <a:latin typeface="+mn-lt"/>
              </a:rPr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4308" y="2179048"/>
            <a:ext cx="10021021" cy="89181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9234" y="777875"/>
            <a:ext cx="114522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90855" algn="ctr">
              <a:lnSpc>
                <a:spcPct val="100000"/>
              </a:lnSpc>
              <a:spcBef>
                <a:spcPts val="125"/>
              </a:spcBef>
            </a:pPr>
            <a:r>
              <a:rPr b="1" dirty="0">
                <a:latin typeface="+mn-lt"/>
              </a:rPr>
              <a:t>DataFrame API (</a:t>
            </a:r>
            <a:r>
              <a:rPr b="1" dirty="0">
                <a:latin typeface="+mn-lt"/>
                <a:cs typeface="Times New Roman"/>
              </a:rPr>
              <a:t>Действия</a:t>
            </a:r>
            <a:r>
              <a:rPr b="1" dirty="0">
                <a:latin typeface="+mn-lt"/>
              </a:rPr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689" y="2451813"/>
            <a:ext cx="13101316" cy="65862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5937" y="854075"/>
            <a:ext cx="114522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85265">
              <a:lnSpc>
                <a:spcPct val="100000"/>
              </a:lnSpc>
              <a:spcBef>
                <a:spcPts val="125"/>
              </a:spcBef>
            </a:pPr>
            <a:r>
              <a:rPr b="1" dirty="0">
                <a:latin typeface="+mn-lt"/>
                <a:cs typeface="Times New Roman"/>
              </a:rPr>
              <a:t>Практика </a:t>
            </a:r>
            <a:r>
              <a:rPr b="1" dirty="0">
                <a:latin typeface="+mn-lt"/>
              </a:rPr>
              <a:t>DataFrame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34388" y="3162982"/>
            <a:ext cx="13087350" cy="21970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90"/>
              </a:spcBef>
            </a:pPr>
            <a:r>
              <a:rPr dirty="0">
                <a:latin typeface="+mn-lt"/>
              </a:rPr>
              <a:t>Репозиторий</a:t>
            </a:r>
            <a:r>
              <a:rPr spc="-90" dirty="0">
                <a:latin typeface="+mn-lt"/>
              </a:rPr>
              <a:t> </a:t>
            </a:r>
            <a:r>
              <a:rPr dirty="0">
                <a:latin typeface="+mn-lt"/>
              </a:rPr>
              <a:t>на</a:t>
            </a:r>
            <a:r>
              <a:rPr spc="-80" dirty="0">
                <a:latin typeface="+mn-lt"/>
              </a:rPr>
              <a:t> </a:t>
            </a:r>
            <a:r>
              <a:rPr spc="225" dirty="0">
                <a:latin typeface="+mn-lt"/>
              </a:rPr>
              <a:t>GitHub</a:t>
            </a:r>
            <a:r>
              <a:rPr spc="-85" dirty="0">
                <a:latin typeface="+mn-lt"/>
              </a:rPr>
              <a:t> </a:t>
            </a:r>
            <a:r>
              <a:rPr dirty="0">
                <a:latin typeface="+mn-lt"/>
              </a:rPr>
              <a:t>с</a:t>
            </a:r>
            <a:r>
              <a:rPr spc="-80" dirty="0">
                <a:latin typeface="+mn-lt"/>
              </a:rPr>
              <a:t> </a:t>
            </a:r>
            <a:r>
              <a:rPr spc="265" dirty="0">
                <a:latin typeface="+mn-lt"/>
              </a:rPr>
              <a:t>python-</a:t>
            </a:r>
            <a:r>
              <a:rPr spc="-45" dirty="0">
                <a:latin typeface="+mn-lt"/>
              </a:rPr>
              <a:t>ноутбуком</a:t>
            </a:r>
            <a:r>
              <a:rPr spc="-80" dirty="0">
                <a:latin typeface="+mn-lt"/>
              </a:rPr>
              <a:t> </a:t>
            </a:r>
            <a:r>
              <a:rPr dirty="0">
                <a:latin typeface="+mn-lt"/>
              </a:rPr>
              <a:t>и</a:t>
            </a:r>
            <a:r>
              <a:rPr spc="-85" dirty="0">
                <a:latin typeface="+mn-lt"/>
              </a:rPr>
              <a:t> </a:t>
            </a:r>
            <a:r>
              <a:rPr dirty="0">
                <a:latin typeface="+mn-lt"/>
              </a:rPr>
              <a:t>файлом</a:t>
            </a:r>
            <a:r>
              <a:rPr spc="-80" dirty="0">
                <a:latin typeface="+mn-lt"/>
              </a:rPr>
              <a:t> </a:t>
            </a:r>
            <a:r>
              <a:rPr dirty="0">
                <a:latin typeface="+mn-lt"/>
              </a:rPr>
              <a:t>с</a:t>
            </a:r>
            <a:r>
              <a:rPr spc="-80" dirty="0">
                <a:latin typeface="+mn-lt"/>
              </a:rPr>
              <a:t> </a:t>
            </a:r>
            <a:r>
              <a:rPr spc="-10" dirty="0">
                <a:latin typeface="+mn-lt"/>
              </a:rPr>
              <a:t>данными </a:t>
            </a:r>
            <a:r>
              <a:rPr spc="-20" dirty="0">
                <a:latin typeface="+mn-lt"/>
              </a:rPr>
              <a:t>Рекомендуется</a:t>
            </a:r>
            <a:r>
              <a:rPr spc="-65" dirty="0">
                <a:latin typeface="+mn-lt"/>
              </a:rPr>
              <a:t> </a:t>
            </a:r>
            <a:r>
              <a:rPr dirty="0">
                <a:latin typeface="+mn-lt"/>
              </a:rPr>
              <a:t>его</a:t>
            </a:r>
            <a:r>
              <a:rPr spc="-60" dirty="0">
                <a:latin typeface="+mn-lt"/>
              </a:rPr>
              <a:t> </a:t>
            </a:r>
            <a:r>
              <a:rPr dirty="0">
                <a:latin typeface="+mn-lt"/>
              </a:rPr>
              <a:t>загрузить</a:t>
            </a:r>
            <a:r>
              <a:rPr spc="-60" dirty="0">
                <a:latin typeface="+mn-lt"/>
              </a:rPr>
              <a:t> </a:t>
            </a:r>
            <a:r>
              <a:rPr dirty="0">
                <a:latin typeface="+mn-lt"/>
              </a:rPr>
              <a:t>в</a:t>
            </a:r>
            <a:r>
              <a:rPr spc="-60" dirty="0">
                <a:latin typeface="+mn-lt"/>
              </a:rPr>
              <a:t> </a:t>
            </a:r>
            <a:r>
              <a:rPr spc="254" dirty="0">
                <a:latin typeface="+mn-lt"/>
              </a:rPr>
              <a:t>Google</a:t>
            </a:r>
            <a:r>
              <a:rPr spc="-65" dirty="0">
                <a:latin typeface="+mn-lt"/>
              </a:rPr>
              <a:t> </a:t>
            </a:r>
            <a:r>
              <a:rPr spc="235" dirty="0">
                <a:latin typeface="+mn-lt"/>
              </a:rPr>
              <a:t>Collab</a:t>
            </a:r>
            <a:r>
              <a:rPr spc="-65" dirty="0">
                <a:latin typeface="+mn-lt"/>
              </a:rPr>
              <a:t> </a:t>
            </a:r>
            <a:r>
              <a:rPr dirty="0">
                <a:latin typeface="+mn-lt"/>
              </a:rPr>
              <a:t>(вместе</a:t>
            </a:r>
            <a:r>
              <a:rPr spc="-60" dirty="0">
                <a:latin typeface="+mn-lt"/>
              </a:rPr>
              <a:t> </a:t>
            </a:r>
            <a:r>
              <a:rPr dirty="0">
                <a:latin typeface="+mn-lt"/>
              </a:rPr>
              <a:t>с</a:t>
            </a:r>
            <a:r>
              <a:rPr spc="-65" dirty="0">
                <a:latin typeface="+mn-lt"/>
              </a:rPr>
              <a:t> </a:t>
            </a:r>
            <a:r>
              <a:rPr spc="-10" dirty="0" err="1">
                <a:latin typeface="+mn-lt"/>
              </a:rPr>
              <a:t>дан</a:t>
            </a:r>
            <a:r>
              <a:rPr lang="ru-RU" spc="-10" dirty="0">
                <a:latin typeface="+mn-lt"/>
              </a:rPr>
              <a:t>н</a:t>
            </a:r>
            <a:r>
              <a:rPr spc="-10" dirty="0" err="1">
                <a:latin typeface="+mn-lt"/>
              </a:rPr>
              <a:t>ыми</a:t>
            </a:r>
            <a:r>
              <a:rPr spc="-10" dirty="0">
                <a:latin typeface="+mn-lt"/>
              </a:rPr>
              <a:t>)</a:t>
            </a:r>
            <a:endParaRPr spc="-20" dirty="0">
              <a:latin typeface="+mn-lt"/>
            </a:endParaRP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lang="en-US" dirty="0">
                <a:latin typeface="+mn-lt"/>
              </a:rPr>
              <a:t>https://github.com/tolokonov/hse_pyspark</a:t>
            </a:r>
            <a:endParaRPr u="sng" spc="150" dirty="0">
              <a:uFill>
                <a:solidFill>
                  <a:srgbClr val="000000"/>
                </a:solidFill>
              </a:uFill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7237" y="4546812"/>
            <a:ext cx="84296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b="1" spc="-80" dirty="0">
                <a:latin typeface="+mn-lt"/>
                <a:cs typeface="Times New Roman"/>
              </a:rPr>
              <a:t>Спасибо</a:t>
            </a:r>
            <a:r>
              <a:rPr b="1" spc="-700" dirty="0">
                <a:latin typeface="+mn-lt"/>
                <a:cs typeface="Times New Roman"/>
              </a:rPr>
              <a:t> </a:t>
            </a:r>
            <a:r>
              <a:rPr b="1" spc="-35" dirty="0">
                <a:latin typeface="+mn-lt"/>
                <a:cs typeface="Times New Roman"/>
              </a:rPr>
              <a:t>за</a:t>
            </a:r>
            <a:r>
              <a:rPr b="1" spc="-680" dirty="0">
                <a:latin typeface="+mn-lt"/>
                <a:cs typeface="Times New Roman"/>
              </a:rPr>
              <a:t> </a:t>
            </a:r>
            <a:r>
              <a:rPr b="1" spc="-110" dirty="0">
                <a:latin typeface="+mn-lt"/>
                <a:cs typeface="Times New Roman"/>
              </a:rPr>
              <a:t>внимание</a:t>
            </a:r>
            <a:r>
              <a:rPr spc="-110" dirty="0">
                <a:latin typeface="+mn-lt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598</Words>
  <Application>Microsoft Office PowerPoint</Application>
  <PresentationFormat>Произвольный</PresentationFormat>
  <Paragraphs>91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Arial MT</vt:lpstr>
      <vt:lpstr>Calibri (Основной текст)</vt:lpstr>
      <vt:lpstr>Times New Roman</vt:lpstr>
      <vt:lpstr>Office Theme</vt:lpstr>
      <vt:lpstr>Среда Spark</vt:lpstr>
      <vt:lpstr>Презентация PowerPoint</vt:lpstr>
      <vt:lpstr>Apache Spark</vt:lpstr>
      <vt:lpstr>Apache Spark</vt:lpstr>
      <vt:lpstr>Конфигурационные настройки</vt:lpstr>
      <vt:lpstr>Driver &amp; Executors</vt:lpstr>
      <vt:lpstr>Виды операторов в Spark</vt:lpstr>
      <vt:lpstr>RDD</vt:lpstr>
      <vt:lpstr>Презентация PowerPoint</vt:lpstr>
      <vt:lpstr>RDD vs DataFrame</vt:lpstr>
      <vt:lpstr>RDD vs DataFrame</vt:lpstr>
      <vt:lpstr>Spark SQL</vt:lpstr>
      <vt:lpstr>DataFrame API (Трансформации)</vt:lpstr>
      <vt:lpstr>DataFrame API (Действия)</vt:lpstr>
      <vt:lpstr>Практика DataFrame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Presentation3</dc:title>
  <cp:lastModifiedBy>Илья Толоконов</cp:lastModifiedBy>
  <cp:revision>2</cp:revision>
  <dcterms:created xsi:type="dcterms:W3CDTF">2025-10-05T12:08:21Z</dcterms:created>
  <dcterms:modified xsi:type="dcterms:W3CDTF">2026-03-22T08:31:25Z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2025-03-10T00:00:00Z</vt:filetime>
  </property>
  <property fmtid="{D5CDD505-2E9C-101B-9397-08002B2CF9AE}" pid="3" name="Creator">
    <vt:lpwstr>Keynote</vt:lpwstr>
  </property>
  <property fmtid="{D5CDD505-2E9C-101B-9397-08002B2CF9AE}" pid="4" name="LastSaved">
    <vt:filetime>2025-10-05T00:00:00Z</vt:filetime>
  </property>
  <property fmtid="{D5CDD505-2E9C-101B-9397-08002B2CF9AE}" pid="5" name="Producer">
    <vt:lpwstr>macOS Версия 15.3.1 (Выпуск 24D70) Quartz PDFContext</vt:lpwstr>
  </property>
</Properties>
</file>