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77" y="1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лья Толоконов" userId="5d8833687a0f43b3" providerId="LiveId" clId="{5569BF33-C92B-4D40-A52A-48CBEFD8D4CF}"/>
    <pc:docChg chg="modSld">
      <pc:chgData name="Илья Толоконов" userId="5d8833687a0f43b3" providerId="LiveId" clId="{5569BF33-C92B-4D40-A52A-48CBEFD8D4CF}" dt="2026-05-11T09:25:01.791" v="31"/>
      <pc:docMkLst>
        <pc:docMk/>
      </pc:docMkLst>
      <pc:sldChg chg="setBg">
        <pc:chgData name="Илья Толоконов" userId="5d8833687a0f43b3" providerId="LiveId" clId="{5569BF33-C92B-4D40-A52A-48CBEFD8D4CF}" dt="2026-05-11T09:22:28.165" v="0"/>
        <pc:sldMkLst>
          <pc:docMk/>
          <pc:sldMk cId="0" sldId="257"/>
        </pc:sldMkLst>
      </pc:sldChg>
      <pc:sldChg chg="setBg">
        <pc:chgData name="Илья Толоконов" userId="5d8833687a0f43b3" providerId="LiveId" clId="{5569BF33-C92B-4D40-A52A-48CBEFD8D4CF}" dt="2026-05-11T09:22:32.953" v="1"/>
        <pc:sldMkLst>
          <pc:docMk/>
          <pc:sldMk cId="0" sldId="258"/>
        </pc:sldMkLst>
      </pc:sldChg>
      <pc:sldChg chg="setBg">
        <pc:chgData name="Илья Толоконов" userId="5d8833687a0f43b3" providerId="LiveId" clId="{5569BF33-C92B-4D40-A52A-48CBEFD8D4CF}" dt="2026-05-11T09:22:38.117" v="2"/>
        <pc:sldMkLst>
          <pc:docMk/>
          <pc:sldMk cId="0" sldId="259"/>
        </pc:sldMkLst>
      </pc:sldChg>
      <pc:sldChg chg="setBg">
        <pc:chgData name="Илья Толоконов" userId="5d8833687a0f43b3" providerId="LiveId" clId="{5569BF33-C92B-4D40-A52A-48CBEFD8D4CF}" dt="2026-05-11T09:22:42.533" v="3"/>
        <pc:sldMkLst>
          <pc:docMk/>
          <pc:sldMk cId="0" sldId="260"/>
        </pc:sldMkLst>
      </pc:sldChg>
      <pc:sldChg chg="setBg">
        <pc:chgData name="Илья Толоконов" userId="5d8833687a0f43b3" providerId="LiveId" clId="{5569BF33-C92B-4D40-A52A-48CBEFD8D4CF}" dt="2026-05-11T09:22:47.883" v="4"/>
        <pc:sldMkLst>
          <pc:docMk/>
          <pc:sldMk cId="0" sldId="261"/>
        </pc:sldMkLst>
      </pc:sldChg>
      <pc:sldChg chg="setBg">
        <pc:chgData name="Илья Толоконов" userId="5d8833687a0f43b3" providerId="LiveId" clId="{5569BF33-C92B-4D40-A52A-48CBEFD8D4CF}" dt="2026-05-11T09:22:52.543" v="5"/>
        <pc:sldMkLst>
          <pc:docMk/>
          <pc:sldMk cId="0" sldId="262"/>
        </pc:sldMkLst>
      </pc:sldChg>
      <pc:sldChg chg="setBg">
        <pc:chgData name="Илья Толоконов" userId="5d8833687a0f43b3" providerId="LiveId" clId="{5569BF33-C92B-4D40-A52A-48CBEFD8D4CF}" dt="2026-05-11T09:22:56.961" v="6"/>
        <pc:sldMkLst>
          <pc:docMk/>
          <pc:sldMk cId="0" sldId="263"/>
        </pc:sldMkLst>
      </pc:sldChg>
      <pc:sldChg chg="setBg">
        <pc:chgData name="Илья Толоконов" userId="5d8833687a0f43b3" providerId="LiveId" clId="{5569BF33-C92B-4D40-A52A-48CBEFD8D4CF}" dt="2026-05-11T09:23:02.841" v="7"/>
        <pc:sldMkLst>
          <pc:docMk/>
          <pc:sldMk cId="0" sldId="264"/>
        </pc:sldMkLst>
      </pc:sldChg>
      <pc:sldChg chg="setBg">
        <pc:chgData name="Илья Толоконов" userId="5d8833687a0f43b3" providerId="LiveId" clId="{5569BF33-C92B-4D40-A52A-48CBEFD8D4CF}" dt="2026-05-11T09:23:20.233" v="10"/>
        <pc:sldMkLst>
          <pc:docMk/>
          <pc:sldMk cId="0" sldId="265"/>
        </pc:sldMkLst>
      </pc:sldChg>
      <pc:sldChg chg="setBg">
        <pc:chgData name="Илья Толоконов" userId="5d8833687a0f43b3" providerId="LiveId" clId="{5569BF33-C92B-4D40-A52A-48CBEFD8D4CF}" dt="2026-05-11T09:23:31.146" v="11"/>
        <pc:sldMkLst>
          <pc:docMk/>
          <pc:sldMk cId="0" sldId="266"/>
        </pc:sldMkLst>
      </pc:sldChg>
      <pc:sldChg chg="setBg">
        <pc:chgData name="Илья Толоконов" userId="5d8833687a0f43b3" providerId="LiveId" clId="{5569BF33-C92B-4D40-A52A-48CBEFD8D4CF}" dt="2026-05-11T09:23:35.953" v="12"/>
        <pc:sldMkLst>
          <pc:docMk/>
          <pc:sldMk cId="0" sldId="267"/>
        </pc:sldMkLst>
      </pc:sldChg>
      <pc:sldChg chg="setBg">
        <pc:chgData name="Илья Толоконов" userId="5d8833687a0f43b3" providerId="LiveId" clId="{5569BF33-C92B-4D40-A52A-48CBEFD8D4CF}" dt="2026-05-11T09:23:39.776" v="13"/>
        <pc:sldMkLst>
          <pc:docMk/>
          <pc:sldMk cId="0" sldId="268"/>
        </pc:sldMkLst>
      </pc:sldChg>
      <pc:sldChg chg="setBg">
        <pc:chgData name="Илья Толоконов" userId="5d8833687a0f43b3" providerId="LiveId" clId="{5569BF33-C92B-4D40-A52A-48CBEFD8D4CF}" dt="2026-05-11T09:23:45.867" v="14"/>
        <pc:sldMkLst>
          <pc:docMk/>
          <pc:sldMk cId="0" sldId="269"/>
        </pc:sldMkLst>
      </pc:sldChg>
      <pc:sldChg chg="setBg">
        <pc:chgData name="Илья Толоконов" userId="5d8833687a0f43b3" providerId="LiveId" clId="{5569BF33-C92B-4D40-A52A-48CBEFD8D4CF}" dt="2026-05-11T09:23:54.345" v="17"/>
        <pc:sldMkLst>
          <pc:docMk/>
          <pc:sldMk cId="0" sldId="270"/>
        </pc:sldMkLst>
      </pc:sldChg>
      <pc:sldChg chg="setBg">
        <pc:chgData name="Илья Толоконов" userId="5d8833687a0f43b3" providerId="LiveId" clId="{5569BF33-C92B-4D40-A52A-48CBEFD8D4CF}" dt="2026-05-11T09:24:00.256" v="18"/>
        <pc:sldMkLst>
          <pc:docMk/>
          <pc:sldMk cId="0" sldId="271"/>
        </pc:sldMkLst>
      </pc:sldChg>
      <pc:sldChg chg="setBg">
        <pc:chgData name="Илья Толоконов" userId="5d8833687a0f43b3" providerId="LiveId" clId="{5569BF33-C92B-4D40-A52A-48CBEFD8D4CF}" dt="2026-05-11T09:24:06.469" v="19"/>
        <pc:sldMkLst>
          <pc:docMk/>
          <pc:sldMk cId="0" sldId="272"/>
        </pc:sldMkLst>
      </pc:sldChg>
      <pc:sldChg chg="setBg">
        <pc:chgData name="Илья Толоконов" userId="5d8833687a0f43b3" providerId="LiveId" clId="{5569BF33-C92B-4D40-A52A-48CBEFD8D4CF}" dt="2026-05-11T09:24:11.027" v="20"/>
        <pc:sldMkLst>
          <pc:docMk/>
          <pc:sldMk cId="0" sldId="273"/>
        </pc:sldMkLst>
      </pc:sldChg>
      <pc:sldChg chg="setBg">
        <pc:chgData name="Илья Толоконов" userId="5d8833687a0f43b3" providerId="LiveId" clId="{5569BF33-C92B-4D40-A52A-48CBEFD8D4CF}" dt="2026-05-11T09:24:15.761" v="21"/>
        <pc:sldMkLst>
          <pc:docMk/>
          <pc:sldMk cId="0" sldId="274"/>
        </pc:sldMkLst>
      </pc:sldChg>
      <pc:sldChg chg="setBg">
        <pc:chgData name="Илья Толоконов" userId="5d8833687a0f43b3" providerId="LiveId" clId="{5569BF33-C92B-4D40-A52A-48CBEFD8D4CF}" dt="2026-05-11T09:24:20.318" v="22"/>
        <pc:sldMkLst>
          <pc:docMk/>
          <pc:sldMk cId="0" sldId="275"/>
        </pc:sldMkLst>
      </pc:sldChg>
      <pc:sldChg chg="setBg">
        <pc:chgData name="Илья Толоконов" userId="5d8833687a0f43b3" providerId="LiveId" clId="{5569BF33-C92B-4D40-A52A-48CBEFD8D4CF}" dt="2026-05-11T09:24:25.255" v="23"/>
        <pc:sldMkLst>
          <pc:docMk/>
          <pc:sldMk cId="0" sldId="276"/>
        </pc:sldMkLst>
      </pc:sldChg>
      <pc:sldChg chg="setBg">
        <pc:chgData name="Илья Толоконов" userId="5d8833687a0f43b3" providerId="LiveId" clId="{5569BF33-C92B-4D40-A52A-48CBEFD8D4CF}" dt="2026-05-11T09:24:31.039" v="24"/>
        <pc:sldMkLst>
          <pc:docMk/>
          <pc:sldMk cId="0" sldId="277"/>
        </pc:sldMkLst>
      </pc:sldChg>
      <pc:sldChg chg="setBg">
        <pc:chgData name="Илья Толоконов" userId="5d8833687a0f43b3" providerId="LiveId" clId="{5569BF33-C92B-4D40-A52A-48CBEFD8D4CF}" dt="2026-05-11T09:24:35.387" v="25"/>
        <pc:sldMkLst>
          <pc:docMk/>
          <pc:sldMk cId="0" sldId="278"/>
        </pc:sldMkLst>
      </pc:sldChg>
      <pc:sldChg chg="setBg">
        <pc:chgData name="Илья Толоконов" userId="5d8833687a0f43b3" providerId="LiveId" clId="{5569BF33-C92B-4D40-A52A-48CBEFD8D4CF}" dt="2026-05-11T09:24:39.933" v="26"/>
        <pc:sldMkLst>
          <pc:docMk/>
          <pc:sldMk cId="0" sldId="279"/>
        </pc:sldMkLst>
      </pc:sldChg>
      <pc:sldChg chg="setBg">
        <pc:chgData name="Илья Толоконов" userId="5d8833687a0f43b3" providerId="LiveId" clId="{5569BF33-C92B-4D40-A52A-48CBEFD8D4CF}" dt="2026-05-11T09:24:44.399" v="27"/>
        <pc:sldMkLst>
          <pc:docMk/>
          <pc:sldMk cId="0" sldId="280"/>
        </pc:sldMkLst>
      </pc:sldChg>
      <pc:sldChg chg="setBg">
        <pc:chgData name="Илья Толоконов" userId="5d8833687a0f43b3" providerId="LiveId" clId="{5569BF33-C92B-4D40-A52A-48CBEFD8D4CF}" dt="2026-05-11T09:24:48.317" v="28"/>
        <pc:sldMkLst>
          <pc:docMk/>
          <pc:sldMk cId="0" sldId="281"/>
        </pc:sldMkLst>
      </pc:sldChg>
      <pc:sldChg chg="setBg">
        <pc:chgData name="Илья Толоконов" userId="5d8833687a0f43b3" providerId="LiveId" clId="{5569BF33-C92B-4D40-A52A-48CBEFD8D4CF}" dt="2026-05-11T09:24:52.427" v="29"/>
        <pc:sldMkLst>
          <pc:docMk/>
          <pc:sldMk cId="0" sldId="282"/>
        </pc:sldMkLst>
      </pc:sldChg>
      <pc:sldChg chg="setBg">
        <pc:chgData name="Илья Толоконов" userId="5d8833687a0f43b3" providerId="LiveId" clId="{5569BF33-C92B-4D40-A52A-48CBEFD8D4CF}" dt="2026-05-11T09:24:57.129" v="30"/>
        <pc:sldMkLst>
          <pc:docMk/>
          <pc:sldMk cId="0" sldId="283"/>
        </pc:sldMkLst>
      </pc:sldChg>
      <pc:sldChg chg="setBg">
        <pc:chgData name="Илья Толоконов" userId="5d8833687a0f43b3" providerId="LiveId" clId="{5569BF33-C92B-4D40-A52A-48CBEFD8D4CF}" dt="2026-05-11T09:25:01.791" v="31"/>
        <pc:sldMkLst>
          <pc:docMk/>
          <pc:sldMk cId="0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3497E-DA1D-4C0B-BF60-4A28D6521B7E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32AF0-95D0-43BF-B342-5DC197C29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510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32AF0-95D0-43BF-B342-5DC197C29C8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573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90455" y="845493"/>
            <a:ext cx="10915015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614948" y="6243375"/>
            <a:ext cx="8870315" cy="171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6214" y="845493"/>
            <a:ext cx="15411670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3161" y="2433290"/>
            <a:ext cx="17956530" cy="70930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30124" y="10117176"/>
            <a:ext cx="3832297" cy="39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ru-RU" sz="2450" b="1" dirty="0">
                <a:latin typeface="Arial"/>
                <a:cs typeface="Arial"/>
              </a:rPr>
              <a:t>Толоконов Илья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68793" y="2530475"/>
            <a:ext cx="15554960" cy="307213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sz="9800" b="1" spc="-114" dirty="0">
                <a:latin typeface="Times New Roman"/>
                <a:cs typeface="Times New Roman"/>
              </a:rPr>
              <a:t>Промышленное</a:t>
            </a:r>
            <a:r>
              <a:rPr sz="9800" b="1" spc="-950" dirty="0">
                <a:latin typeface="Times New Roman"/>
                <a:cs typeface="Times New Roman"/>
              </a:rPr>
              <a:t> </a:t>
            </a:r>
            <a:r>
              <a:rPr sz="9800" b="1" spc="-140" dirty="0">
                <a:latin typeface="Times New Roman"/>
                <a:cs typeface="Times New Roman"/>
              </a:rPr>
              <a:t>обучение</a:t>
            </a:r>
            <a:r>
              <a:rPr sz="9800" b="1" spc="-955" dirty="0">
                <a:latin typeface="Times New Roman"/>
                <a:cs typeface="Times New Roman"/>
              </a:rPr>
              <a:t> </a:t>
            </a:r>
            <a:r>
              <a:rPr sz="9800" b="1" spc="-25" dirty="0">
                <a:latin typeface="Times New Roman"/>
                <a:cs typeface="Times New Roman"/>
              </a:rPr>
              <a:t>на</a:t>
            </a:r>
            <a:endParaRPr sz="9800" dirty="0">
              <a:latin typeface="Times New Roman"/>
              <a:cs typeface="Times New Roman"/>
            </a:endParaRPr>
          </a:p>
          <a:p>
            <a:pPr marL="11430" algn="ctr">
              <a:lnSpc>
                <a:spcPct val="100000"/>
              </a:lnSpc>
              <a:spcBef>
                <a:spcPts val="450"/>
              </a:spcBef>
            </a:pPr>
            <a:r>
              <a:rPr sz="9800" b="1" spc="40" dirty="0">
                <a:latin typeface="Times New Roman"/>
                <a:cs typeface="Times New Roman"/>
              </a:rPr>
              <a:t>Spark</a:t>
            </a:r>
            <a:endParaRPr sz="9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14948" y="5789516"/>
            <a:ext cx="8870315" cy="17138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4825" marR="5080" indent="-3032760">
              <a:lnSpc>
                <a:spcPct val="111900"/>
              </a:lnSpc>
              <a:spcBef>
                <a:spcPts val="95"/>
              </a:spcBef>
            </a:pPr>
            <a:r>
              <a:rPr sz="4950" b="1" spc="-60" dirty="0">
                <a:latin typeface="Arial"/>
                <a:cs typeface="Arial"/>
              </a:rPr>
              <a:t>Рекомендательные</a:t>
            </a:r>
            <a:r>
              <a:rPr sz="4950" b="1" spc="-229" dirty="0">
                <a:latin typeface="Arial"/>
                <a:cs typeface="Arial"/>
              </a:rPr>
              <a:t> </a:t>
            </a:r>
            <a:r>
              <a:rPr sz="4950" b="1" spc="-55" dirty="0">
                <a:latin typeface="Arial"/>
                <a:cs typeface="Arial"/>
              </a:rPr>
              <a:t>системы </a:t>
            </a:r>
            <a:r>
              <a:rPr sz="4950" b="1" spc="60" dirty="0">
                <a:latin typeface="Arial"/>
                <a:cs typeface="Arial"/>
              </a:rPr>
              <a:t>Лекция</a:t>
            </a:r>
            <a:r>
              <a:rPr sz="4950" b="1" spc="-375" dirty="0">
                <a:latin typeface="Arial"/>
                <a:cs typeface="Arial"/>
              </a:rPr>
              <a:t> </a:t>
            </a:r>
            <a:r>
              <a:rPr sz="4950" b="1" spc="-50" dirty="0">
                <a:latin typeface="Arial"/>
                <a:cs typeface="Arial"/>
              </a:rPr>
              <a:t>7</a:t>
            </a:r>
            <a:endParaRPr sz="4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Рекомендательные</a:t>
            </a:r>
            <a:r>
              <a:rPr spc="-615" dirty="0"/>
              <a:t> </a:t>
            </a:r>
            <a:r>
              <a:rPr spc="-10" dirty="0"/>
              <a:t>системы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388" y="3340987"/>
            <a:ext cx="17598390" cy="1938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sz="3600" spc="-25" dirty="0">
                <a:latin typeface="Times New Roman"/>
                <a:cs typeface="Times New Roman"/>
              </a:rPr>
              <a:t>Рекомендательные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системы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—</a:t>
            </a:r>
            <a:r>
              <a:rPr sz="3600" spc="-7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это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механизмы</a:t>
            </a:r>
            <a:r>
              <a:rPr sz="3600" spc="-10" dirty="0">
                <a:latin typeface="Georgia"/>
                <a:cs typeface="Georgia"/>
              </a:rPr>
              <a:t>,</a:t>
            </a:r>
            <a:r>
              <a:rPr sz="3600" spc="-75" dirty="0">
                <a:latin typeface="Georgia"/>
                <a:cs typeface="Georgia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которые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анализируют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поведение пользователей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Georgia"/>
                <a:cs typeface="Georgia"/>
              </a:rPr>
              <a:t>(</a:t>
            </a:r>
            <a:r>
              <a:rPr sz="3600" spc="-10" dirty="0">
                <a:latin typeface="Times New Roman"/>
                <a:cs typeface="Times New Roman"/>
              </a:rPr>
              <a:t>например</a:t>
            </a:r>
            <a:r>
              <a:rPr sz="3600" spc="-10" dirty="0">
                <a:latin typeface="Georgia"/>
                <a:cs typeface="Georgia"/>
              </a:rPr>
              <a:t>,</a:t>
            </a:r>
            <a:r>
              <a:rPr sz="3600" spc="-9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покупки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9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оценки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9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просмотры</a:t>
            </a:r>
            <a:r>
              <a:rPr sz="3600" dirty="0">
                <a:latin typeface="Georgia"/>
                <a:cs typeface="Georgia"/>
              </a:rPr>
              <a:t>)</a:t>
            </a:r>
            <a:r>
              <a:rPr sz="3600" spc="-9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и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предсказывают</a:t>
            </a:r>
            <a:r>
              <a:rPr sz="3600" spc="-10" dirty="0">
                <a:latin typeface="Georgia"/>
                <a:cs typeface="Georgia"/>
              </a:rPr>
              <a:t>,</a:t>
            </a:r>
            <a:r>
              <a:rPr sz="3600" spc="-9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что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еще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может </a:t>
            </a:r>
            <a:r>
              <a:rPr sz="3600" dirty="0">
                <a:latin typeface="Times New Roman"/>
                <a:cs typeface="Times New Roman"/>
              </a:rPr>
              <a:t>заинтересовать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пользователя</a:t>
            </a:r>
            <a:r>
              <a:rPr sz="3600" spc="-10" dirty="0">
                <a:latin typeface="Georgia"/>
                <a:cs typeface="Georgia"/>
              </a:rPr>
              <a:t>.</a:t>
            </a:r>
            <a:endParaRPr sz="3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684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Задачи</a:t>
            </a:r>
            <a:r>
              <a:rPr spc="-605" dirty="0"/>
              <a:t> </a:t>
            </a:r>
            <a:r>
              <a:rPr spc="-100" dirty="0"/>
              <a:t>рекомендательных</a:t>
            </a:r>
            <a:r>
              <a:rPr spc="-630" dirty="0"/>
              <a:t> </a:t>
            </a:r>
            <a:r>
              <a:rPr spc="-10" dirty="0"/>
              <a:t>систем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388" y="3425519"/>
            <a:ext cx="9393555" cy="388175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08355" indent="-795655">
              <a:lnSpc>
                <a:spcPct val="100000"/>
              </a:lnSpc>
              <a:spcBef>
                <a:spcPts val="125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dirty="0">
                <a:latin typeface="Times New Roman"/>
                <a:cs typeface="Times New Roman"/>
              </a:rPr>
              <a:t>Предмет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рекомендации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12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что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рекомендуем</a:t>
            </a:r>
            <a:r>
              <a:rPr sz="3600" spc="-10" dirty="0">
                <a:latin typeface="Georgia"/>
                <a:cs typeface="Georgia"/>
              </a:rPr>
              <a:t>?</a:t>
            </a:r>
            <a:endParaRPr sz="3600">
              <a:latin typeface="Georgia"/>
              <a:cs typeface="Georgia"/>
            </a:endParaRPr>
          </a:p>
          <a:p>
            <a:pPr marL="808355" indent="-795655">
              <a:lnSpc>
                <a:spcPct val="100000"/>
              </a:lnSpc>
              <a:spcBef>
                <a:spcPts val="2680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dirty="0">
                <a:latin typeface="Times New Roman"/>
                <a:cs typeface="Times New Roman"/>
              </a:rPr>
              <a:t>Цель</a:t>
            </a:r>
            <a:r>
              <a:rPr sz="3600" spc="-16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рекомендации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13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зачем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рекомендуем</a:t>
            </a:r>
            <a:r>
              <a:rPr sz="3600" spc="-10" dirty="0">
                <a:latin typeface="Georgia"/>
                <a:cs typeface="Georgia"/>
              </a:rPr>
              <a:t>?</a:t>
            </a:r>
            <a:endParaRPr sz="3600">
              <a:latin typeface="Georgia"/>
              <a:cs typeface="Georgia"/>
            </a:endParaRPr>
          </a:p>
          <a:p>
            <a:pPr marL="808355" marR="199390" indent="-796290">
              <a:lnSpc>
                <a:spcPct val="116199"/>
              </a:lnSpc>
              <a:spcBef>
                <a:spcPts val="1975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spc="-20" dirty="0">
                <a:latin typeface="Times New Roman"/>
                <a:cs typeface="Times New Roman"/>
              </a:rPr>
              <a:t>Контекст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рекомендации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14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что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пользователь </a:t>
            </a:r>
            <a:r>
              <a:rPr sz="3600" dirty="0">
                <a:latin typeface="Times New Roman"/>
                <a:cs typeface="Times New Roman"/>
              </a:rPr>
              <a:t>делает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в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этот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момент</a:t>
            </a:r>
            <a:r>
              <a:rPr sz="3600" spc="-10" dirty="0">
                <a:latin typeface="Georgia"/>
                <a:cs typeface="Georgia"/>
              </a:rPr>
              <a:t>?</a:t>
            </a:r>
            <a:endParaRPr sz="3600">
              <a:latin typeface="Georgia"/>
              <a:cs typeface="Georgia"/>
            </a:endParaRPr>
          </a:p>
          <a:p>
            <a:pPr marL="808355" indent="-795655">
              <a:lnSpc>
                <a:spcPct val="100000"/>
              </a:lnSpc>
              <a:spcBef>
                <a:spcPts val="2680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dirty="0">
                <a:latin typeface="Times New Roman"/>
                <a:cs typeface="Times New Roman"/>
              </a:rPr>
              <a:t>Источник</a:t>
            </a:r>
            <a:r>
              <a:rPr sz="3600" spc="-19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рекомендации</a:t>
            </a:r>
            <a:r>
              <a:rPr sz="3600" spc="-1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15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кто</a:t>
            </a:r>
            <a:r>
              <a:rPr sz="3600" spc="-18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рекомендует</a:t>
            </a:r>
            <a:r>
              <a:rPr sz="3600" spc="-10" dirty="0">
                <a:latin typeface="Georgia"/>
                <a:cs typeface="Georgia"/>
              </a:rPr>
              <a:t>?</a:t>
            </a:r>
            <a:endParaRPr sz="3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15913" y="3426799"/>
            <a:ext cx="6118575" cy="53128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874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Аспекты</a:t>
            </a:r>
            <a:r>
              <a:rPr spc="-625" dirty="0"/>
              <a:t> </a:t>
            </a:r>
            <a:r>
              <a:rPr spc="-100" dirty="0"/>
              <a:t>рекомендательных</a:t>
            </a:r>
            <a:r>
              <a:rPr spc="-630" dirty="0"/>
              <a:t> </a:t>
            </a:r>
            <a:r>
              <a:rPr spc="-10" dirty="0"/>
              <a:t>систем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388" y="3340987"/>
            <a:ext cx="17935575" cy="4603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08355" marR="2367915" indent="-796290">
              <a:lnSpc>
                <a:spcPct val="116199"/>
              </a:lnSpc>
              <a:spcBef>
                <a:spcPts val="90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spc="-30" dirty="0">
                <a:latin typeface="Times New Roman"/>
                <a:cs typeface="Times New Roman"/>
              </a:rPr>
              <a:t>Уровень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персонализации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105" dirty="0">
                <a:latin typeface="Georgia"/>
                <a:cs typeface="Georgia"/>
              </a:rPr>
              <a:t> </a:t>
            </a:r>
            <a:r>
              <a:rPr sz="3600" spc="-35" dirty="0">
                <a:latin typeface="Times New Roman"/>
                <a:cs typeface="Times New Roman"/>
              </a:rPr>
              <a:t>насколько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точно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система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может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строить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портрет пользователя</a:t>
            </a:r>
            <a:r>
              <a:rPr sz="3600" spc="-10" dirty="0">
                <a:latin typeface="Georgia"/>
                <a:cs typeface="Georgia"/>
              </a:rPr>
              <a:t>?</a:t>
            </a:r>
            <a:endParaRPr sz="3600">
              <a:latin typeface="Georgia"/>
              <a:cs typeface="Georgia"/>
            </a:endParaRPr>
          </a:p>
          <a:p>
            <a:pPr marL="808355" marR="1950085" indent="-796290">
              <a:lnSpc>
                <a:spcPct val="116199"/>
              </a:lnSpc>
              <a:spcBef>
                <a:spcPts val="1980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spc="-30" dirty="0">
                <a:latin typeface="Times New Roman"/>
                <a:cs typeface="Times New Roman"/>
              </a:rPr>
              <a:t>Уровень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гибкости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7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Как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быстро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умеет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адаптироваться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новым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информации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Times New Roman"/>
                <a:cs typeface="Times New Roman"/>
              </a:rPr>
              <a:t>и </a:t>
            </a:r>
            <a:r>
              <a:rPr sz="3600" spc="-10" dirty="0">
                <a:latin typeface="Times New Roman"/>
                <a:cs typeface="Times New Roman"/>
              </a:rPr>
              <a:t>источникам</a:t>
            </a:r>
            <a:r>
              <a:rPr sz="3600" spc="-10" dirty="0">
                <a:latin typeface="Georgia"/>
                <a:cs typeface="Georgia"/>
              </a:rPr>
              <a:t>?</a:t>
            </a:r>
            <a:endParaRPr sz="3600">
              <a:latin typeface="Georgia"/>
              <a:cs typeface="Georgia"/>
            </a:endParaRPr>
          </a:p>
          <a:p>
            <a:pPr marL="808355" indent="-795655">
              <a:lnSpc>
                <a:spcPct val="100000"/>
              </a:lnSpc>
              <a:spcBef>
                <a:spcPts val="2675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dirty="0">
                <a:latin typeface="Times New Roman"/>
                <a:cs typeface="Times New Roman"/>
              </a:rPr>
              <a:t>Прозрачность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рекомендации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135" dirty="0">
                <a:latin typeface="Georgia"/>
                <a:cs typeface="Georgia"/>
              </a:rPr>
              <a:t> </a:t>
            </a:r>
            <a:r>
              <a:rPr sz="3600" spc="-35" dirty="0">
                <a:latin typeface="Times New Roman"/>
                <a:cs typeface="Times New Roman"/>
              </a:rPr>
              <a:t>насколько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spc="-30" dirty="0">
                <a:latin typeface="Times New Roman"/>
                <a:cs typeface="Times New Roman"/>
              </a:rPr>
              <a:t>результаты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рекомендации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интерпретируемые</a:t>
            </a:r>
            <a:r>
              <a:rPr sz="3600" spc="-10" dirty="0">
                <a:latin typeface="Georgia"/>
                <a:cs typeface="Georgia"/>
              </a:rPr>
              <a:t>?</a:t>
            </a:r>
            <a:endParaRPr sz="3600">
              <a:latin typeface="Georgia"/>
              <a:cs typeface="Georgia"/>
            </a:endParaRPr>
          </a:p>
          <a:p>
            <a:pPr marL="808355" indent="-795655">
              <a:lnSpc>
                <a:spcPct val="100000"/>
              </a:lnSpc>
              <a:spcBef>
                <a:spcPts val="2680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dirty="0">
                <a:latin typeface="Times New Roman"/>
                <a:cs typeface="Times New Roman"/>
              </a:rPr>
              <a:t>Объём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базы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знаний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7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как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много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информации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было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задействовано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при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рекомендации</a:t>
            </a:r>
            <a:r>
              <a:rPr sz="3600" spc="-10" dirty="0">
                <a:latin typeface="Georgia"/>
                <a:cs typeface="Georgia"/>
              </a:rPr>
              <a:t>?</a:t>
            </a:r>
            <a:endParaRPr sz="3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21164" y="587869"/>
            <a:ext cx="8653780" cy="2026920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spc="-65" dirty="0"/>
              <a:t>Классический</a:t>
            </a:r>
            <a:r>
              <a:rPr spc="-625" dirty="0"/>
              <a:t> </a:t>
            </a:r>
            <a:r>
              <a:rPr spc="-10" dirty="0"/>
              <a:t>пример</a:t>
            </a:r>
          </a:p>
          <a:p>
            <a:pPr marL="4445" algn="ctr">
              <a:lnSpc>
                <a:spcPct val="100000"/>
              </a:lnSpc>
              <a:spcBef>
                <a:spcPts val="1095"/>
              </a:spcBef>
            </a:pPr>
            <a:r>
              <a:rPr sz="3600" dirty="0">
                <a:latin typeface="Arial"/>
                <a:cs typeface="Arial"/>
              </a:rPr>
              <a:t>Рекомендация</a:t>
            </a:r>
            <a:r>
              <a:rPr sz="3600" spc="-195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музыки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8209" y="2946039"/>
            <a:ext cx="16407678" cy="74140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2494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Виды</a:t>
            </a:r>
            <a:r>
              <a:rPr spc="-635" dirty="0"/>
              <a:t> </a:t>
            </a:r>
            <a:r>
              <a:rPr spc="-100" dirty="0"/>
              <a:t>рекомендательных</a:t>
            </a:r>
            <a:r>
              <a:rPr spc="-635" dirty="0"/>
              <a:t> </a:t>
            </a:r>
            <a:r>
              <a:rPr spc="-10" dirty="0"/>
              <a:t>систем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388" y="2248078"/>
            <a:ext cx="16661130" cy="8529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2800" spc="-20" dirty="0">
                <a:latin typeface="Times New Roman"/>
                <a:cs typeface="Times New Roman"/>
              </a:rPr>
              <a:t>Существует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огромное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множество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различных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алгоритмов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рекомендательных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систем</a:t>
            </a:r>
            <a:r>
              <a:rPr sz="2800" dirty="0">
                <a:latin typeface="Georgia"/>
                <a:cs typeface="Georgia"/>
              </a:rPr>
              <a:t>,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но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все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они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делятся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на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три </a:t>
            </a:r>
            <a:r>
              <a:rPr sz="2800" dirty="0">
                <a:latin typeface="Times New Roman"/>
                <a:cs typeface="Times New Roman"/>
              </a:rPr>
              <a:t>основных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вида</a:t>
            </a:r>
            <a:r>
              <a:rPr sz="2800" spc="-10" dirty="0">
                <a:latin typeface="Georgia"/>
                <a:cs typeface="Georgia"/>
              </a:rPr>
              <a:t>:</a:t>
            </a:r>
            <a:endParaRPr sz="2800">
              <a:latin typeface="Georgia"/>
              <a:cs typeface="Georgia"/>
            </a:endParaRPr>
          </a:p>
          <a:p>
            <a:pPr marL="302260" indent="-289560">
              <a:lnSpc>
                <a:spcPct val="100000"/>
              </a:lnSpc>
              <a:spcBef>
                <a:spcPts val="2039"/>
              </a:spcBef>
              <a:buFont typeface="Georgia"/>
              <a:buAutoNum type="arabicPeriod"/>
              <a:tabLst>
                <a:tab pos="302260" algn="l"/>
              </a:tabLst>
            </a:pPr>
            <a:r>
              <a:rPr sz="2800" b="1" spc="-20" dirty="0">
                <a:latin typeface="Times New Roman"/>
                <a:cs typeface="Times New Roman"/>
              </a:rPr>
              <a:t>Рекомендации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на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основе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контента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spc="-60" dirty="0">
                <a:latin typeface="Georgia"/>
                <a:cs typeface="Georgia"/>
              </a:rPr>
              <a:t>(Content-</a:t>
            </a:r>
            <a:r>
              <a:rPr sz="2800" b="1" spc="-10" dirty="0">
                <a:latin typeface="Georgia"/>
                <a:cs typeface="Georgia"/>
              </a:rPr>
              <a:t>based):</a:t>
            </a:r>
            <a:endParaRPr sz="2800">
              <a:latin typeface="Georgia"/>
              <a:cs typeface="Georgia"/>
            </a:endParaRPr>
          </a:p>
          <a:p>
            <a:pPr marL="389255" marR="791210" lvl="1" indent="198755">
              <a:lnSpc>
                <a:spcPts val="2950"/>
              </a:lnSpc>
              <a:spcBef>
                <a:spcPts val="2485"/>
              </a:spcBef>
              <a:buFont typeface="Georgia"/>
              <a:buChar char="-"/>
              <a:tabLst>
                <a:tab pos="588010" algn="l"/>
              </a:tabLst>
            </a:pPr>
            <a:r>
              <a:rPr sz="2800" spc="-30" dirty="0">
                <a:latin typeface="Times New Roman"/>
                <a:cs typeface="Times New Roman"/>
              </a:rPr>
              <a:t>Рекомендации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строятся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на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основе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объектов</a:t>
            </a:r>
            <a:r>
              <a:rPr sz="2800" spc="-25" dirty="0">
                <a:latin typeface="Georgia"/>
                <a:cs typeface="Georgia"/>
              </a:rPr>
              <a:t>,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которые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похожи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на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те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объекты</a:t>
            </a:r>
            <a:r>
              <a:rPr sz="2800" spc="-20" dirty="0">
                <a:latin typeface="Georgia"/>
                <a:cs typeface="Georgia"/>
              </a:rPr>
              <a:t>,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с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которыми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пользователь провзаимодействовал</a:t>
            </a:r>
            <a:endParaRPr sz="2800">
              <a:latin typeface="Times New Roman"/>
              <a:cs typeface="Times New Roman"/>
            </a:endParaRPr>
          </a:p>
          <a:p>
            <a:pPr marL="588010" lvl="1" indent="-198755">
              <a:lnSpc>
                <a:spcPct val="100000"/>
              </a:lnSpc>
              <a:spcBef>
                <a:spcPts val="1889"/>
              </a:spcBef>
              <a:buFont typeface="Georgia"/>
              <a:buChar char="-"/>
              <a:tabLst>
                <a:tab pos="588010" algn="l"/>
              </a:tabLst>
            </a:pPr>
            <a:r>
              <a:rPr sz="2800" spc="-40" dirty="0">
                <a:latin typeface="Times New Roman"/>
                <a:cs typeface="Times New Roman"/>
              </a:rPr>
              <a:t>Уровень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подобия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оценивается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imes New Roman"/>
                <a:cs typeface="Times New Roman"/>
              </a:rPr>
              <a:t>только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по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признакам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самого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объекта</a:t>
            </a:r>
            <a:endParaRPr sz="2800">
              <a:latin typeface="Times New Roman"/>
              <a:cs typeface="Times New Roman"/>
            </a:endParaRPr>
          </a:p>
          <a:p>
            <a:pPr marL="588010" lvl="1" indent="-198755">
              <a:lnSpc>
                <a:spcPct val="100000"/>
              </a:lnSpc>
              <a:spcBef>
                <a:spcPts val="2045"/>
              </a:spcBef>
              <a:buFont typeface="Georgia"/>
              <a:buChar char="-"/>
              <a:tabLst>
                <a:tab pos="588010" algn="l"/>
              </a:tabLst>
            </a:pPr>
            <a:r>
              <a:rPr sz="2800" spc="-40" dirty="0">
                <a:latin typeface="Times New Roman"/>
                <a:cs typeface="Times New Roman"/>
              </a:rPr>
              <a:t>Можем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рекомендовать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объекты</a:t>
            </a:r>
            <a:r>
              <a:rPr sz="2800" spc="-20" dirty="0">
                <a:latin typeface="Georgia"/>
                <a:cs typeface="Georgia"/>
              </a:rPr>
              <a:t>,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которые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находятся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в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одной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предметной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области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039"/>
              </a:spcBef>
              <a:buFont typeface="Georgia"/>
              <a:buAutoNum type="arabicPeriod"/>
              <a:tabLst>
                <a:tab pos="354965" algn="l"/>
              </a:tabLst>
            </a:pPr>
            <a:r>
              <a:rPr sz="2800" b="1" spc="-30" dirty="0">
                <a:latin typeface="Times New Roman"/>
                <a:cs typeface="Times New Roman"/>
              </a:rPr>
              <a:t>Коллаборативная</a:t>
            </a:r>
            <a:r>
              <a:rPr sz="2800" b="1" spc="-13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фильтрация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spc="-85" dirty="0">
                <a:latin typeface="Georgia"/>
                <a:cs typeface="Georgia"/>
              </a:rPr>
              <a:t>(Collaborative</a:t>
            </a:r>
            <a:r>
              <a:rPr sz="2800" b="1" spc="-90" dirty="0">
                <a:latin typeface="Georgia"/>
                <a:cs typeface="Georgia"/>
              </a:rPr>
              <a:t> </a:t>
            </a:r>
            <a:r>
              <a:rPr sz="2800" b="1" spc="-10" dirty="0">
                <a:latin typeface="Georgia"/>
                <a:cs typeface="Georgia"/>
              </a:rPr>
              <a:t>Filtering):</a:t>
            </a:r>
            <a:endParaRPr sz="2800">
              <a:latin typeface="Georgia"/>
              <a:cs typeface="Georgia"/>
            </a:endParaRPr>
          </a:p>
          <a:p>
            <a:pPr marL="389255" marR="949325" lvl="1" indent="198755">
              <a:lnSpc>
                <a:spcPct val="115399"/>
              </a:lnSpc>
              <a:spcBef>
                <a:spcPts val="1525"/>
              </a:spcBef>
              <a:buFont typeface="Georgia"/>
              <a:buChar char="-"/>
              <a:tabLst>
                <a:tab pos="588010" algn="l"/>
              </a:tabLst>
            </a:pPr>
            <a:r>
              <a:rPr sz="2800" spc="-10" dirty="0">
                <a:latin typeface="Times New Roman"/>
                <a:cs typeface="Times New Roman"/>
              </a:rPr>
              <a:t>Следующие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рекомендации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строятся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на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основе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пользовательской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истории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взаимодействия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и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истории взаимодействия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других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пользователей</a:t>
            </a:r>
            <a:endParaRPr sz="2800">
              <a:latin typeface="Times New Roman"/>
              <a:cs typeface="Times New Roman"/>
            </a:endParaRPr>
          </a:p>
          <a:p>
            <a:pPr marL="588010" lvl="1" indent="-198755">
              <a:lnSpc>
                <a:spcPct val="100000"/>
              </a:lnSpc>
              <a:spcBef>
                <a:spcPts val="2039"/>
              </a:spcBef>
              <a:buFont typeface="Georgia"/>
              <a:buChar char="-"/>
              <a:tabLst>
                <a:tab pos="588010" algn="l"/>
              </a:tabLst>
            </a:pPr>
            <a:r>
              <a:rPr sz="2800" dirty="0">
                <a:latin typeface="Times New Roman"/>
                <a:cs typeface="Times New Roman"/>
              </a:rPr>
              <a:t>Нет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привязки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к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предметной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области</a:t>
            </a:r>
            <a:endParaRPr sz="2800">
              <a:latin typeface="Times New Roman"/>
              <a:cs typeface="Times New Roman"/>
            </a:endParaRPr>
          </a:p>
          <a:p>
            <a:pPr marL="588010" lvl="1" indent="-198755">
              <a:lnSpc>
                <a:spcPct val="100000"/>
              </a:lnSpc>
              <a:spcBef>
                <a:spcPts val="2039"/>
              </a:spcBef>
              <a:buFont typeface="Georgia"/>
              <a:buChar char="-"/>
              <a:tabLst>
                <a:tab pos="588010" algn="l"/>
              </a:tabLst>
            </a:pPr>
            <a:r>
              <a:rPr sz="2800" dirty="0">
                <a:latin typeface="Times New Roman"/>
                <a:cs typeface="Times New Roman"/>
              </a:rPr>
              <a:t>Не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умеет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работать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с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новыми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пользователями</a:t>
            </a:r>
            <a:endParaRPr sz="2800">
              <a:latin typeface="Times New Roman"/>
              <a:cs typeface="Times New Roman"/>
            </a:endParaRPr>
          </a:p>
          <a:p>
            <a:pPr marL="12700" marR="641350" indent="353060">
              <a:lnSpc>
                <a:spcPct val="115399"/>
              </a:lnSpc>
              <a:spcBef>
                <a:spcPts val="1525"/>
              </a:spcBef>
              <a:buFont typeface="Georgia"/>
              <a:buAutoNum type="arabicPeriod"/>
              <a:tabLst>
                <a:tab pos="365760" algn="l"/>
              </a:tabLst>
            </a:pPr>
            <a:r>
              <a:rPr sz="2800" b="1" spc="-20" dirty="0">
                <a:latin typeface="Times New Roman"/>
                <a:cs typeface="Times New Roman"/>
              </a:rPr>
              <a:t>Гибридные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подходы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Georgia"/>
                <a:cs typeface="Georgia"/>
              </a:rPr>
              <a:t>-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учитывают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при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рекомендациях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внутренние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особенности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объекта</a:t>
            </a:r>
            <a:r>
              <a:rPr sz="2800" spc="-10" dirty="0">
                <a:latin typeface="Georgia"/>
                <a:cs typeface="Georgia"/>
              </a:rPr>
              <a:t>,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так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и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историю взаимодействия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с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другими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объектами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25"/>
              </a:spcBef>
            </a:pPr>
            <a:r>
              <a:rPr spc="200" dirty="0"/>
              <a:t>Content-</a:t>
            </a:r>
            <a:r>
              <a:rPr spc="260" dirty="0"/>
              <a:t>based</a:t>
            </a:r>
            <a:r>
              <a:rPr spc="-700" dirty="0"/>
              <a:t> </a:t>
            </a:r>
            <a:r>
              <a:rPr spc="-459" dirty="0"/>
              <a:t>&amp;</a:t>
            </a:r>
            <a:r>
              <a:rPr spc="-700" dirty="0"/>
              <a:t> </a:t>
            </a:r>
            <a:r>
              <a:rPr spc="100" dirty="0"/>
              <a:t>Collaborative</a:t>
            </a:r>
            <a:r>
              <a:rPr spc="-695" dirty="0"/>
              <a:t> </a:t>
            </a:r>
            <a:r>
              <a:rPr spc="135" dirty="0"/>
              <a:t>ﬁltering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4230" y="2170053"/>
            <a:ext cx="10879868" cy="86263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5491" y="838175"/>
            <a:ext cx="17985740" cy="1049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700" spc="-75" dirty="0"/>
              <a:t>Классическая</a:t>
            </a:r>
            <a:r>
              <a:rPr sz="6700" spc="-640" dirty="0"/>
              <a:t> </a:t>
            </a:r>
            <a:r>
              <a:rPr sz="6700" spc="-90" dirty="0"/>
              <a:t>постановка</a:t>
            </a:r>
            <a:r>
              <a:rPr sz="6700" spc="-615" dirty="0"/>
              <a:t> </a:t>
            </a:r>
            <a:r>
              <a:rPr sz="6700" spc="-110" dirty="0"/>
              <a:t>задачи</a:t>
            </a:r>
            <a:r>
              <a:rPr sz="6700" spc="-600" dirty="0"/>
              <a:t> </a:t>
            </a:r>
            <a:r>
              <a:rPr sz="6700" spc="-50" dirty="0"/>
              <a:t>рекомендации</a:t>
            </a:r>
            <a:endParaRPr sz="67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dirty="0"/>
              <a:t>В</a:t>
            </a:r>
            <a:r>
              <a:rPr sz="3600" spc="-80" dirty="0"/>
              <a:t> </a:t>
            </a:r>
            <a:r>
              <a:rPr sz="3600" dirty="0"/>
              <a:t>классической</a:t>
            </a:r>
            <a:r>
              <a:rPr sz="3600" spc="-80" dirty="0"/>
              <a:t> </a:t>
            </a:r>
            <a:r>
              <a:rPr sz="3600" dirty="0"/>
              <a:t>постановке</a:t>
            </a:r>
            <a:r>
              <a:rPr sz="3600" spc="-75" dirty="0"/>
              <a:t> </a:t>
            </a:r>
            <a:r>
              <a:rPr sz="3600" dirty="0"/>
              <a:t>задачи</a:t>
            </a:r>
            <a:r>
              <a:rPr sz="3600" spc="-80" dirty="0"/>
              <a:t> </a:t>
            </a:r>
            <a:r>
              <a:rPr sz="3600" dirty="0"/>
              <a:t>всё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45" dirty="0">
                <a:latin typeface="Georgia"/>
                <a:cs typeface="Georgia"/>
              </a:rPr>
              <a:t> </a:t>
            </a:r>
            <a:r>
              <a:rPr sz="3600" dirty="0"/>
              <a:t>что</a:t>
            </a:r>
            <a:r>
              <a:rPr sz="3600" spc="-80" dirty="0"/>
              <a:t> </a:t>
            </a:r>
            <a:r>
              <a:rPr sz="3600" dirty="0"/>
              <a:t>у</a:t>
            </a:r>
            <a:r>
              <a:rPr sz="3600" spc="-80" dirty="0"/>
              <a:t> </a:t>
            </a:r>
            <a:r>
              <a:rPr sz="3600" dirty="0"/>
              <a:t>нас</a:t>
            </a:r>
            <a:r>
              <a:rPr sz="3600" spc="-80" dirty="0"/>
              <a:t> </a:t>
            </a:r>
            <a:r>
              <a:rPr sz="3600" dirty="0"/>
              <a:t>есть</a:t>
            </a:r>
            <a:r>
              <a:rPr sz="3600" spc="-75" dirty="0"/>
              <a:t> </a:t>
            </a:r>
            <a:r>
              <a:rPr sz="3600" dirty="0">
                <a:latin typeface="Georgia"/>
                <a:cs typeface="Georgia"/>
              </a:rPr>
              <a:t>—</a:t>
            </a:r>
            <a:r>
              <a:rPr sz="3600" spc="-45" dirty="0">
                <a:latin typeface="Georgia"/>
                <a:cs typeface="Georgia"/>
              </a:rPr>
              <a:t> </a:t>
            </a:r>
            <a:r>
              <a:rPr sz="3600" dirty="0"/>
              <a:t>это</a:t>
            </a:r>
            <a:r>
              <a:rPr sz="3600" spc="-80" dirty="0"/>
              <a:t> </a:t>
            </a:r>
            <a:r>
              <a:rPr sz="3600" dirty="0"/>
              <a:t>матрица</a:t>
            </a:r>
            <a:r>
              <a:rPr sz="3600" spc="-80" dirty="0"/>
              <a:t> </a:t>
            </a:r>
            <a:r>
              <a:rPr sz="3600" dirty="0"/>
              <a:t>оценок</a:t>
            </a:r>
            <a:r>
              <a:rPr sz="3600" spc="-80" dirty="0"/>
              <a:t> </a:t>
            </a:r>
            <a:r>
              <a:rPr sz="3600" spc="-35" dirty="0">
                <a:latin typeface="Georgia"/>
                <a:cs typeface="Georgia"/>
              </a:rPr>
              <a:t>user-</a:t>
            </a:r>
            <a:r>
              <a:rPr sz="3600" spc="-20" dirty="0">
                <a:latin typeface="Georgia"/>
                <a:cs typeface="Georgia"/>
              </a:rPr>
              <a:t>item.</a:t>
            </a:r>
            <a:endParaRPr sz="3600">
              <a:latin typeface="Georgia"/>
              <a:cs typeface="Georgia"/>
            </a:endParaRPr>
          </a:p>
          <a:p>
            <a:pPr marL="12700" marR="5080">
              <a:lnSpc>
                <a:spcPct val="116199"/>
              </a:lnSpc>
              <a:spcBef>
                <a:spcPts val="1980"/>
              </a:spcBef>
            </a:pPr>
            <a:r>
              <a:rPr sz="3600" dirty="0"/>
              <a:t>Она</a:t>
            </a:r>
            <a:r>
              <a:rPr sz="3600" spc="-110" dirty="0"/>
              <a:t> </a:t>
            </a:r>
            <a:r>
              <a:rPr sz="3600" dirty="0"/>
              <a:t>очень</a:t>
            </a:r>
            <a:r>
              <a:rPr sz="3600" spc="-105" dirty="0"/>
              <a:t> </a:t>
            </a:r>
            <a:r>
              <a:rPr sz="3600" dirty="0"/>
              <a:t>разрежена</a:t>
            </a:r>
            <a:r>
              <a:rPr sz="3600" spc="-105" dirty="0"/>
              <a:t> </a:t>
            </a:r>
            <a:r>
              <a:rPr sz="3600" dirty="0"/>
              <a:t>и</a:t>
            </a:r>
            <a:r>
              <a:rPr sz="3600" spc="-105" dirty="0"/>
              <a:t> </a:t>
            </a:r>
            <a:r>
              <a:rPr sz="3600" dirty="0"/>
              <a:t>наша</a:t>
            </a:r>
            <a:r>
              <a:rPr sz="3600" spc="-105" dirty="0"/>
              <a:t> </a:t>
            </a:r>
            <a:r>
              <a:rPr sz="3600" dirty="0"/>
              <a:t>задача</a:t>
            </a:r>
            <a:r>
              <a:rPr sz="3600" spc="-105" dirty="0"/>
              <a:t> </a:t>
            </a:r>
            <a:r>
              <a:rPr sz="3600" dirty="0">
                <a:latin typeface="Georgia"/>
                <a:cs typeface="Georgia"/>
              </a:rPr>
              <a:t>—</a:t>
            </a:r>
            <a:r>
              <a:rPr sz="3600" spc="-70" dirty="0">
                <a:latin typeface="Georgia"/>
                <a:cs typeface="Georgia"/>
              </a:rPr>
              <a:t> </a:t>
            </a:r>
            <a:r>
              <a:rPr sz="3600" dirty="0"/>
              <a:t>заполнить</a:t>
            </a:r>
            <a:r>
              <a:rPr sz="3600" spc="-105" dirty="0"/>
              <a:t> </a:t>
            </a:r>
            <a:r>
              <a:rPr sz="3600" dirty="0"/>
              <a:t>пропущенные</a:t>
            </a:r>
            <a:r>
              <a:rPr sz="3600" spc="-110" dirty="0"/>
              <a:t> </a:t>
            </a:r>
            <a:r>
              <a:rPr sz="3600" dirty="0"/>
              <a:t>значения</a:t>
            </a:r>
            <a:r>
              <a:rPr sz="3600" dirty="0">
                <a:latin typeface="Georgia"/>
                <a:cs typeface="Georgia"/>
              </a:rPr>
              <a:t>.</a:t>
            </a:r>
            <a:r>
              <a:rPr sz="3600" spc="-70" dirty="0">
                <a:latin typeface="Georgia"/>
                <a:cs typeface="Georgia"/>
              </a:rPr>
              <a:t> </a:t>
            </a:r>
            <a:r>
              <a:rPr sz="3600" dirty="0"/>
              <a:t>Обычно</a:t>
            </a:r>
            <a:r>
              <a:rPr sz="3600" spc="-105" dirty="0"/>
              <a:t> </a:t>
            </a:r>
            <a:r>
              <a:rPr sz="3600" spc="-50" dirty="0"/>
              <a:t>в </a:t>
            </a:r>
            <a:r>
              <a:rPr sz="3600" dirty="0"/>
              <a:t>качестве</a:t>
            </a:r>
            <a:r>
              <a:rPr sz="3600" spc="-95" dirty="0"/>
              <a:t> </a:t>
            </a:r>
            <a:r>
              <a:rPr sz="3600" dirty="0"/>
              <a:t>метрики</a:t>
            </a:r>
            <a:r>
              <a:rPr sz="3600" spc="-90" dirty="0"/>
              <a:t> </a:t>
            </a:r>
            <a:r>
              <a:rPr sz="3600" spc="-10" dirty="0"/>
              <a:t>используют</a:t>
            </a:r>
            <a:r>
              <a:rPr sz="3600" spc="-95" dirty="0"/>
              <a:t> </a:t>
            </a:r>
            <a:r>
              <a:rPr sz="3600" dirty="0">
                <a:latin typeface="Georgia"/>
                <a:cs typeface="Georgia"/>
              </a:rPr>
              <a:t>RMSE</a:t>
            </a:r>
            <a:r>
              <a:rPr sz="3600" spc="-60" dirty="0">
                <a:latin typeface="Georgia"/>
                <a:cs typeface="Georgia"/>
              </a:rPr>
              <a:t> </a:t>
            </a:r>
            <a:r>
              <a:rPr sz="3600" spc="-10" dirty="0"/>
              <a:t>предсказанного</a:t>
            </a:r>
            <a:r>
              <a:rPr sz="3600" spc="-95" dirty="0"/>
              <a:t> </a:t>
            </a:r>
            <a:r>
              <a:rPr sz="3600" dirty="0"/>
              <a:t>рейтинга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65" dirty="0">
                <a:latin typeface="Georgia"/>
                <a:cs typeface="Georgia"/>
              </a:rPr>
              <a:t> </a:t>
            </a:r>
            <a:r>
              <a:rPr sz="3600" dirty="0"/>
              <a:t>но</a:t>
            </a:r>
            <a:r>
              <a:rPr sz="3600" spc="-95" dirty="0"/>
              <a:t> </a:t>
            </a:r>
            <a:r>
              <a:rPr sz="3600" dirty="0"/>
              <a:t>есть</a:t>
            </a:r>
            <a:r>
              <a:rPr sz="3600" spc="-90" dirty="0"/>
              <a:t> </a:t>
            </a:r>
            <a:r>
              <a:rPr sz="3600" dirty="0"/>
              <a:t>мнение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65" dirty="0">
                <a:latin typeface="Georgia"/>
                <a:cs typeface="Georgia"/>
              </a:rPr>
              <a:t> </a:t>
            </a:r>
            <a:r>
              <a:rPr sz="3600" dirty="0"/>
              <a:t>что</a:t>
            </a:r>
            <a:r>
              <a:rPr sz="3600" spc="-95" dirty="0"/>
              <a:t> </a:t>
            </a:r>
            <a:r>
              <a:rPr sz="3600" dirty="0"/>
              <a:t>это</a:t>
            </a:r>
            <a:r>
              <a:rPr sz="3600" spc="-95" dirty="0"/>
              <a:t> </a:t>
            </a:r>
            <a:r>
              <a:rPr sz="3600" spc="-25" dirty="0"/>
              <a:t>не </a:t>
            </a:r>
            <a:r>
              <a:rPr sz="3600" dirty="0"/>
              <a:t>совсем</a:t>
            </a:r>
            <a:r>
              <a:rPr sz="3600" spc="-120" dirty="0"/>
              <a:t> </a:t>
            </a:r>
            <a:r>
              <a:rPr sz="3600" dirty="0"/>
              <a:t>правильно</a:t>
            </a:r>
            <a:r>
              <a:rPr sz="3600" spc="-125" dirty="0"/>
              <a:t> </a:t>
            </a:r>
            <a:r>
              <a:rPr sz="3600" dirty="0"/>
              <a:t>и</a:t>
            </a:r>
            <a:r>
              <a:rPr sz="3600" spc="-120" dirty="0"/>
              <a:t> </a:t>
            </a:r>
            <a:r>
              <a:rPr sz="3600" dirty="0"/>
              <a:t>следует</a:t>
            </a:r>
            <a:r>
              <a:rPr sz="3600" spc="-125" dirty="0"/>
              <a:t> </a:t>
            </a:r>
            <a:r>
              <a:rPr sz="3600" dirty="0"/>
              <a:t>учитывать</a:t>
            </a:r>
            <a:r>
              <a:rPr sz="3600" spc="-120" dirty="0"/>
              <a:t> </a:t>
            </a:r>
            <a:r>
              <a:rPr sz="3600" dirty="0"/>
              <a:t>характеристики</a:t>
            </a:r>
            <a:r>
              <a:rPr sz="3600" spc="-120" dirty="0"/>
              <a:t> </a:t>
            </a:r>
            <a:r>
              <a:rPr sz="3600" spc="-10" dirty="0"/>
              <a:t>рекомендации</a:t>
            </a:r>
            <a:r>
              <a:rPr sz="3600" spc="-125" dirty="0"/>
              <a:t> </a:t>
            </a:r>
            <a:r>
              <a:rPr sz="3600" dirty="0"/>
              <a:t>как</a:t>
            </a:r>
            <a:r>
              <a:rPr sz="3600" spc="-114" dirty="0"/>
              <a:t> </a:t>
            </a:r>
            <a:r>
              <a:rPr sz="3600" dirty="0"/>
              <a:t>целого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90" dirty="0">
                <a:latin typeface="Georgia"/>
                <a:cs typeface="Georgia"/>
              </a:rPr>
              <a:t> </a:t>
            </a:r>
            <a:r>
              <a:rPr sz="3600" dirty="0"/>
              <a:t>а</a:t>
            </a:r>
            <a:r>
              <a:rPr sz="3600" spc="-120" dirty="0"/>
              <a:t> </a:t>
            </a:r>
            <a:r>
              <a:rPr sz="3600" spc="-25" dirty="0"/>
              <a:t>не </a:t>
            </a:r>
            <a:r>
              <a:rPr sz="3600" dirty="0"/>
              <a:t>точность</a:t>
            </a:r>
            <a:r>
              <a:rPr sz="3600" spc="-130" dirty="0"/>
              <a:t> </a:t>
            </a:r>
            <a:r>
              <a:rPr sz="3600" dirty="0"/>
              <a:t>предсказания</a:t>
            </a:r>
            <a:r>
              <a:rPr sz="3600" spc="-130" dirty="0"/>
              <a:t> </a:t>
            </a:r>
            <a:r>
              <a:rPr sz="3600" spc="-20" dirty="0"/>
              <a:t>конкретного</a:t>
            </a:r>
            <a:r>
              <a:rPr sz="3600" spc="-125" dirty="0"/>
              <a:t> </a:t>
            </a:r>
            <a:r>
              <a:rPr sz="3600" spc="-10" dirty="0"/>
              <a:t>числа</a:t>
            </a:r>
            <a:r>
              <a:rPr sz="3600" spc="-10" dirty="0">
                <a:latin typeface="Georgia"/>
                <a:cs typeface="Georgia"/>
              </a:rPr>
              <a:t>.</a:t>
            </a:r>
            <a:endParaRPr sz="3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7425" y="5962893"/>
            <a:ext cx="6776950" cy="50796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5797" y="845493"/>
            <a:ext cx="1323213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Виды</a:t>
            </a:r>
            <a:r>
              <a:rPr spc="-630" dirty="0"/>
              <a:t> </a:t>
            </a:r>
            <a:r>
              <a:rPr spc="-105" dirty="0"/>
              <a:t>пользовательских</a:t>
            </a:r>
            <a:r>
              <a:rPr spc="-640" dirty="0"/>
              <a:t> </a:t>
            </a:r>
            <a:r>
              <a:rPr spc="-50" dirty="0"/>
              <a:t>фидбеков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3161" y="2448696"/>
            <a:ext cx="17646015" cy="56273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71805">
              <a:lnSpc>
                <a:spcPct val="116199"/>
              </a:lnSpc>
              <a:spcBef>
                <a:spcPts val="90"/>
              </a:spcBef>
            </a:pPr>
            <a:r>
              <a:rPr sz="3600" dirty="0">
                <a:latin typeface="Times New Roman"/>
                <a:cs typeface="Times New Roman"/>
              </a:rPr>
              <a:t>Чтобы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построить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рекомендательную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систему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65" dirty="0">
                <a:latin typeface="Georgia"/>
                <a:cs typeface="Georgia"/>
              </a:rPr>
              <a:t> </a:t>
            </a:r>
            <a:r>
              <a:rPr sz="3600" spc="-30" dirty="0">
                <a:latin typeface="Times New Roman"/>
                <a:cs typeface="Times New Roman"/>
              </a:rPr>
              <a:t>необходимо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учитывать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пользовательские </a:t>
            </a:r>
            <a:r>
              <a:rPr sz="3600" dirty="0">
                <a:latin typeface="Times New Roman"/>
                <a:cs typeface="Times New Roman"/>
              </a:rPr>
              <a:t>отклики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на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тот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или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иной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объект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рекомендации</a:t>
            </a:r>
            <a:r>
              <a:rPr sz="3600" spc="-10" dirty="0">
                <a:latin typeface="Georgia"/>
                <a:cs typeface="Georgia"/>
              </a:rPr>
              <a:t>.</a:t>
            </a:r>
            <a:endParaRPr sz="3600">
              <a:latin typeface="Georgia"/>
              <a:cs typeface="Georgia"/>
            </a:endParaRPr>
          </a:p>
          <a:p>
            <a:pPr marL="12700" marR="235585" indent="386715">
              <a:lnSpc>
                <a:spcPct val="116199"/>
              </a:lnSpc>
              <a:spcBef>
                <a:spcPts val="1980"/>
              </a:spcBef>
              <a:buClr>
                <a:srgbClr val="595959"/>
              </a:buClr>
              <a:buFont typeface="Times New Roman"/>
              <a:buChar char="●"/>
              <a:tabLst>
                <a:tab pos="399415" algn="l"/>
              </a:tabLst>
            </a:pPr>
            <a:r>
              <a:rPr sz="3600" b="1" dirty="0">
                <a:latin typeface="Times New Roman"/>
                <a:cs typeface="Times New Roman"/>
              </a:rPr>
              <a:t>Явный</a:t>
            </a:r>
            <a:r>
              <a:rPr sz="3600" b="1" spc="-10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отклик</a:t>
            </a:r>
            <a:r>
              <a:rPr sz="3600" b="1" spc="-100" dirty="0">
                <a:latin typeface="Times New Roman"/>
                <a:cs typeface="Times New Roman"/>
              </a:rPr>
              <a:t> </a:t>
            </a:r>
            <a:r>
              <a:rPr sz="3600" b="1" spc="-100" dirty="0">
                <a:latin typeface="Georgia"/>
                <a:cs typeface="Georgia"/>
              </a:rPr>
              <a:t>(Explicit</a:t>
            </a:r>
            <a:r>
              <a:rPr sz="3600" b="1" spc="-114" dirty="0">
                <a:latin typeface="Georgia"/>
                <a:cs typeface="Georgia"/>
              </a:rPr>
              <a:t> </a:t>
            </a:r>
            <a:r>
              <a:rPr sz="3600" b="1" spc="-100" dirty="0">
                <a:latin typeface="Georgia"/>
                <a:cs typeface="Georgia"/>
              </a:rPr>
              <a:t>feedback)</a:t>
            </a:r>
            <a:r>
              <a:rPr sz="3600" b="1" spc="-120" dirty="0"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595959"/>
                </a:solidFill>
                <a:latin typeface="Georgia"/>
                <a:cs typeface="Georgia"/>
              </a:rPr>
              <a:t>-</a:t>
            </a:r>
            <a:r>
              <a:rPr sz="3600" spc="-80" dirty="0">
                <a:solidFill>
                  <a:srgbClr val="595959"/>
                </a:solidFill>
                <a:latin typeface="Georgia"/>
                <a:cs typeface="Georgia"/>
              </a:rPr>
              <a:t> </a:t>
            </a:r>
            <a:r>
              <a:rPr sz="3600" spc="-55" dirty="0">
                <a:latin typeface="Times New Roman"/>
                <a:cs typeface="Times New Roman"/>
              </a:rPr>
              <a:t>когда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можем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собрать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прямую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оценку</a:t>
            </a:r>
            <a:r>
              <a:rPr sz="3600" spc="-10" dirty="0">
                <a:latin typeface="Georgia"/>
                <a:cs typeface="Georgia"/>
              </a:rPr>
              <a:t>/</a:t>
            </a:r>
            <a:r>
              <a:rPr sz="3600" spc="-10" dirty="0">
                <a:latin typeface="Times New Roman"/>
                <a:cs typeface="Times New Roman"/>
              </a:rPr>
              <a:t>мнение пользователя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об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объекте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9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например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9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в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случае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с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рекомендацией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фильмов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9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это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может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быть </a:t>
            </a:r>
            <a:r>
              <a:rPr sz="3600" dirty="0">
                <a:latin typeface="Times New Roman"/>
                <a:cs typeface="Times New Roman"/>
              </a:rPr>
              <a:t>поставленный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пользователем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рейтинг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данному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фильму</a:t>
            </a:r>
            <a:endParaRPr sz="3600">
              <a:latin typeface="Times New Roman"/>
              <a:cs typeface="Times New Roman"/>
            </a:endParaRPr>
          </a:p>
          <a:p>
            <a:pPr marL="12700" marR="5080" indent="386715" algn="just">
              <a:lnSpc>
                <a:spcPct val="116199"/>
              </a:lnSpc>
              <a:spcBef>
                <a:spcPts val="1980"/>
              </a:spcBef>
              <a:buClr>
                <a:srgbClr val="595959"/>
              </a:buClr>
              <a:buFont typeface="Times New Roman"/>
              <a:buChar char="●"/>
              <a:tabLst>
                <a:tab pos="399415" algn="l"/>
              </a:tabLst>
            </a:pPr>
            <a:r>
              <a:rPr sz="3600" b="1" dirty="0">
                <a:latin typeface="Times New Roman"/>
                <a:cs typeface="Times New Roman"/>
              </a:rPr>
              <a:t>Неявный</a:t>
            </a:r>
            <a:r>
              <a:rPr sz="3600" b="1" spc="-11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отклик</a:t>
            </a:r>
            <a:r>
              <a:rPr sz="3600" b="1" spc="-90" dirty="0">
                <a:latin typeface="Times New Roman"/>
                <a:cs typeface="Times New Roman"/>
              </a:rPr>
              <a:t> </a:t>
            </a:r>
            <a:r>
              <a:rPr sz="3600" b="1" spc="-145" dirty="0">
                <a:latin typeface="Georgia"/>
                <a:cs typeface="Georgia"/>
              </a:rPr>
              <a:t>(Implicit</a:t>
            </a:r>
            <a:r>
              <a:rPr sz="3600" b="1" spc="-85" dirty="0">
                <a:latin typeface="Georgia"/>
                <a:cs typeface="Georgia"/>
              </a:rPr>
              <a:t> </a:t>
            </a:r>
            <a:r>
              <a:rPr sz="3600" b="1" spc="-100" dirty="0">
                <a:latin typeface="Georgia"/>
                <a:cs typeface="Georgia"/>
              </a:rPr>
              <a:t>feedback)</a:t>
            </a:r>
            <a:r>
              <a:rPr sz="3600" b="1" spc="-114" dirty="0"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595959"/>
                </a:solidFill>
                <a:latin typeface="Georgia"/>
                <a:cs typeface="Georgia"/>
              </a:rPr>
              <a:t>-</a:t>
            </a:r>
            <a:r>
              <a:rPr sz="3600" spc="-65" dirty="0">
                <a:solidFill>
                  <a:srgbClr val="595959"/>
                </a:solidFill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более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часто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встречаемый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вид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откликов</a:t>
            </a:r>
            <a:r>
              <a:rPr sz="3600" spc="-20" dirty="0">
                <a:latin typeface="Georgia"/>
                <a:cs typeface="Georgia"/>
              </a:rPr>
              <a:t>,</a:t>
            </a:r>
            <a:r>
              <a:rPr sz="3600" spc="-65" dirty="0">
                <a:latin typeface="Georgia"/>
                <a:cs typeface="Georgia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когда </a:t>
            </a:r>
            <a:r>
              <a:rPr sz="3600" dirty="0">
                <a:latin typeface="Times New Roman"/>
                <a:cs typeface="Times New Roman"/>
              </a:rPr>
              <a:t>нет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прямой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оценки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от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пользователя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об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объекте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6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поэтому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оценка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аппроксимируется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исходя </a:t>
            </a:r>
            <a:r>
              <a:rPr sz="3600" dirty="0">
                <a:latin typeface="Times New Roman"/>
                <a:cs typeface="Times New Roman"/>
              </a:rPr>
              <a:t>совершенных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действий</a:t>
            </a:r>
            <a:r>
              <a:rPr sz="3600" spc="-10" dirty="0">
                <a:latin typeface="Georgia"/>
                <a:cs typeface="Georgia"/>
              </a:rPr>
              <a:t>:</a:t>
            </a:r>
            <a:r>
              <a:rPr sz="3600" spc="-6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клики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6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просмотры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6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добавление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в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корзину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и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тд</a:t>
            </a:r>
            <a:r>
              <a:rPr sz="3600" spc="-25" dirty="0">
                <a:latin typeface="Georgia"/>
                <a:cs typeface="Georgia"/>
              </a:rPr>
              <a:t>.</a:t>
            </a:r>
            <a:endParaRPr sz="3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FAFAF8"/>
          </a:fgClr>
          <a:bgClr>
            <a:srgbClr val="FAFAF8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Метрики</a:t>
            </a:r>
            <a:r>
              <a:rPr spc="-620" dirty="0"/>
              <a:t> </a:t>
            </a:r>
            <a:r>
              <a:rPr spc="-100" dirty="0"/>
              <a:t>рекомендательных</a:t>
            </a:r>
            <a:r>
              <a:rPr spc="-620" dirty="0"/>
              <a:t> </a:t>
            </a:r>
            <a:r>
              <a:rPr spc="-10" dirty="0"/>
              <a:t>систем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48401" rIns="0" bIns="0" rtlCol="0">
            <a:spAutoFit/>
          </a:bodyPr>
          <a:lstStyle/>
          <a:p>
            <a:pPr marL="12700" marR="1576705">
              <a:lnSpc>
                <a:spcPct val="115199"/>
              </a:lnSpc>
              <a:spcBef>
                <a:spcPts val="100"/>
              </a:spcBef>
            </a:pPr>
            <a:r>
              <a:rPr dirty="0"/>
              <a:t>При</a:t>
            </a:r>
            <a:r>
              <a:rPr spc="-70" dirty="0"/>
              <a:t> </a:t>
            </a:r>
            <a:r>
              <a:rPr dirty="0"/>
              <a:t>построение</a:t>
            </a:r>
            <a:r>
              <a:rPr spc="-70" dirty="0"/>
              <a:t> </a:t>
            </a:r>
            <a:r>
              <a:rPr dirty="0"/>
              <a:t>любой</a:t>
            </a:r>
            <a:r>
              <a:rPr spc="-70" dirty="0"/>
              <a:t> </a:t>
            </a:r>
            <a:r>
              <a:rPr dirty="0"/>
              <a:t>системы</a:t>
            </a:r>
            <a:r>
              <a:rPr spc="-70" dirty="0"/>
              <a:t> </a:t>
            </a:r>
            <a:r>
              <a:rPr dirty="0"/>
              <a:t>важно</a:t>
            </a:r>
            <a:r>
              <a:rPr spc="-70" dirty="0"/>
              <a:t> </a:t>
            </a:r>
            <a:r>
              <a:rPr dirty="0"/>
              <a:t>уметь</a:t>
            </a:r>
            <a:r>
              <a:rPr spc="-70" dirty="0"/>
              <a:t> </a:t>
            </a:r>
            <a:r>
              <a:rPr dirty="0"/>
              <a:t>правильно</a:t>
            </a:r>
            <a:r>
              <a:rPr spc="-70" dirty="0"/>
              <a:t> </a:t>
            </a:r>
            <a:r>
              <a:rPr spc="-10" dirty="0"/>
              <a:t>оценивать</a:t>
            </a:r>
            <a:r>
              <a:rPr spc="-70" dirty="0"/>
              <a:t> </a:t>
            </a:r>
            <a:r>
              <a:rPr spc="-10" dirty="0"/>
              <a:t>качество</a:t>
            </a:r>
            <a:r>
              <a:rPr spc="-70" dirty="0"/>
              <a:t> </a:t>
            </a:r>
            <a:r>
              <a:rPr spc="-10" dirty="0"/>
              <a:t>предлагаемого </a:t>
            </a:r>
            <a:r>
              <a:rPr dirty="0"/>
              <a:t>решения</a:t>
            </a:r>
            <a:r>
              <a:rPr dirty="0">
                <a:latin typeface="Georgia"/>
                <a:cs typeface="Georgia"/>
              </a:rPr>
              <a:t>.</a:t>
            </a:r>
            <a:r>
              <a:rPr spc="-90" dirty="0">
                <a:latin typeface="Georgia"/>
                <a:cs typeface="Georgia"/>
              </a:rPr>
              <a:t> </a:t>
            </a:r>
            <a:r>
              <a:rPr dirty="0"/>
              <a:t>В</a:t>
            </a:r>
            <a:r>
              <a:rPr spc="-114" dirty="0"/>
              <a:t> </a:t>
            </a:r>
            <a:r>
              <a:rPr dirty="0"/>
              <a:t>случае</a:t>
            </a:r>
            <a:r>
              <a:rPr spc="-114" dirty="0"/>
              <a:t> </a:t>
            </a:r>
            <a:r>
              <a:rPr dirty="0"/>
              <a:t>с</a:t>
            </a:r>
            <a:r>
              <a:rPr spc="-114" dirty="0"/>
              <a:t> </a:t>
            </a:r>
            <a:r>
              <a:rPr spc="-10" dirty="0"/>
              <a:t>задачей</a:t>
            </a:r>
            <a:r>
              <a:rPr spc="-120" dirty="0"/>
              <a:t> </a:t>
            </a:r>
            <a:r>
              <a:rPr spc="-10" dirty="0"/>
              <a:t>рекомендации</a:t>
            </a:r>
            <a:r>
              <a:rPr spc="-114" dirty="0"/>
              <a:t> </a:t>
            </a:r>
            <a:r>
              <a:rPr dirty="0"/>
              <a:t>существует</a:t>
            </a:r>
            <a:r>
              <a:rPr spc="-114" dirty="0"/>
              <a:t> </a:t>
            </a:r>
            <a:r>
              <a:rPr dirty="0"/>
              <a:t>два</a:t>
            </a:r>
            <a:r>
              <a:rPr spc="-114" dirty="0"/>
              <a:t> </a:t>
            </a:r>
            <a:r>
              <a:rPr spc="-30" dirty="0"/>
              <a:t>подхода</a:t>
            </a:r>
            <a:r>
              <a:rPr spc="-120" dirty="0"/>
              <a:t> </a:t>
            </a:r>
            <a:r>
              <a:rPr dirty="0"/>
              <a:t>в</a:t>
            </a:r>
            <a:r>
              <a:rPr spc="-120" dirty="0"/>
              <a:t> </a:t>
            </a:r>
            <a:r>
              <a:rPr dirty="0"/>
              <a:t>оценке</a:t>
            </a:r>
            <a:r>
              <a:rPr spc="-114" dirty="0"/>
              <a:t> </a:t>
            </a:r>
            <a:r>
              <a:rPr spc="-10" dirty="0"/>
              <a:t>алгоритмов</a:t>
            </a:r>
            <a:r>
              <a:rPr spc="-10" dirty="0">
                <a:latin typeface="Georgia"/>
                <a:cs typeface="Georgia"/>
              </a:rPr>
              <a:t>.</a:t>
            </a:r>
          </a:p>
          <a:p>
            <a:pPr marL="12700" marR="52705" indent="351790">
              <a:lnSpc>
                <a:spcPct val="115199"/>
              </a:lnSpc>
              <a:spcBef>
                <a:spcPts val="1800"/>
              </a:spcBef>
              <a:buFont typeface="Times New Roman"/>
              <a:buChar char="●"/>
              <a:tabLst>
                <a:tab pos="364490" algn="l"/>
              </a:tabLst>
            </a:pPr>
            <a:r>
              <a:rPr b="1" spc="-90" dirty="0">
                <a:latin typeface="Georgia"/>
                <a:cs typeface="Georgia"/>
              </a:rPr>
              <a:t>Online-</a:t>
            </a:r>
            <a:r>
              <a:rPr b="1" spc="-120" dirty="0">
                <a:latin typeface="Georgia"/>
                <a:cs typeface="Georgia"/>
              </a:rPr>
              <a:t>evaluation</a:t>
            </a:r>
            <a:r>
              <a:rPr b="1" spc="-9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-</a:t>
            </a:r>
            <a:r>
              <a:rPr spc="-80" dirty="0">
                <a:latin typeface="Georgia"/>
                <a:cs typeface="Georgia"/>
              </a:rPr>
              <a:t> </a:t>
            </a:r>
            <a:r>
              <a:rPr dirty="0"/>
              <a:t>самый</a:t>
            </a:r>
            <a:r>
              <a:rPr spc="-95" dirty="0"/>
              <a:t> </a:t>
            </a:r>
            <a:r>
              <a:rPr spc="-10" dirty="0"/>
              <a:t>точный</a:t>
            </a:r>
            <a:r>
              <a:rPr spc="-90" dirty="0"/>
              <a:t> </a:t>
            </a:r>
            <a:r>
              <a:rPr dirty="0"/>
              <a:t>способ</a:t>
            </a:r>
            <a:r>
              <a:rPr spc="-90" dirty="0"/>
              <a:t> </a:t>
            </a:r>
            <a:r>
              <a:rPr dirty="0"/>
              <a:t>оценки</a:t>
            </a:r>
            <a:r>
              <a:rPr spc="-90" dirty="0"/>
              <a:t> </a:t>
            </a:r>
            <a:r>
              <a:rPr spc="-10" dirty="0"/>
              <a:t>качества</a:t>
            </a:r>
            <a:r>
              <a:rPr spc="-95" dirty="0"/>
              <a:t> </a:t>
            </a:r>
            <a:r>
              <a:rPr dirty="0"/>
              <a:t>системы</a:t>
            </a:r>
            <a:r>
              <a:rPr spc="-90" dirty="0"/>
              <a:t> </a:t>
            </a:r>
            <a:r>
              <a:rPr dirty="0">
                <a:latin typeface="Georgia"/>
                <a:cs typeface="Georgia"/>
              </a:rPr>
              <a:t>—</a:t>
            </a:r>
            <a:r>
              <a:rPr spc="-60" dirty="0">
                <a:latin typeface="Georgia"/>
                <a:cs typeface="Georgia"/>
              </a:rPr>
              <a:t> </a:t>
            </a:r>
            <a:r>
              <a:rPr dirty="0"/>
              <a:t>прямая</a:t>
            </a:r>
            <a:r>
              <a:rPr spc="-95" dirty="0"/>
              <a:t> </a:t>
            </a:r>
            <a:r>
              <a:rPr dirty="0"/>
              <a:t>проверка</a:t>
            </a:r>
            <a:r>
              <a:rPr spc="-90" dirty="0"/>
              <a:t> </a:t>
            </a:r>
            <a:r>
              <a:rPr spc="-25" dirty="0"/>
              <a:t>на </a:t>
            </a:r>
            <a:r>
              <a:rPr spc="-10" dirty="0"/>
              <a:t>пользователях</a:t>
            </a:r>
            <a:r>
              <a:rPr spc="-100" dirty="0"/>
              <a:t> </a:t>
            </a:r>
            <a:r>
              <a:rPr dirty="0"/>
              <a:t>в</a:t>
            </a:r>
            <a:r>
              <a:rPr spc="-95" dirty="0"/>
              <a:t> </a:t>
            </a:r>
            <a:r>
              <a:rPr spc="-20" dirty="0"/>
              <a:t>контексте</a:t>
            </a:r>
            <a:r>
              <a:rPr spc="-95" dirty="0"/>
              <a:t> </a:t>
            </a:r>
            <a:r>
              <a:rPr spc="-20" dirty="0"/>
              <a:t>бизнес</a:t>
            </a:r>
            <a:r>
              <a:rPr spc="-20" dirty="0">
                <a:latin typeface="Georgia"/>
                <a:cs typeface="Georgia"/>
              </a:rPr>
              <a:t>-</a:t>
            </a:r>
            <a:r>
              <a:rPr dirty="0"/>
              <a:t>метрик</a:t>
            </a:r>
            <a:r>
              <a:rPr dirty="0">
                <a:latin typeface="Georgia"/>
                <a:cs typeface="Georgia"/>
              </a:rPr>
              <a:t>.</a:t>
            </a:r>
            <a:r>
              <a:rPr spc="-65" dirty="0">
                <a:latin typeface="Georgia"/>
                <a:cs typeface="Georgia"/>
              </a:rPr>
              <a:t> </a:t>
            </a:r>
            <a:r>
              <a:rPr dirty="0"/>
              <a:t>Это</a:t>
            </a:r>
            <a:r>
              <a:rPr spc="-95" dirty="0"/>
              <a:t> </a:t>
            </a:r>
            <a:r>
              <a:rPr dirty="0"/>
              <a:t>может</a:t>
            </a:r>
            <a:r>
              <a:rPr spc="-95" dirty="0"/>
              <a:t> </a:t>
            </a:r>
            <a:r>
              <a:rPr dirty="0"/>
              <a:t>быть</a:t>
            </a:r>
            <a:r>
              <a:rPr spc="-100" dirty="0"/>
              <a:t> </a:t>
            </a:r>
            <a:r>
              <a:rPr spc="145" dirty="0">
                <a:latin typeface="Georgia"/>
                <a:cs typeface="Georgia"/>
              </a:rPr>
              <a:t>CTR,</a:t>
            </a:r>
            <a:r>
              <a:rPr spc="-65" dirty="0">
                <a:latin typeface="Georgia"/>
                <a:cs typeface="Georgia"/>
              </a:rPr>
              <a:t> </a:t>
            </a:r>
            <a:r>
              <a:rPr dirty="0"/>
              <a:t>время</a:t>
            </a:r>
            <a:r>
              <a:rPr dirty="0">
                <a:latin typeface="Georgia"/>
                <a:cs typeface="Georgia"/>
              </a:rPr>
              <a:t>,</a:t>
            </a:r>
            <a:r>
              <a:rPr spc="-65" dirty="0">
                <a:latin typeface="Georgia"/>
                <a:cs typeface="Georgia"/>
              </a:rPr>
              <a:t> </a:t>
            </a:r>
            <a:r>
              <a:rPr dirty="0"/>
              <a:t>проведенное</a:t>
            </a:r>
            <a:r>
              <a:rPr spc="-95" dirty="0"/>
              <a:t> </a:t>
            </a:r>
            <a:r>
              <a:rPr dirty="0"/>
              <a:t>в</a:t>
            </a:r>
            <a:r>
              <a:rPr spc="-95" dirty="0"/>
              <a:t> </a:t>
            </a:r>
            <a:r>
              <a:rPr dirty="0"/>
              <a:t>системе</a:t>
            </a:r>
            <a:r>
              <a:rPr dirty="0">
                <a:latin typeface="Georgia"/>
                <a:cs typeface="Georgia"/>
              </a:rPr>
              <a:t>,</a:t>
            </a:r>
            <a:r>
              <a:rPr spc="-65" dirty="0">
                <a:latin typeface="Georgia"/>
                <a:cs typeface="Georgia"/>
              </a:rPr>
              <a:t> </a:t>
            </a:r>
            <a:r>
              <a:rPr spc="-25" dirty="0"/>
              <a:t>или </a:t>
            </a:r>
            <a:r>
              <a:rPr spc="-10" dirty="0"/>
              <a:t>количество</a:t>
            </a:r>
            <a:r>
              <a:rPr spc="-114" dirty="0"/>
              <a:t> </a:t>
            </a:r>
            <a:r>
              <a:rPr dirty="0"/>
              <a:t>покупок</a:t>
            </a:r>
            <a:r>
              <a:rPr dirty="0">
                <a:latin typeface="Georgia"/>
                <a:cs typeface="Georgia"/>
              </a:rPr>
              <a:t>.</a:t>
            </a:r>
            <a:r>
              <a:rPr spc="-85" dirty="0">
                <a:latin typeface="Georgia"/>
                <a:cs typeface="Georgia"/>
              </a:rPr>
              <a:t> </a:t>
            </a:r>
            <a:r>
              <a:rPr dirty="0"/>
              <a:t>Но</a:t>
            </a:r>
            <a:r>
              <a:rPr spc="-114" dirty="0"/>
              <a:t> </a:t>
            </a:r>
            <a:r>
              <a:rPr dirty="0"/>
              <a:t>эксперименты</a:t>
            </a:r>
            <a:r>
              <a:rPr spc="-110" dirty="0"/>
              <a:t> </a:t>
            </a:r>
            <a:r>
              <a:rPr dirty="0"/>
              <a:t>на</a:t>
            </a:r>
            <a:r>
              <a:rPr spc="-114" dirty="0"/>
              <a:t> </a:t>
            </a:r>
            <a:r>
              <a:rPr spc="-10" dirty="0"/>
              <a:t>пользователях</a:t>
            </a:r>
            <a:r>
              <a:rPr spc="-114" dirty="0"/>
              <a:t> </a:t>
            </a:r>
            <a:r>
              <a:rPr dirty="0"/>
              <a:t>дороги</a:t>
            </a:r>
            <a:r>
              <a:rPr dirty="0">
                <a:latin typeface="Georgia"/>
                <a:cs typeface="Georgia"/>
              </a:rPr>
              <a:t>,</a:t>
            </a:r>
            <a:r>
              <a:rPr spc="-85" dirty="0">
                <a:latin typeface="Georgia"/>
                <a:cs typeface="Georgia"/>
              </a:rPr>
              <a:t> </a:t>
            </a:r>
            <a:r>
              <a:rPr dirty="0"/>
              <a:t>а</a:t>
            </a:r>
            <a:r>
              <a:rPr spc="-110" dirty="0"/>
              <a:t> </a:t>
            </a:r>
            <a:r>
              <a:rPr spc="-25" dirty="0"/>
              <a:t>выкатывать</a:t>
            </a:r>
            <a:r>
              <a:rPr spc="-114" dirty="0"/>
              <a:t> </a:t>
            </a:r>
            <a:r>
              <a:rPr spc="-25" dirty="0"/>
              <a:t>плохой</a:t>
            </a:r>
            <a:r>
              <a:rPr spc="-114" dirty="0"/>
              <a:t> </a:t>
            </a:r>
            <a:r>
              <a:rPr spc="-10" dirty="0"/>
              <a:t>алгоритм </a:t>
            </a:r>
            <a:r>
              <a:rPr dirty="0"/>
              <a:t>даже</a:t>
            </a:r>
            <a:r>
              <a:rPr spc="-105" dirty="0"/>
              <a:t> </a:t>
            </a:r>
            <a:r>
              <a:rPr dirty="0"/>
              <a:t>на</a:t>
            </a:r>
            <a:r>
              <a:rPr spc="-105" dirty="0"/>
              <a:t> </a:t>
            </a:r>
            <a:r>
              <a:rPr dirty="0"/>
              <a:t>малую</a:t>
            </a:r>
            <a:r>
              <a:rPr spc="-105" dirty="0"/>
              <a:t> </a:t>
            </a:r>
            <a:r>
              <a:rPr dirty="0"/>
              <a:t>группу</a:t>
            </a:r>
            <a:r>
              <a:rPr spc="-105" dirty="0"/>
              <a:t> </a:t>
            </a:r>
            <a:r>
              <a:rPr spc="-10" dirty="0"/>
              <a:t>пользователей</a:t>
            </a:r>
            <a:r>
              <a:rPr spc="-105" dirty="0"/>
              <a:t> </a:t>
            </a:r>
            <a:r>
              <a:rPr dirty="0"/>
              <a:t>не</a:t>
            </a:r>
            <a:r>
              <a:rPr spc="-100" dirty="0"/>
              <a:t> </a:t>
            </a:r>
            <a:r>
              <a:rPr spc="-10" dirty="0"/>
              <a:t>хочется</a:t>
            </a:r>
            <a:r>
              <a:rPr spc="-10" dirty="0">
                <a:latin typeface="Georgia"/>
                <a:cs typeface="Georgia"/>
              </a:rPr>
              <a:t>,</a:t>
            </a:r>
            <a:r>
              <a:rPr spc="-75" dirty="0">
                <a:latin typeface="Georgia"/>
                <a:cs typeface="Georgia"/>
              </a:rPr>
              <a:t> </a:t>
            </a:r>
            <a:r>
              <a:rPr dirty="0"/>
              <a:t>поэтому</a:t>
            </a:r>
            <a:r>
              <a:rPr spc="-110" dirty="0"/>
              <a:t> </a:t>
            </a:r>
            <a:r>
              <a:rPr dirty="0"/>
              <a:t>до</a:t>
            </a:r>
            <a:r>
              <a:rPr spc="-105" dirty="0"/>
              <a:t> </a:t>
            </a:r>
            <a:r>
              <a:rPr spc="-35" dirty="0"/>
              <a:t>онлайн</a:t>
            </a:r>
            <a:r>
              <a:rPr spc="-35" dirty="0">
                <a:latin typeface="Georgia"/>
                <a:cs typeface="Georgia"/>
              </a:rPr>
              <a:t>-</a:t>
            </a:r>
            <a:r>
              <a:rPr dirty="0"/>
              <a:t>проверки</a:t>
            </a:r>
            <a:r>
              <a:rPr spc="-105" dirty="0"/>
              <a:t> </a:t>
            </a:r>
            <a:r>
              <a:rPr dirty="0"/>
              <a:t>пользуются</a:t>
            </a:r>
            <a:r>
              <a:rPr spc="-100" dirty="0"/>
              <a:t> </a:t>
            </a:r>
            <a:r>
              <a:rPr spc="-10" dirty="0"/>
              <a:t>оффлайн </a:t>
            </a:r>
            <a:r>
              <a:rPr dirty="0"/>
              <a:t>метриками</a:t>
            </a:r>
            <a:r>
              <a:rPr spc="-80" dirty="0"/>
              <a:t> </a:t>
            </a:r>
            <a:r>
              <a:rPr spc="-10" dirty="0"/>
              <a:t>качества</a:t>
            </a:r>
            <a:r>
              <a:rPr spc="-10" dirty="0">
                <a:latin typeface="Georgia"/>
                <a:cs typeface="Georgia"/>
              </a:rPr>
              <a:t>.</a:t>
            </a:r>
          </a:p>
          <a:p>
            <a:pPr marL="12700" marR="5080" indent="351790">
              <a:lnSpc>
                <a:spcPct val="115199"/>
              </a:lnSpc>
              <a:spcBef>
                <a:spcPts val="1800"/>
              </a:spcBef>
              <a:buFont typeface="Times New Roman"/>
              <a:buChar char="●"/>
              <a:tabLst>
                <a:tab pos="364490" algn="l"/>
              </a:tabLst>
            </a:pPr>
            <a:r>
              <a:rPr b="1" spc="-75" dirty="0">
                <a:latin typeface="Georgia"/>
                <a:cs typeface="Georgia"/>
              </a:rPr>
              <a:t>Oﬄine-</a:t>
            </a:r>
            <a:r>
              <a:rPr b="1" spc="-120" dirty="0">
                <a:latin typeface="Georgia"/>
                <a:cs typeface="Georgia"/>
              </a:rPr>
              <a:t>evaluation</a:t>
            </a:r>
            <a:r>
              <a:rPr b="1" spc="-9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-</a:t>
            </a:r>
            <a:r>
              <a:rPr spc="-155" dirty="0">
                <a:latin typeface="Georgia"/>
                <a:cs typeface="Georgia"/>
              </a:rPr>
              <a:t> </a:t>
            </a:r>
            <a:r>
              <a:rPr dirty="0"/>
              <a:t>оценка</a:t>
            </a:r>
            <a:r>
              <a:rPr spc="-125" dirty="0"/>
              <a:t> </a:t>
            </a:r>
            <a:r>
              <a:rPr spc="-10" dirty="0"/>
              <a:t>качества</a:t>
            </a:r>
            <a:r>
              <a:rPr spc="-125" dirty="0"/>
              <a:t> </a:t>
            </a:r>
            <a:r>
              <a:rPr dirty="0"/>
              <a:t>производится</a:t>
            </a:r>
            <a:r>
              <a:rPr spc="-130" dirty="0"/>
              <a:t> </a:t>
            </a:r>
            <a:r>
              <a:rPr dirty="0"/>
              <a:t>на</a:t>
            </a:r>
            <a:r>
              <a:rPr spc="-125" dirty="0"/>
              <a:t> </a:t>
            </a:r>
            <a:r>
              <a:rPr spc="-20" dirty="0"/>
              <a:t>отложенной</a:t>
            </a:r>
            <a:r>
              <a:rPr spc="-130" dirty="0"/>
              <a:t> </a:t>
            </a:r>
            <a:r>
              <a:rPr dirty="0"/>
              <a:t>выборке</a:t>
            </a:r>
            <a:r>
              <a:rPr dirty="0">
                <a:latin typeface="Georgia"/>
                <a:cs typeface="Georgia"/>
              </a:rPr>
              <a:t>,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20" dirty="0"/>
              <a:t>которая</a:t>
            </a:r>
            <a:r>
              <a:rPr spc="-130" dirty="0"/>
              <a:t> </a:t>
            </a:r>
            <a:r>
              <a:rPr dirty="0"/>
              <a:t>как</a:t>
            </a:r>
            <a:r>
              <a:rPr spc="-125" dirty="0"/>
              <a:t> </a:t>
            </a:r>
            <a:r>
              <a:rPr spc="-10" dirty="0"/>
              <a:t>правило </a:t>
            </a:r>
            <a:r>
              <a:rPr dirty="0"/>
              <a:t>собирается</a:t>
            </a:r>
            <a:r>
              <a:rPr spc="-100" dirty="0"/>
              <a:t> </a:t>
            </a:r>
            <a:r>
              <a:rPr dirty="0"/>
              <a:t>из</a:t>
            </a:r>
            <a:r>
              <a:rPr spc="-95" dirty="0"/>
              <a:t> </a:t>
            </a:r>
            <a:r>
              <a:rPr dirty="0"/>
              <a:t>истории</a:t>
            </a:r>
            <a:r>
              <a:rPr spc="-95" dirty="0"/>
              <a:t> </a:t>
            </a:r>
            <a:r>
              <a:rPr dirty="0"/>
              <a:t>взаимодействия</a:t>
            </a:r>
            <a:r>
              <a:rPr spc="-100" dirty="0"/>
              <a:t> </a:t>
            </a:r>
            <a:r>
              <a:rPr spc="-10" dirty="0"/>
              <a:t>пользователей</a:t>
            </a:r>
            <a:r>
              <a:rPr spc="-95" dirty="0"/>
              <a:t> </a:t>
            </a:r>
            <a:r>
              <a:rPr dirty="0"/>
              <a:t>с</a:t>
            </a:r>
            <a:r>
              <a:rPr spc="-95" dirty="0"/>
              <a:t> </a:t>
            </a:r>
            <a:r>
              <a:rPr dirty="0"/>
              <a:t>системой</a:t>
            </a:r>
            <a:r>
              <a:rPr dirty="0">
                <a:latin typeface="Georgia"/>
                <a:cs typeface="Georgia"/>
              </a:rPr>
              <a:t>.</a:t>
            </a:r>
            <a:r>
              <a:rPr spc="-70" dirty="0">
                <a:latin typeface="Georgia"/>
                <a:cs typeface="Georgia"/>
              </a:rPr>
              <a:t> </a:t>
            </a:r>
            <a:r>
              <a:rPr dirty="0"/>
              <a:t>Как</a:t>
            </a:r>
            <a:r>
              <a:rPr spc="-95" dirty="0"/>
              <a:t> </a:t>
            </a:r>
            <a:r>
              <a:rPr dirty="0"/>
              <a:t>правило</a:t>
            </a:r>
            <a:r>
              <a:rPr dirty="0">
                <a:latin typeface="Georgia"/>
                <a:cs typeface="Georgia"/>
              </a:rPr>
              <a:t>,</a:t>
            </a:r>
            <a:r>
              <a:rPr spc="-65" dirty="0">
                <a:latin typeface="Georgia"/>
                <a:cs typeface="Georgia"/>
              </a:rPr>
              <a:t> </a:t>
            </a:r>
            <a:r>
              <a:rPr dirty="0"/>
              <a:t>для</a:t>
            </a:r>
            <a:r>
              <a:rPr spc="-100" dirty="0"/>
              <a:t> </a:t>
            </a:r>
            <a:r>
              <a:rPr spc="-10" dirty="0"/>
              <a:t>оценки </a:t>
            </a:r>
            <a:r>
              <a:rPr dirty="0"/>
              <a:t>применяют</a:t>
            </a:r>
            <a:r>
              <a:rPr spc="-95" dirty="0"/>
              <a:t> </a:t>
            </a:r>
            <a:r>
              <a:rPr dirty="0"/>
              <a:t>те</a:t>
            </a:r>
            <a:r>
              <a:rPr spc="-95" dirty="0"/>
              <a:t> </a:t>
            </a:r>
            <a:r>
              <a:rPr dirty="0"/>
              <a:t>же</a:t>
            </a:r>
            <a:r>
              <a:rPr spc="-95" dirty="0"/>
              <a:t> </a:t>
            </a:r>
            <a:r>
              <a:rPr dirty="0"/>
              <a:t>метрики</a:t>
            </a:r>
            <a:r>
              <a:rPr dirty="0">
                <a:latin typeface="Georgia"/>
                <a:cs typeface="Georgia"/>
              </a:rPr>
              <a:t>,</a:t>
            </a:r>
            <a:r>
              <a:rPr spc="-60" dirty="0">
                <a:latin typeface="Georgia"/>
                <a:cs typeface="Georgia"/>
              </a:rPr>
              <a:t> </a:t>
            </a:r>
            <a:r>
              <a:rPr dirty="0"/>
              <a:t>что</a:t>
            </a:r>
            <a:r>
              <a:rPr spc="-95" dirty="0"/>
              <a:t> </a:t>
            </a:r>
            <a:r>
              <a:rPr dirty="0"/>
              <a:t>и</a:t>
            </a:r>
            <a:r>
              <a:rPr spc="-95" dirty="0"/>
              <a:t> </a:t>
            </a:r>
            <a:r>
              <a:rPr dirty="0"/>
              <a:t>для</a:t>
            </a:r>
            <a:r>
              <a:rPr spc="-90" dirty="0"/>
              <a:t> </a:t>
            </a:r>
            <a:r>
              <a:rPr dirty="0"/>
              <a:t>задач</a:t>
            </a:r>
            <a:r>
              <a:rPr spc="-95" dirty="0"/>
              <a:t> </a:t>
            </a:r>
            <a:r>
              <a:rPr dirty="0"/>
              <a:t>поиска</a:t>
            </a:r>
            <a:r>
              <a:rPr spc="-95" dirty="0"/>
              <a:t> </a:t>
            </a:r>
            <a:r>
              <a:rPr dirty="0"/>
              <a:t>и</a:t>
            </a:r>
            <a:r>
              <a:rPr spc="-90" dirty="0"/>
              <a:t> </a:t>
            </a:r>
            <a:r>
              <a:rPr spc="-20" dirty="0"/>
              <a:t>ранжирования</a:t>
            </a:r>
            <a:r>
              <a:rPr spc="-20" dirty="0">
                <a:latin typeface="Georgia"/>
                <a:cs typeface="Georgia"/>
              </a:rPr>
              <a:t>:</a:t>
            </a:r>
            <a:r>
              <a:rPr spc="-65" dirty="0">
                <a:latin typeface="Georgia"/>
                <a:cs typeface="Georgia"/>
              </a:rPr>
              <a:t> </a:t>
            </a:r>
            <a:r>
              <a:rPr spc="-75" dirty="0">
                <a:latin typeface="Georgia"/>
                <a:cs typeface="Georgia"/>
              </a:rPr>
              <a:t>MAP@K</a:t>
            </a:r>
            <a:r>
              <a:rPr spc="-6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(mean</a:t>
            </a:r>
            <a:r>
              <a:rPr spc="-65" dirty="0">
                <a:latin typeface="Georgia"/>
                <a:cs typeface="Georgia"/>
              </a:rPr>
              <a:t> </a:t>
            </a:r>
            <a:r>
              <a:rPr spc="-10" dirty="0">
                <a:latin typeface="Georgia"/>
                <a:cs typeface="Georgia"/>
              </a:rPr>
              <a:t>average </a:t>
            </a:r>
            <a:r>
              <a:rPr spc="45" dirty="0">
                <a:latin typeface="Georgia"/>
                <a:cs typeface="Georgia"/>
              </a:rPr>
              <a:t>precision</a:t>
            </a:r>
            <a:r>
              <a:rPr spc="-5" dirty="0">
                <a:latin typeface="Georgia"/>
                <a:cs typeface="Georgia"/>
              </a:rPr>
              <a:t> </a:t>
            </a:r>
            <a:r>
              <a:rPr spc="80" dirty="0">
                <a:latin typeface="Georgia"/>
                <a:cs typeface="Georgia"/>
              </a:rPr>
              <a:t>at</a:t>
            </a:r>
            <a:r>
              <a:rPr spc="-5" dirty="0">
                <a:latin typeface="Georgia"/>
                <a:cs typeface="Georgia"/>
              </a:rPr>
              <a:t> </a:t>
            </a:r>
            <a:r>
              <a:rPr spc="-10" dirty="0">
                <a:latin typeface="Georgia"/>
                <a:cs typeface="Georgia"/>
              </a:rPr>
              <a:t>K),</a:t>
            </a:r>
            <a:r>
              <a:rPr spc="-5" dirty="0">
                <a:latin typeface="Georgia"/>
                <a:cs typeface="Georgia"/>
              </a:rPr>
              <a:t> </a:t>
            </a:r>
            <a:r>
              <a:rPr spc="70" dirty="0">
                <a:latin typeface="Georgia"/>
                <a:cs typeface="Georgia"/>
              </a:rPr>
              <a:t>nDCG@K</a:t>
            </a:r>
            <a:r>
              <a:rPr spc="-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(normalized</a:t>
            </a:r>
            <a:r>
              <a:rPr spc="-5" dirty="0">
                <a:latin typeface="Georgia"/>
                <a:cs typeface="Georgia"/>
              </a:rPr>
              <a:t> </a:t>
            </a:r>
            <a:r>
              <a:rPr spc="75" dirty="0">
                <a:latin typeface="Georgia"/>
                <a:cs typeface="Georgia"/>
              </a:rPr>
              <a:t>discounted</a:t>
            </a:r>
            <a:r>
              <a:rPr spc="-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cumulative</a:t>
            </a:r>
            <a:r>
              <a:rPr spc="-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gain)</a:t>
            </a:r>
            <a:r>
              <a:rPr spc="-5" dirty="0">
                <a:latin typeface="Georgia"/>
                <a:cs typeface="Georgia"/>
              </a:rPr>
              <a:t> </a:t>
            </a:r>
            <a:r>
              <a:rPr dirty="0"/>
              <a:t>и</a:t>
            </a:r>
            <a:r>
              <a:rPr spc="-35" dirty="0"/>
              <a:t> </a:t>
            </a:r>
            <a:r>
              <a:rPr spc="-25" dirty="0"/>
              <a:t>тд</a:t>
            </a:r>
            <a:r>
              <a:rPr spc="-25" dirty="0">
                <a:latin typeface="Georgia"/>
                <a:cs typeface="Georgia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577080">
              <a:lnSpc>
                <a:spcPct val="100000"/>
              </a:lnSpc>
              <a:spcBef>
                <a:spcPts val="125"/>
              </a:spcBef>
            </a:pPr>
            <a:r>
              <a:rPr spc="345" dirty="0"/>
              <a:t>Oﬄine</a:t>
            </a:r>
            <a:r>
              <a:rPr spc="-710" dirty="0"/>
              <a:t> </a:t>
            </a:r>
            <a:r>
              <a:rPr spc="-30" dirty="0"/>
              <a:t>метрики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63853" y="9932614"/>
            <a:ext cx="12522200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Статья</a:t>
            </a:r>
            <a:r>
              <a:rPr sz="3600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</a:t>
            </a:r>
            <a:r>
              <a:rPr sz="3600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spc="6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habr</a:t>
            </a:r>
            <a:r>
              <a:rPr sz="3600" u="sng" spc="-4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</a:t>
            </a:r>
            <a:r>
              <a:rPr sz="3600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подробным</a:t>
            </a:r>
            <a:r>
              <a:rPr sz="3600" u="sng" spc="-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объяснением</a:t>
            </a:r>
            <a:r>
              <a:rPr sz="3600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метрик</a:t>
            </a:r>
            <a:r>
              <a:rPr sz="3600" u="sng" spc="-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ранжирования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5540" y="2660676"/>
            <a:ext cx="13083149" cy="38581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4015" y="2687352"/>
            <a:ext cx="17757775" cy="3113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ctr">
              <a:lnSpc>
                <a:spcPts val="8210"/>
              </a:lnSpc>
              <a:spcBef>
                <a:spcPts val="110"/>
              </a:spcBef>
            </a:pPr>
            <a:r>
              <a:rPr sz="6550" spc="-70" dirty="0"/>
              <a:t>Решение</a:t>
            </a:r>
            <a:r>
              <a:rPr sz="6550" spc="-635" dirty="0"/>
              <a:t> </a:t>
            </a:r>
            <a:r>
              <a:rPr sz="6550" spc="-110" dirty="0"/>
              <a:t>задачи</a:t>
            </a:r>
            <a:r>
              <a:rPr sz="6550" spc="-620" dirty="0"/>
              <a:t> </a:t>
            </a:r>
            <a:r>
              <a:rPr sz="6550" spc="-90" dirty="0"/>
              <a:t>рекомендации</a:t>
            </a:r>
            <a:r>
              <a:rPr sz="6550" spc="-625" dirty="0"/>
              <a:t> </a:t>
            </a:r>
            <a:r>
              <a:rPr sz="6550" spc="-60" dirty="0"/>
              <a:t>через</a:t>
            </a:r>
            <a:r>
              <a:rPr sz="6550" spc="-625" dirty="0"/>
              <a:t> </a:t>
            </a:r>
            <a:r>
              <a:rPr sz="6550" spc="-10" dirty="0"/>
              <a:t>матричные разложения.</a:t>
            </a:r>
            <a:endParaRPr sz="6550"/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6550" spc="-90" dirty="0"/>
              <a:t>Алгоритм</a:t>
            </a:r>
            <a:r>
              <a:rPr sz="6550" spc="-605" dirty="0"/>
              <a:t> </a:t>
            </a:r>
            <a:r>
              <a:rPr sz="6550" spc="-20" dirty="0"/>
              <a:t>ALS.</a:t>
            </a:r>
            <a:endParaRPr sz="65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48945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Матрица</a:t>
            </a:r>
            <a:r>
              <a:rPr spc="-650" dirty="0"/>
              <a:t> </a:t>
            </a:r>
            <a:r>
              <a:rPr spc="-70" dirty="0"/>
              <a:t>взаимодействий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3161" y="2189190"/>
            <a:ext cx="17551400" cy="13004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sz="3600" dirty="0">
                <a:latin typeface="Times New Roman"/>
                <a:cs typeface="Times New Roman"/>
              </a:rPr>
              <a:t>Так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как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матрица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взаимодействий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10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это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математический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объект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10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то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нему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применимы </a:t>
            </a:r>
            <a:r>
              <a:rPr sz="3600" dirty="0">
                <a:latin typeface="Times New Roman"/>
                <a:cs typeface="Times New Roman"/>
              </a:rPr>
              <a:t>математические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операции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разложения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5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а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также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поиск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взаимозависимых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строк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и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столбцов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6239" y="3932814"/>
            <a:ext cx="8385104" cy="62546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42464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Зависимости</a:t>
            </a:r>
            <a:r>
              <a:rPr spc="-615" dirty="0"/>
              <a:t> </a:t>
            </a:r>
            <a:r>
              <a:rPr spc="-65" dirty="0"/>
              <a:t>между</a:t>
            </a:r>
            <a:r>
              <a:rPr spc="-645" dirty="0"/>
              <a:t> </a:t>
            </a:r>
            <a:r>
              <a:rPr spc="-25" dirty="0"/>
              <a:t>строками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7106" y="2491642"/>
            <a:ext cx="15546106" cy="60792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FAFAF8"/>
          </a:fgClr>
          <a:bgClr>
            <a:srgbClr val="FAFAF8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3482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Зависимости</a:t>
            </a:r>
            <a:r>
              <a:rPr spc="-615" dirty="0"/>
              <a:t> </a:t>
            </a:r>
            <a:r>
              <a:rPr spc="-65" dirty="0"/>
              <a:t>между</a:t>
            </a:r>
            <a:r>
              <a:rPr spc="-645" dirty="0"/>
              <a:t> </a:t>
            </a:r>
            <a:r>
              <a:rPr spc="-50" dirty="0"/>
              <a:t>столбцами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7598" y="1801020"/>
            <a:ext cx="14191567" cy="819306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322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Линейные</a:t>
            </a:r>
            <a:r>
              <a:rPr spc="-655" dirty="0"/>
              <a:t> </a:t>
            </a:r>
            <a:r>
              <a:rPr spc="-95" dirty="0"/>
              <a:t>комбинации</a:t>
            </a:r>
            <a:r>
              <a:rPr spc="-630" dirty="0"/>
              <a:t> </a:t>
            </a:r>
            <a:r>
              <a:rPr spc="-55" dirty="0"/>
              <a:t>предпочтений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7961" y="2672565"/>
            <a:ext cx="16179426" cy="67314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3161" y="412070"/>
            <a:ext cx="16671290" cy="2931795"/>
          </a:xfrm>
          <a:prstGeom prst="rect">
            <a:avLst/>
          </a:prstGeom>
        </p:spPr>
        <p:txBody>
          <a:bodyPr vert="horz" wrap="square" lIns="0" tIns="448945" rIns="0" bIns="0" rtlCol="0">
            <a:spAutoFit/>
          </a:bodyPr>
          <a:lstStyle/>
          <a:p>
            <a:pPr marL="1728470">
              <a:lnSpc>
                <a:spcPct val="100000"/>
              </a:lnSpc>
              <a:spcBef>
                <a:spcPts val="3535"/>
              </a:spcBef>
            </a:pPr>
            <a:r>
              <a:rPr spc="-90" dirty="0"/>
              <a:t>Предсказания</a:t>
            </a:r>
            <a:r>
              <a:rPr spc="-665" dirty="0"/>
              <a:t> </a:t>
            </a:r>
            <a:r>
              <a:rPr spc="-35" dirty="0"/>
              <a:t>на</a:t>
            </a:r>
            <a:r>
              <a:rPr spc="-670" dirty="0"/>
              <a:t> </a:t>
            </a:r>
            <a:r>
              <a:rPr spc="-95" dirty="0"/>
              <a:t>основе</a:t>
            </a:r>
            <a:r>
              <a:rPr spc="-670" dirty="0"/>
              <a:t> </a:t>
            </a:r>
            <a:r>
              <a:rPr spc="-10" dirty="0"/>
              <a:t>соотношения</a:t>
            </a:r>
          </a:p>
          <a:p>
            <a:pPr marL="12700" marR="5080">
              <a:lnSpc>
                <a:spcPct val="116199"/>
              </a:lnSpc>
              <a:spcBef>
                <a:spcPts val="1125"/>
              </a:spcBef>
            </a:pPr>
            <a:r>
              <a:rPr sz="3600" b="0" dirty="0">
                <a:latin typeface="Times New Roman"/>
                <a:cs typeface="Times New Roman"/>
              </a:rPr>
              <a:t>Если</a:t>
            </a:r>
            <a:r>
              <a:rPr sz="3600" b="0" spc="-95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известно</a:t>
            </a:r>
            <a:r>
              <a:rPr sz="3600" b="0" dirty="0">
                <a:latin typeface="Georgia"/>
                <a:cs typeface="Georgia"/>
              </a:rPr>
              <a:t>,</a:t>
            </a:r>
            <a:r>
              <a:rPr sz="3600" b="0" spc="-60" dirty="0">
                <a:latin typeface="Georgia"/>
                <a:cs typeface="Georgia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какие</a:t>
            </a:r>
            <a:r>
              <a:rPr sz="3600" b="0" spc="-95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соотношения</a:t>
            </a:r>
            <a:r>
              <a:rPr sz="3600" b="0" spc="-95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между</a:t>
            </a:r>
            <a:r>
              <a:rPr sz="3600" b="0" spc="-90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строками</a:t>
            </a:r>
            <a:r>
              <a:rPr sz="3600" b="0" spc="-95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или</a:t>
            </a:r>
            <a:r>
              <a:rPr sz="3600" b="0" spc="-90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столбцами</a:t>
            </a:r>
            <a:r>
              <a:rPr sz="3600" b="0" dirty="0">
                <a:latin typeface="Georgia"/>
                <a:cs typeface="Georgia"/>
              </a:rPr>
              <a:t>,</a:t>
            </a:r>
            <a:r>
              <a:rPr sz="3600" b="0" spc="-60" dirty="0">
                <a:latin typeface="Georgia"/>
                <a:cs typeface="Georgia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то</a:t>
            </a:r>
            <a:r>
              <a:rPr sz="3600" b="0" spc="-95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можно</a:t>
            </a:r>
            <a:r>
              <a:rPr sz="3600" b="0" spc="-90" dirty="0">
                <a:latin typeface="Times New Roman"/>
                <a:cs typeface="Times New Roman"/>
              </a:rPr>
              <a:t> </a:t>
            </a:r>
            <a:r>
              <a:rPr sz="3600" b="0" spc="-10" dirty="0">
                <a:latin typeface="Times New Roman"/>
                <a:cs typeface="Times New Roman"/>
              </a:rPr>
              <a:t>делать </a:t>
            </a:r>
            <a:r>
              <a:rPr sz="3600" b="0" dirty="0">
                <a:latin typeface="Times New Roman"/>
                <a:cs typeface="Times New Roman"/>
              </a:rPr>
              <a:t>прогнозы</a:t>
            </a:r>
            <a:r>
              <a:rPr sz="3600" b="0" spc="-80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незаполненных</a:t>
            </a:r>
            <a:r>
              <a:rPr sz="3600" b="0" spc="-75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значений</a:t>
            </a:r>
            <a:r>
              <a:rPr sz="3600" b="0" spc="-70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на</a:t>
            </a:r>
            <a:r>
              <a:rPr sz="3600" b="0" spc="-80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основе</a:t>
            </a:r>
            <a:r>
              <a:rPr sz="3600" b="0" spc="-70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имеющейся</a:t>
            </a:r>
            <a:r>
              <a:rPr sz="3600" b="0" spc="-75" dirty="0">
                <a:latin typeface="Times New Roman"/>
                <a:cs typeface="Times New Roman"/>
              </a:rPr>
              <a:t> </a:t>
            </a:r>
            <a:r>
              <a:rPr sz="3600" b="0" spc="-10" dirty="0">
                <a:latin typeface="Times New Roman"/>
                <a:cs typeface="Times New Roman"/>
              </a:rPr>
              <a:t>информации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4998" y="3465863"/>
            <a:ext cx="17214104" cy="73223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8092" y="819379"/>
            <a:ext cx="17867630" cy="922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850" spc="-75" dirty="0"/>
              <a:t>Какие</a:t>
            </a:r>
            <a:r>
              <a:rPr sz="5850" spc="-540" dirty="0"/>
              <a:t> </a:t>
            </a:r>
            <a:r>
              <a:rPr sz="5850" spc="-65" dirty="0"/>
              <a:t>факторы</a:t>
            </a:r>
            <a:r>
              <a:rPr sz="5850" spc="-540" dirty="0"/>
              <a:t> </a:t>
            </a:r>
            <a:r>
              <a:rPr sz="5850" spc="-90" dirty="0"/>
              <a:t>формируют</a:t>
            </a:r>
            <a:r>
              <a:rPr sz="5850" spc="-535" dirty="0"/>
              <a:t> </a:t>
            </a:r>
            <a:r>
              <a:rPr sz="5850" spc="-95" dirty="0"/>
              <a:t>пользовательскую</a:t>
            </a:r>
            <a:r>
              <a:rPr sz="5850" spc="-555" dirty="0"/>
              <a:t> </a:t>
            </a:r>
            <a:r>
              <a:rPr sz="5850" spc="-10" dirty="0"/>
              <a:t>оценку</a:t>
            </a:r>
            <a:endParaRPr sz="58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8704" y="2111466"/>
            <a:ext cx="16241459" cy="81102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Математические</a:t>
            </a:r>
            <a:r>
              <a:rPr spc="-590" dirty="0"/>
              <a:t> </a:t>
            </a:r>
            <a:r>
              <a:rPr spc="-75" dirty="0"/>
              <a:t>допущения</a:t>
            </a:r>
            <a:r>
              <a:rPr spc="-600" dirty="0"/>
              <a:t> </a:t>
            </a:r>
            <a:r>
              <a:rPr spc="-25" dirty="0"/>
              <a:t>алгоритма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4822" y="2764967"/>
            <a:ext cx="15462920" cy="51669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82911" y="845493"/>
            <a:ext cx="913193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900" spc="-80" dirty="0"/>
              <a:t>Матричное</a:t>
            </a:r>
            <a:r>
              <a:rPr sz="6900" spc="-650" dirty="0"/>
              <a:t> </a:t>
            </a:r>
            <a:r>
              <a:rPr sz="6900" spc="-60" dirty="0"/>
              <a:t>разложение</a:t>
            </a:r>
            <a:endParaRPr sz="6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4647" y="2441847"/>
            <a:ext cx="15681268" cy="689975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04364">
              <a:lnSpc>
                <a:spcPct val="100000"/>
              </a:lnSpc>
              <a:spcBef>
                <a:spcPts val="125"/>
              </a:spcBef>
            </a:pPr>
            <a:r>
              <a:rPr sz="6900" spc="-160" dirty="0"/>
              <a:t>Результат</a:t>
            </a:r>
            <a:r>
              <a:rPr sz="6900" spc="-610" dirty="0"/>
              <a:t> </a:t>
            </a:r>
            <a:r>
              <a:rPr sz="6900" spc="-105" dirty="0"/>
              <a:t>матричного</a:t>
            </a:r>
            <a:r>
              <a:rPr sz="6900" spc="-630" dirty="0"/>
              <a:t> </a:t>
            </a:r>
            <a:r>
              <a:rPr sz="6900" spc="-40" dirty="0"/>
              <a:t>произведения</a:t>
            </a:r>
            <a:endParaRPr sz="6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300" y="1891191"/>
            <a:ext cx="11353497" cy="87409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55278" y="845493"/>
            <a:ext cx="679450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900" spc="-70" dirty="0"/>
              <a:t>Целевая</a:t>
            </a:r>
            <a:r>
              <a:rPr sz="6900" spc="-660" dirty="0"/>
              <a:t> </a:t>
            </a:r>
            <a:r>
              <a:rPr sz="6900" spc="-45" dirty="0"/>
              <a:t>матрица</a:t>
            </a:r>
            <a:endParaRPr sz="6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9266" y="1898105"/>
            <a:ext cx="14945565" cy="884650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940" y="3761121"/>
            <a:ext cx="13780769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900" spc="-85" dirty="0"/>
              <a:t>Как</a:t>
            </a:r>
            <a:r>
              <a:rPr sz="6900" spc="-670" dirty="0"/>
              <a:t> </a:t>
            </a:r>
            <a:r>
              <a:rPr sz="6900" spc="-80" dirty="0"/>
              <a:t>получить</a:t>
            </a:r>
            <a:r>
              <a:rPr sz="6900" spc="-685" dirty="0"/>
              <a:t> </a:t>
            </a:r>
            <a:r>
              <a:rPr sz="6900" spc="-80" dirty="0"/>
              <a:t>нужные</a:t>
            </a:r>
            <a:r>
              <a:rPr sz="6900" spc="-675" dirty="0"/>
              <a:t> </a:t>
            </a:r>
            <a:r>
              <a:rPr sz="6900" spc="-160" dirty="0"/>
              <a:t>разложения</a:t>
            </a:r>
            <a:r>
              <a:rPr sz="6900" b="0" spc="-160" dirty="0">
                <a:latin typeface="Arial Black"/>
                <a:cs typeface="Arial Black"/>
              </a:rPr>
              <a:t>?</a:t>
            </a:r>
            <a:endParaRPr sz="69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17015">
              <a:lnSpc>
                <a:spcPct val="100000"/>
              </a:lnSpc>
              <a:spcBef>
                <a:spcPts val="125"/>
              </a:spcBef>
            </a:pPr>
            <a:r>
              <a:rPr sz="6900" spc="-130" dirty="0"/>
              <a:t>Та</a:t>
            </a:r>
            <a:r>
              <a:rPr sz="6900" spc="-695" dirty="0"/>
              <a:t> </a:t>
            </a:r>
            <a:r>
              <a:rPr sz="6900" spc="-80" dirty="0"/>
              <a:t>же</a:t>
            </a:r>
            <a:r>
              <a:rPr sz="6900" spc="-690" dirty="0"/>
              <a:t> </a:t>
            </a:r>
            <a:r>
              <a:rPr sz="6900" spc="-50" dirty="0"/>
              <a:t>самая</a:t>
            </a:r>
            <a:r>
              <a:rPr sz="6900" spc="-695" dirty="0"/>
              <a:t> </a:t>
            </a:r>
            <a:r>
              <a:rPr sz="6900" spc="-180" dirty="0"/>
              <a:t>задача</a:t>
            </a:r>
            <a:r>
              <a:rPr sz="6900" b="0" spc="-180" dirty="0">
                <a:latin typeface="Arial Black"/>
                <a:cs typeface="Arial Black"/>
              </a:rPr>
              <a:t>,</a:t>
            </a:r>
            <a:r>
              <a:rPr sz="6900" b="0" spc="-1265" dirty="0">
                <a:latin typeface="Arial Black"/>
                <a:cs typeface="Arial Black"/>
              </a:rPr>
              <a:t> </a:t>
            </a:r>
            <a:r>
              <a:rPr sz="6900" spc="-110" dirty="0"/>
              <a:t>только</a:t>
            </a:r>
            <a:r>
              <a:rPr sz="6900" spc="-695" dirty="0"/>
              <a:t> </a:t>
            </a:r>
            <a:r>
              <a:rPr sz="6900" spc="-50" dirty="0"/>
              <a:t>для</a:t>
            </a:r>
            <a:r>
              <a:rPr sz="6900" spc="-695" dirty="0"/>
              <a:t> </a:t>
            </a:r>
            <a:r>
              <a:rPr sz="6900" spc="-10" dirty="0"/>
              <a:t>матриц</a:t>
            </a:r>
            <a:endParaRPr sz="690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4545" y="2095485"/>
            <a:ext cx="15602432" cy="877964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5233" y="777875"/>
            <a:ext cx="16773634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91410">
              <a:lnSpc>
                <a:spcPct val="100000"/>
              </a:lnSpc>
              <a:spcBef>
                <a:spcPts val="125"/>
              </a:spcBef>
            </a:pPr>
            <a:r>
              <a:rPr sz="6900" spc="-65" dirty="0"/>
              <a:t>Ищем</a:t>
            </a:r>
            <a:r>
              <a:rPr sz="6900" spc="-685" dirty="0"/>
              <a:t> </a:t>
            </a:r>
            <a:r>
              <a:rPr sz="6900" spc="-90" dirty="0"/>
              <a:t>матрицы</a:t>
            </a:r>
            <a:r>
              <a:rPr sz="6900" spc="-700" dirty="0"/>
              <a:t> </a:t>
            </a:r>
            <a:r>
              <a:rPr sz="6900" b="0" spc="-690" dirty="0">
                <a:latin typeface="Arial Black"/>
                <a:cs typeface="Arial Black"/>
              </a:rPr>
              <a:t>U</a:t>
            </a:r>
            <a:r>
              <a:rPr sz="6900" b="0" spc="-1270" dirty="0">
                <a:latin typeface="Arial Black"/>
                <a:cs typeface="Arial Black"/>
              </a:rPr>
              <a:t> </a:t>
            </a:r>
            <a:r>
              <a:rPr sz="6900" dirty="0"/>
              <a:t>и</a:t>
            </a:r>
            <a:r>
              <a:rPr sz="6900" spc="-690" dirty="0"/>
              <a:t> </a:t>
            </a:r>
            <a:r>
              <a:rPr sz="6900" b="0" spc="-325" dirty="0">
                <a:latin typeface="Arial Black"/>
                <a:cs typeface="Arial Black"/>
              </a:rPr>
              <a:t>I</a:t>
            </a:r>
            <a:r>
              <a:rPr sz="6900" b="0" spc="-1270" dirty="0">
                <a:latin typeface="Arial Black"/>
                <a:cs typeface="Arial Black"/>
              </a:rPr>
              <a:t> </a:t>
            </a:r>
            <a:r>
              <a:rPr sz="6900" spc="-120" dirty="0"/>
              <a:t>методом</a:t>
            </a:r>
            <a:r>
              <a:rPr sz="6900" spc="-700" dirty="0"/>
              <a:t> </a:t>
            </a:r>
            <a:r>
              <a:rPr sz="6900" b="0" spc="-665" dirty="0">
                <a:latin typeface="Arial Black"/>
                <a:cs typeface="Arial Black"/>
              </a:rPr>
              <a:t>ALS</a:t>
            </a:r>
            <a:endParaRPr sz="6900" dirty="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7250" y="2378075"/>
            <a:ext cx="16656197" cy="748299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89980">
              <a:lnSpc>
                <a:spcPct val="100000"/>
              </a:lnSpc>
              <a:spcBef>
                <a:spcPts val="125"/>
              </a:spcBef>
            </a:pPr>
            <a:r>
              <a:rPr sz="6900" spc="-55" dirty="0"/>
              <a:t>Сам</a:t>
            </a:r>
            <a:r>
              <a:rPr sz="6900" spc="-695" dirty="0"/>
              <a:t> </a:t>
            </a:r>
            <a:r>
              <a:rPr sz="6900" spc="-60" dirty="0"/>
              <a:t>алгоритм</a:t>
            </a:r>
            <a:endParaRPr sz="6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4384" y="2595594"/>
            <a:ext cx="16248279" cy="64902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10"/>
              </a:spcBef>
            </a:pPr>
            <a:r>
              <a:rPr sz="6500" spc="-75" dirty="0"/>
              <a:t>Как</a:t>
            </a:r>
            <a:r>
              <a:rPr sz="6500" spc="-640" dirty="0"/>
              <a:t> </a:t>
            </a:r>
            <a:r>
              <a:rPr sz="6500" spc="-105" dirty="0"/>
              <a:t>подобрать</a:t>
            </a:r>
            <a:r>
              <a:rPr sz="6500" spc="-650" dirty="0"/>
              <a:t> </a:t>
            </a:r>
            <a:r>
              <a:rPr sz="6500" spc="-65" dirty="0"/>
              <a:t>число</a:t>
            </a:r>
            <a:r>
              <a:rPr sz="6500" spc="-635" dirty="0"/>
              <a:t> </a:t>
            </a:r>
            <a:r>
              <a:rPr sz="6500" b="0" spc="-395" dirty="0">
                <a:latin typeface="Arial Black"/>
                <a:cs typeface="Arial Black"/>
              </a:rPr>
              <a:t>d</a:t>
            </a:r>
            <a:r>
              <a:rPr sz="6500" b="0" spc="-1185" dirty="0">
                <a:latin typeface="Arial Black"/>
                <a:cs typeface="Arial Black"/>
              </a:rPr>
              <a:t> </a:t>
            </a:r>
            <a:r>
              <a:rPr sz="6500" b="0" spc="225" dirty="0">
                <a:latin typeface="Arial Black"/>
                <a:cs typeface="Arial Black"/>
              </a:rPr>
              <a:t>–</a:t>
            </a:r>
            <a:r>
              <a:rPr sz="6500" b="0" spc="-1180" dirty="0">
                <a:latin typeface="Arial Black"/>
                <a:cs typeface="Arial Black"/>
              </a:rPr>
              <a:t> </a:t>
            </a:r>
            <a:r>
              <a:rPr sz="6500" spc="-75" dirty="0"/>
              <a:t>размерность</a:t>
            </a:r>
            <a:r>
              <a:rPr sz="6500" spc="-660" dirty="0"/>
              <a:t> </a:t>
            </a:r>
            <a:r>
              <a:rPr sz="6500" spc="-170" dirty="0"/>
              <a:t>признаков</a:t>
            </a:r>
            <a:r>
              <a:rPr sz="6500" b="0" spc="-170" dirty="0">
                <a:latin typeface="Arial Black"/>
                <a:cs typeface="Arial Black"/>
              </a:rPr>
              <a:t>?</a:t>
            </a:r>
            <a:endParaRPr sz="650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1364" y="3496337"/>
            <a:ext cx="16449244" cy="276793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6250" y="701675"/>
            <a:ext cx="17078436" cy="213968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Кросс</a:t>
            </a:r>
            <a:r>
              <a:rPr b="0" spc="-135" dirty="0">
                <a:latin typeface="Arial Black"/>
                <a:cs typeface="Arial Black"/>
              </a:rPr>
              <a:t>-</a:t>
            </a:r>
            <a:r>
              <a:rPr spc="-60" dirty="0"/>
              <a:t>валидация</a:t>
            </a:r>
            <a:r>
              <a:rPr spc="-550" dirty="0"/>
              <a:t> </a:t>
            </a:r>
            <a:r>
              <a:rPr spc="-50" dirty="0"/>
              <a:t>для</a:t>
            </a:r>
            <a:r>
              <a:rPr spc="-545" dirty="0"/>
              <a:t> </a:t>
            </a:r>
            <a:r>
              <a:rPr spc="-75" dirty="0"/>
              <a:t>поиска</a:t>
            </a:r>
            <a:r>
              <a:rPr spc="-550" dirty="0"/>
              <a:t> </a:t>
            </a:r>
            <a:r>
              <a:rPr spc="-80" dirty="0"/>
              <a:t>оптимального</a:t>
            </a:r>
            <a:r>
              <a:rPr spc="-540" dirty="0"/>
              <a:t> </a:t>
            </a:r>
            <a:r>
              <a:rPr spc="-10" dirty="0"/>
              <a:t>значения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2808" y="3521075"/>
            <a:ext cx="15778482" cy="720258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7237" y="5113972"/>
            <a:ext cx="842962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900" spc="-80" dirty="0"/>
              <a:t>Спасибо</a:t>
            </a:r>
            <a:r>
              <a:rPr sz="6900" spc="-700" dirty="0"/>
              <a:t> </a:t>
            </a:r>
            <a:r>
              <a:rPr sz="6900" spc="-35" dirty="0"/>
              <a:t>за</a:t>
            </a:r>
            <a:r>
              <a:rPr sz="6900" spc="-680" dirty="0"/>
              <a:t> </a:t>
            </a:r>
            <a:r>
              <a:rPr sz="6900" spc="-110" dirty="0"/>
              <a:t>внимание</a:t>
            </a:r>
            <a:r>
              <a:rPr sz="6900" b="0" spc="-110" dirty="0">
                <a:latin typeface="Arial Black"/>
                <a:cs typeface="Arial Black"/>
              </a:rPr>
              <a:t>!</a:t>
            </a:r>
            <a:endParaRPr sz="69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669</Words>
  <Application>Microsoft Office PowerPoint</Application>
  <PresentationFormat>Произвольный</PresentationFormat>
  <Paragraphs>65</Paragraphs>
  <Slides>29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5" baseType="lpstr">
      <vt:lpstr>Arial</vt:lpstr>
      <vt:lpstr>Arial Black</vt:lpstr>
      <vt:lpstr>Calibri</vt:lpstr>
      <vt:lpstr>Georgia</vt:lpstr>
      <vt:lpstr>Times New Roman</vt:lpstr>
      <vt:lpstr>Office Theme</vt:lpstr>
      <vt:lpstr>Презентация PowerPoint</vt:lpstr>
      <vt:lpstr>Рекомендательные системы</vt:lpstr>
      <vt:lpstr>Задачи рекомендательных систем</vt:lpstr>
      <vt:lpstr>Аспекты рекомендательных систем</vt:lpstr>
      <vt:lpstr>Классический пример Рекомендация музыки</vt:lpstr>
      <vt:lpstr>Виды рекомендательных систем</vt:lpstr>
      <vt:lpstr>Content-based &amp; Collaborative ﬁltering</vt:lpstr>
      <vt:lpstr>Классическая постановка задачи рекомендации</vt:lpstr>
      <vt:lpstr>Виды пользовательских фидбеков</vt:lpstr>
      <vt:lpstr>Метрики рекомендательных систем</vt:lpstr>
      <vt:lpstr>Oﬄine метрики</vt:lpstr>
      <vt:lpstr>Решение задачи рекомендации через матричные разложения. Алгоритм ALS.</vt:lpstr>
      <vt:lpstr>Матрица взаимодействий</vt:lpstr>
      <vt:lpstr>Зависимости между строками</vt:lpstr>
      <vt:lpstr>Зависимости между столбцами</vt:lpstr>
      <vt:lpstr>Линейные комбинации предпочтений</vt:lpstr>
      <vt:lpstr>Предсказания на основе соотношения Если известно, какие соотношения между строками или столбцами, то можно делать прогнозы незаполненных значений на основе имеющейся информации</vt:lpstr>
      <vt:lpstr>Какие факторы формируют пользовательскую оценку</vt:lpstr>
      <vt:lpstr>Математические допущения алгоритма</vt:lpstr>
      <vt:lpstr>Матричное разложение</vt:lpstr>
      <vt:lpstr>Результат матричного произведения</vt:lpstr>
      <vt:lpstr>Целевая матрица</vt:lpstr>
      <vt:lpstr>Как получить нужные разложения?</vt:lpstr>
      <vt:lpstr>Та же самая задача, только для матриц</vt:lpstr>
      <vt:lpstr>Ищем матрицы U и I методом ALS</vt:lpstr>
      <vt:lpstr>Сам алгоритм</vt:lpstr>
      <vt:lpstr>Как подобрать число d – размерность признаков?</vt:lpstr>
      <vt:lpstr>Кросс-валидация для поиска оптимального значения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Presentation7</dc:title>
  <cp:lastModifiedBy>Илья Толоконов</cp:lastModifiedBy>
  <cp:revision>1</cp:revision>
  <dcterms:created xsi:type="dcterms:W3CDTF">2025-11-08T06:54:50Z</dcterms:created>
  <dcterms:modified xsi:type="dcterms:W3CDTF">2026-05-11T09:25:03Z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2025-03-31T00:00:00Z</vt:filetime>
  </property>
  <property fmtid="{D5CDD505-2E9C-101B-9397-08002B2CF9AE}" pid="3" name="Creator">
    <vt:lpwstr>Keynote</vt:lpwstr>
  </property>
  <property fmtid="{D5CDD505-2E9C-101B-9397-08002B2CF9AE}" pid="4" name="LastSaved">
    <vt:filetime>2025-11-08T00:00:00Z</vt:filetime>
  </property>
  <property fmtid="{D5CDD505-2E9C-101B-9397-08002B2CF9AE}" pid="5" name="Producer">
    <vt:lpwstr>ABBYY FineReader PDF</vt:lpwstr>
  </property>
</Properties>
</file>