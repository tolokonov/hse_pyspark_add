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96" y="1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Илья Толоконов" userId="5d8833687a0f43b3" providerId="LiveId" clId="{5569BF33-C92B-4D40-A52A-48CBEFD8D4CF}"/>
    <pc:docChg chg="modSld">
      <pc:chgData name="Илья Толоконов" userId="5d8833687a0f43b3" providerId="LiveId" clId="{5569BF33-C92B-4D40-A52A-48CBEFD8D4CF}" dt="2026-05-11T09:27:58.017" v="32"/>
      <pc:docMkLst>
        <pc:docMk/>
      </pc:docMkLst>
      <pc:sldChg chg="setBg">
        <pc:chgData name="Илья Толоконов" userId="5d8833687a0f43b3" providerId="LiveId" clId="{5569BF33-C92B-4D40-A52A-48CBEFD8D4CF}" dt="2026-05-11T09:25:33.370" v="0"/>
        <pc:sldMkLst>
          <pc:docMk/>
          <pc:sldMk cId="0" sldId="258"/>
        </pc:sldMkLst>
      </pc:sldChg>
      <pc:sldChg chg="setBg">
        <pc:chgData name="Илья Толоконов" userId="5d8833687a0f43b3" providerId="LiveId" clId="{5569BF33-C92B-4D40-A52A-48CBEFD8D4CF}" dt="2026-05-11T09:25:37.919" v="1"/>
        <pc:sldMkLst>
          <pc:docMk/>
          <pc:sldMk cId="0" sldId="259"/>
        </pc:sldMkLst>
      </pc:sldChg>
      <pc:sldChg chg="setBg">
        <pc:chgData name="Илья Толоконов" userId="5d8833687a0f43b3" providerId="LiveId" clId="{5569BF33-C92B-4D40-A52A-48CBEFD8D4CF}" dt="2026-05-11T09:25:42.153" v="2"/>
        <pc:sldMkLst>
          <pc:docMk/>
          <pc:sldMk cId="0" sldId="260"/>
        </pc:sldMkLst>
      </pc:sldChg>
      <pc:sldChg chg="setBg">
        <pc:chgData name="Илья Толоконов" userId="5d8833687a0f43b3" providerId="LiveId" clId="{5569BF33-C92B-4D40-A52A-48CBEFD8D4CF}" dt="2026-05-11T09:25:46.335" v="3"/>
        <pc:sldMkLst>
          <pc:docMk/>
          <pc:sldMk cId="0" sldId="261"/>
        </pc:sldMkLst>
      </pc:sldChg>
      <pc:sldChg chg="setBg">
        <pc:chgData name="Илья Толоконов" userId="5d8833687a0f43b3" providerId="LiveId" clId="{5569BF33-C92B-4D40-A52A-48CBEFD8D4CF}" dt="2026-05-11T09:25:50.748" v="4"/>
        <pc:sldMkLst>
          <pc:docMk/>
          <pc:sldMk cId="0" sldId="262"/>
        </pc:sldMkLst>
      </pc:sldChg>
      <pc:sldChg chg="setBg">
        <pc:chgData name="Илья Толоконов" userId="5d8833687a0f43b3" providerId="LiveId" clId="{5569BF33-C92B-4D40-A52A-48CBEFD8D4CF}" dt="2026-05-11T09:25:55.864" v="5"/>
        <pc:sldMkLst>
          <pc:docMk/>
          <pc:sldMk cId="0" sldId="263"/>
        </pc:sldMkLst>
      </pc:sldChg>
      <pc:sldChg chg="setBg">
        <pc:chgData name="Илья Толоконов" userId="5d8833687a0f43b3" providerId="LiveId" clId="{5569BF33-C92B-4D40-A52A-48CBEFD8D4CF}" dt="2026-05-11T09:26:00.798" v="6"/>
        <pc:sldMkLst>
          <pc:docMk/>
          <pc:sldMk cId="0" sldId="264"/>
        </pc:sldMkLst>
      </pc:sldChg>
      <pc:sldChg chg="setBg">
        <pc:chgData name="Илья Толоконов" userId="5d8833687a0f43b3" providerId="LiveId" clId="{5569BF33-C92B-4D40-A52A-48CBEFD8D4CF}" dt="2026-05-11T09:26:05.602" v="7"/>
        <pc:sldMkLst>
          <pc:docMk/>
          <pc:sldMk cId="0" sldId="265"/>
        </pc:sldMkLst>
      </pc:sldChg>
      <pc:sldChg chg="setBg">
        <pc:chgData name="Илья Толоконов" userId="5d8833687a0f43b3" providerId="LiveId" clId="{5569BF33-C92B-4D40-A52A-48CBEFD8D4CF}" dt="2026-05-11T09:26:10.523" v="8"/>
        <pc:sldMkLst>
          <pc:docMk/>
          <pc:sldMk cId="0" sldId="266"/>
        </pc:sldMkLst>
      </pc:sldChg>
      <pc:sldChg chg="setBg">
        <pc:chgData name="Илья Толоконов" userId="5d8833687a0f43b3" providerId="LiveId" clId="{5569BF33-C92B-4D40-A52A-48CBEFD8D4CF}" dt="2026-05-11T09:26:14.994" v="9"/>
        <pc:sldMkLst>
          <pc:docMk/>
          <pc:sldMk cId="0" sldId="267"/>
        </pc:sldMkLst>
      </pc:sldChg>
      <pc:sldChg chg="setBg">
        <pc:chgData name="Илья Толоконов" userId="5d8833687a0f43b3" providerId="LiveId" clId="{5569BF33-C92B-4D40-A52A-48CBEFD8D4CF}" dt="2026-05-11T09:26:19.351" v="10"/>
        <pc:sldMkLst>
          <pc:docMk/>
          <pc:sldMk cId="0" sldId="268"/>
        </pc:sldMkLst>
      </pc:sldChg>
      <pc:sldChg chg="setBg">
        <pc:chgData name="Илья Толоконов" userId="5d8833687a0f43b3" providerId="LiveId" clId="{5569BF33-C92B-4D40-A52A-48CBEFD8D4CF}" dt="2026-05-11T09:26:24.623" v="11"/>
        <pc:sldMkLst>
          <pc:docMk/>
          <pc:sldMk cId="0" sldId="269"/>
        </pc:sldMkLst>
      </pc:sldChg>
      <pc:sldChg chg="setBg">
        <pc:chgData name="Илья Толоконов" userId="5d8833687a0f43b3" providerId="LiveId" clId="{5569BF33-C92B-4D40-A52A-48CBEFD8D4CF}" dt="2026-05-11T09:26:29.532" v="12"/>
        <pc:sldMkLst>
          <pc:docMk/>
          <pc:sldMk cId="0" sldId="270"/>
        </pc:sldMkLst>
      </pc:sldChg>
      <pc:sldChg chg="setBg">
        <pc:chgData name="Илья Толоконов" userId="5d8833687a0f43b3" providerId="LiveId" clId="{5569BF33-C92B-4D40-A52A-48CBEFD8D4CF}" dt="2026-05-11T09:26:33.902" v="13"/>
        <pc:sldMkLst>
          <pc:docMk/>
          <pc:sldMk cId="0" sldId="271"/>
        </pc:sldMkLst>
      </pc:sldChg>
      <pc:sldChg chg="setBg">
        <pc:chgData name="Илья Толоконов" userId="5d8833687a0f43b3" providerId="LiveId" clId="{5569BF33-C92B-4D40-A52A-48CBEFD8D4CF}" dt="2026-05-11T09:26:38.723" v="14"/>
        <pc:sldMkLst>
          <pc:docMk/>
          <pc:sldMk cId="0" sldId="272"/>
        </pc:sldMkLst>
      </pc:sldChg>
      <pc:sldChg chg="setBg">
        <pc:chgData name="Илья Толоконов" userId="5d8833687a0f43b3" providerId="LiveId" clId="{5569BF33-C92B-4D40-A52A-48CBEFD8D4CF}" dt="2026-05-11T09:26:43.511" v="15"/>
        <pc:sldMkLst>
          <pc:docMk/>
          <pc:sldMk cId="0" sldId="273"/>
        </pc:sldMkLst>
      </pc:sldChg>
      <pc:sldChg chg="setBg">
        <pc:chgData name="Илья Толоконов" userId="5d8833687a0f43b3" providerId="LiveId" clId="{5569BF33-C92B-4D40-A52A-48CBEFD8D4CF}" dt="2026-05-11T09:26:49.423" v="16"/>
        <pc:sldMkLst>
          <pc:docMk/>
          <pc:sldMk cId="0" sldId="274"/>
        </pc:sldMkLst>
      </pc:sldChg>
      <pc:sldChg chg="setBg">
        <pc:chgData name="Илья Толоконов" userId="5d8833687a0f43b3" providerId="LiveId" clId="{5569BF33-C92B-4D40-A52A-48CBEFD8D4CF}" dt="2026-05-11T09:26:54.054" v="17"/>
        <pc:sldMkLst>
          <pc:docMk/>
          <pc:sldMk cId="0" sldId="275"/>
        </pc:sldMkLst>
      </pc:sldChg>
      <pc:sldChg chg="setBg">
        <pc:chgData name="Илья Толоконов" userId="5d8833687a0f43b3" providerId="LiveId" clId="{5569BF33-C92B-4D40-A52A-48CBEFD8D4CF}" dt="2026-05-11T09:27:05.286" v="21"/>
        <pc:sldMkLst>
          <pc:docMk/>
          <pc:sldMk cId="0" sldId="276"/>
        </pc:sldMkLst>
      </pc:sldChg>
      <pc:sldChg chg="setBg">
        <pc:chgData name="Илья Толоконов" userId="5d8833687a0f43b3" providerId="LiveId" clId="{5569BF33-C92B-4D40-A52A-48CBEFD8D4CF}" dt="2026-05-11T09:27:09.347" v="22"/>
        <pc:sldMkLst>
          <pc:docMk/>
          <pc:sldMk cId="0" sldId="277"/>
        </pc:sldMkLst>
      </pc:sldChg>
      <pc:sldChg chg="setBg">
        <pc:chgData name="Илья Толоконов" userId="5d8833687a0f43b3" providerId="LiveId" clId="{5569BF33-C92B-4D40-A52A-48CBEFD8D4CF}" dt="2026-05-11T09:27:14.283" v="23"/>
        <pc:sldMkLst>
          <pc:docMk/>
          <pc:sldMk cId="0" sldId="278"/>
        </pc:sldMkLst>
      </pc:sldChg>
      <pc:sldChg chg="setBg">
        <pc:chgData name="Илья Толоконов" userId="5d8833687a0f43b3" providerId="LiveId" clId="{5569BF33-C92B-4D40-A52A-48CBEFD8D4CF}" dt="2026-05-11T09:27:18.284" v="24"/>
        <pc:sldMkLst>
          <pc:docMk/>
          <pc:sldMk cId="0" sldId="279"/>
        </pc:sldMkLst>
      </pc:sldChg>
      <pc:sldChg chg="setBg">
        <pc:chgData name="Илья Толоконов" userId="5d8833687a0f43b3" providerId="LiveId" clId="{5569BF33-C92B-4D40-A52A-48CBEFD8D4CF}" dt="2026-05-11T09:27:23.080" v="25"/>
        <pc:sldMkLst>
          <pc:docMk/>
          <pc:sldMk cId="0" sldId="280"/>
        </pc:sldMkLst>
      </pc:sldChg>
      <pc:sldChg chg="setBg">
        <pc:chgData name="Илья Толоконов" userId="5d8833687a0f43b3" providerId="LiveId" clId="{5569BF33-C92B-4D40-A52A-48CBEFD8D4CF}" dt="2026-05-11T09:27:28.041" v="26"/>
        <pc:sldMkLst>
          <pc:docMk/>
          <pc:sldMk cId="0" sldId="281"/>
        </pc:sldMkLst>
      </pc:sldChg>
      <pc:sldChg chg="setBg">
        <pc:chgData name="Илья Толоконов" userId="5d8833687a0f43b3" providerId="LiveId" clId="{5569BF33-C92B-4D40-A52A-48CBEFD8D4CF}" dt="2026-05-11T09:27:32.533" v="27"/>
        <pc:sldMkLst>
          <pc:docMk/>
          <pc:sldMk cId="0" sldId="282"/>
        </pc:sldMkLst>
      </pc:sldChg>
      <pc:sldChg chg="setBg">
        <pc:chgData name="Илья Толоконов" userId="5d8833687a0f43b3" providerId="LiveId" clId="{5569BF33-C92B-4D40-A52A-48CBEFD8D4CF}" dt="2026-05-11T09:27:36.318" v="28"/>
        <pc:sldMkLst>
          <pc:docMk/>
          <pc:sldMk cId="0" sldId="283"/>
        </pc:sldMkLst>
      </pc:sldChg>
      <pc:sldChg chg="setBg">
        <pc:chgData name="Илья Толоконов" userId="5d8833687a0f43b3" providerId="LiveId" clId="{5569BF33-C92B-4D40-A52A-48CBEFD8D4CF}" dt="2026-05-11T09:27:40.554" v="29"/>
        <pc:sldMkLst>
          <pc:docMk/>
          <pc:sldMk cId="0" sldId="284"/>
        </pc:sldMkLst>
      </pc:sldChg>
      <pc:sldChg chg="setBg">
        <pc:chgData name="Илья Толоконов" userId="5d8833687a0f43b3" providerId="LiveId" clId="{5569BF33-C92B-4D40-A52A-48CBEFD8D4CF}" dt="2026-05-11T09:27:45.281" v="30"/>
        <pc:sldMkLst>
          <pc:docMk/>
          <pc:sldMk cId="0" sldId="285"/>
        </pc:sldMkLst>
      </pc:sldChg>
      <pc:sldChg chg="setBg">
        <pc:chgData name="Илья Толоконов" userId="5d8833687a0f43b3" providerId="LiveId" clId="{5569BF33-C92B-4D40-A52A-48CBEFD8D4CF}" dt="2026-05-11T09:27:52.644" v="31"/>
        <pc:sldMkLst>
          <pc:docMk/>
          <pc:sldMk cId="0" sldId="286"/>
        </pc:sldMkLst>
      </pc:sldChg>
      <pc:sldChg chg="setBg">
        <pc:chgData name="Илья Толоконов" userId="5d8833687a0f43b3" providerId="LiveId" clId="{5569BF33-C92B-4D40-A52A-48CBEFD8D4CF}" dt="2026-05-11T09:27:58.017" v="32"/>
        <pc:sldMkLst>
          <pc:docMk/>
          <pc:sldMk cId="0" sldId="28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291968"/>
            <a:ext cx="8374549" cy="13525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3624" y="1791062"/>
            <a:ext cx="8498205" cy="1518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spark.ml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igdataschool.ru/wiki/dataframe" TargetMode="Externa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3081" y="1323735"/>
            <a:ext cx="5057140" cy="1076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6285" marR="5080" indent="-744220">
              <a:lnSpc>
                <a:spcPct val="114999"/>
              </a:lnSpc>
              <a:spcBef>
                <a:spcPts val="100"/>
              </a:spcBef>
            </a:pPr>
            <a:r>
              <a:rPr sz="3000" b="1" dirty="0">
                <a:latin typeface="Comic Sans MS"/>
                <a:cs typeface="Comic Sans MS"/>
              </a:rPr>
              <a:t>Промышленное</a:t>
            </a:r>
            <a:r>
              <a:rPr sz="3000" b="1" spc="-70" dirty="0">
                <a:latin typeface="Comic Sans MS"/>
                <a:cs typeface="Comic Sans MS"/>
              </a:rPr>
              <a:t> </a:t>
            </a:r>
            <a:r>
              <a:rPr sz="3000" b="1" spc="-10" dirty="0">
                <a:latin typeface="Comic Sans MS"/>
                <a:cs typeface="Comic Sans MS"/>
              </a:rPr>
              <a:t>машинное </a:t>
            </a:r>
            <a:r>
              <a:rPr sz="3000" b="1" dirty="0">
                <a:latin typeface="Comic Sans MS"/>
                <a:cs typeface="Comic Sans MS"/>
              </a:rPr>
              <a:t>обучение</a:t>
            </a:r>
            <a:r>
              <a:rPr sz="3000" b="1" spc="-35" dirty="0">
                <a:latin typeface="Comic Sans MS"/>
                <a:cs typeface="Comic Sans MS"/>
              </a:rPr>
              <a:t> </a:t>
            </a:r>
            <a:r>
              <a:rPr sz="3000" b="1" dirty="0">
                <a:latin typeface="Comic Sans MS"/>
                <a:cs typeface="Comic Sans MS"/>
              </a:rPr>
              <a:t>на</a:t>
            </a:r>
            <a:r>
              <a:rPr sz="3000" b="1" spc="-25" dirty="0">
                <a:latin typeface="Comic Sans MS"/>
                <a:cs typeface="Comic Sans MS"/>
              </a:rPr>
              <a:t> </a:t>
            </a:r>
            <a:r>
              <a:rPr sz="3000" b="1" spc="-10" dirty="0">
                <a:latin typeface="Comic Sans MS"/>
                <a:cs typeface="Comic Sans MS"/>
              </a:rPr>
              <a:t>Spark</a:t>
            </a:r>
            <a:endParaRPr sz="30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88297" y="2574282"/>
            <a:ext cx="52832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latin typeface="Comic Sans MS"/>
                <a:cs typeface="Comic Sans MS"/>
              </a:rPr>
              <a:t>Лекция</a:t>
            </a:r>
            <a:r>
              <a:rPr sz="2100" spc="-6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8:</a:t>
            </a:r>
            <a:r>
              <a:rPr sz="2100" spc="-5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Обработка</a:t>
            </a:r>
            <a:r>
              <a:rPr sz="2100" spc="-5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потоковых</a:t>
            </a:r>
            <a:r>
              <a:rPr sz="2100" spc="-55" dirty="0">
                <a:latin typeface="Comic Sans MS"/>
                <a:cs typeface="Comic Sans MS"/>
              </a:rPr>
              <a:t> </a:t>
            </a:r>
            <a:r>
              <a:rPr sz="2100" spc="-10" dirty="0">
                <a:latin typeface="Comic Sans MS"/>
                <a:cs typeface="Comic Sans MS"/>
              </a:rPr>
              <a:t>данных.</a:t>
            </a:r>
            <a:endParaRPr sz="2100">
              <a:latin typeface="Comic Sans MS"/>
              <a:cs typeface="Comic Sans MS"/>
            </a:endParaRPr>
          </a:p>
          <a:p>
            <a:pPr marL="1905" algn="ctr">
              <a:lnSpc>
                <a:spcPct val="100000"/>
              </a:lnSpc>
            </a:pPr>
            <a:r>
              <a:rPr sz="2100" dirty="0">
                <a:latin typeface="Comic Sans MS"/>
                <a:cs typeface="Comic Sans MS"/>
              </a:rPr>
              <a:t>Spark</a:t>
            </a:r>
            <a:r>
              <a:rPr sz="2100" spc="-85" dirty="0">
                <a:latin typeface="Comic Sans MS"/>
                <a:cs typeface="Comic Sans MS"/>
              </a:rPr>
              <a:t> </a:t>
            </a:r>
            <a:r>
              <a:rPr sz="2100" spc="-10" dirty="0">
                <a:latin typeface="Comic Sans MS"/>
                <a:cs typeface="Comic Sans MS"/>
              </a:rPr>
              <a:t>Streaming</a:t>
            </a:r>
            <a:endParaRPr sz="21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62207" y="4781550"/>
            <a:ext cx="113538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100" dirty="0">
                <a:latin typeface="Microsoft Sans Serif"/>
                <a:cs typeface="Microsoft Sans Serif"/>
              </a:rPr>
              <a:t>Толоконов Илья</a:t>
            </a:r>
            <a:endParaRPr sz="11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6432" rIns="0" bIns="0" rtlCol="0">
            <a:spAutoFit/>
          </a:bodyPr>
          <a:lstStyle/>
          <a:p>
            <a:pPr marL="2358390" marR="5080" indent="-2308225">
              <a:lnSpc>
                <a:spcPct val="100000"/>
              </a:lnSpc>
              <a:spcBef>
                <a:spcPts val="100"/>
              </a:spcBef>
            </a:pPr>
            <a:r>
              <a:rPr dirty="0"/>
              <a:t>08.</a:t>
            </a:r>
            <a:r>
              <a:rPr spc="-65" dirty="0"/>
              <a:t> </a:t>
            </a:r>
            <a:r>
              <a:rPr dirty="0"/>
              <a:t>Обработка</a:t>
            </a:r>
            <a:r>
              <a:rPr spc="-70" dirty="0"/>
              <a:t> </a:t>
            </a:r>
            <a:r>
              <a:rPr spc="-25" dirty="0"/>
              <a:t>потоковых</a:t>
            </a:r>
            <a:r>
              <a:rPr spc="-65" dirty="0"/>
              <a:t> </a:t>
            </a:r>
            <a:r>
              <a:rPr dirty="0"/>
              <a:t>данных.</a:t>
            </a:r>
            <a:r>
              <a:rPr spc="-60" dirty="0"/>
              <a:t> </a:t>
            </a:r>
            <a:r>
              <a:rPr dirty="0"/>
              <a:t>Structured</a:t>
            </a:r>
            <a:r>
              <a:rPr spc="-65" dirty="0"/>
              <a:t> </a:t>
            </a:r>
            <a:r>
              <a:rPr spc="-10" dirty="0"/>
              <a:t>Streaming </a:t>
            </a:r>
            <a:r>
              <a:rPr dirty="0"/>
              <a:t>и</a:t>
            </a:r>
            <a:r>
              <a:rPr spc="-35" dirty="0"/>
              <a:t> </a:t>
            </a:r>
            <a:r>
              <a:rPr dirty="0"/>
              <a:t>интеграция</a:t>
            </a:r>
            <a:r>
              <a:rPr spc="-25" dirty="0"/>
              <a:t> </a:t>
            </a:r>
            <a:r>
              <a:rPr dirty="0"/>
              <a:t>с </a:t>
            </a:r>
            <a:r>
              <a:rPr spc="-10" dirty="0">
                <a:solidFill>
                  <a:srgbClr val="0097A7"/>
                </a:solidFill>
                <a:hlinkClick r:id="rId2"/>
              </a:rPr>
              <a:t>spark.ml</a:t>
            </a:r>
            <a:r>
              <a:rPr spc="-10" dirty="0"/>
              <a:t>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839005"/>
            <a:ext cx="5238115" cy="2283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План:</a:t>
            </a:r>
            <a:endParaRPr sz="1800">
              <a:latin typeface="Times New Roman"/>
              <a:cs typeface="Times New Roman"/>
            </a:endParaRPr>
          </a:p>
          <a:p>
            <a:pPr marL="469265" indent="-399415">
              <a:lnSpc>
                <a:spcPct val="100000"/>
              </a:lnSpc>
              <a:spcBef>
                <a:spcPts val="1925"/>
              </a:spcBef>
              <a:buAutoNum type="arabicPeriod"/>
              <a:tabLst>
                <a:tab pos="469265" algn="l"/>
              </a:tabLst>
            </a:pP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Потоковые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данные,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где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их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искать.</a:t>
            </a:r>
            <a:endParaRPr sz="1800">
              <a:latin typeface="Times New Roman"/>
              <a:cs typeface="Times New Roman"/>
            </a:endParaRPr>
          </a:p>
          <a:p>
            <a:pPr marL="469265" indent="-399415">
              <a:lnSpc>
                <a:spcPct val="100000"/>
              </a:lnSpc>
              <a:spcBef>
                <a:spcPts val="1920"/>
              </a:spcBef>
              <a:buAutoNum type="arabicPeriod"/>
              <a:tabLst>
                <a:tab pos="469265" algn="l"/>
              </a:tabLst>
            </a:pP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Сценарии</a:t>
            </a:r>
            <a:r>
              <a:rPr sz="18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отказа.</a:t>
            </a:r>
            <a:r>
              <a:rPr sz="18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Обработка</a:t>
            </a:r>
            <a:r>
              <a:rPr sz="18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сценариев</a:t>
            </a:r>
            <a:r>
              <a:rPr sz="18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потери</a:t>
            </a:r>
            <a:endParaRPr sz="1800">
              <a:latin typeface="Times New Roman"/>
              <a:cs typeface="Times New Roman"/>
            </a:endParaRPr>
          </a:p>
          <a:p>
            <a:pPr marL="469265" indent="-399415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69265" algn="l"/>
              </a:tabLst>
            </a:pP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Лямбда-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архитектура.</a:t>
            </a:r>
            <a:endParaRPr sz="1800">
              <a:latin typeface="Times New Roman"/>
              <a:cs typeface="Times New Roman"/>
            </a:endParaRPr>
          </a:p>
          <a:p>
            <a:pPr marL="469265" indent="-399415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69265" algn="l"/>
              </a:tabLst>
            </a:pP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Spark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Streaming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&amp;</a:t>
            </a:r>
            <a:r>
              <a:rPr sz="18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DStream.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Structured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Streaming.</a:t>
            </a:r>
            <a:endParaRPr sz="1800">
              <a:latin typeface="Times New Roman"/>
              <a:cs typeface="Times New Roman"/>
            </a:endParaRPr>
          </a:p>
          <a:p>
            <a:pPr marL="469265" indent="-399415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69265" algn="l"/>
              </a:tabLst>
            </a:pP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Интеграция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с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spark.ml.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3195" y="2344201"/>
            <a:ext cx="50539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Потоковые</a:t>
            </a:r>
            <a:r>
              <a:rPr spc="-75" dirty="0"/>
              <a:t> </a:t>
            </a:r>
            <a:r>
              <a:rPr dirty="0"/>
              <a:t>данные</a:t>
            </a:r>
            <a:r>
              <a:rPr spc="-75" dirty="0"/>
              <a:t> </a:t>
            </a:r>
            <a:r>
              <a:rPr spc="-10" dirty="0"/>
              <a:t>где</a:t>
            </a:r>
            <a:r>
              <a:rPr spc="-75" dirty="0"/>
              <a:t> </a:t>
            </a:r>
            <a:r>
              <a:rPr dirty="0"/>
              <a:t>их</a:t>
            </a:r>
            <a:r>
              <a:rPr spc="-65" dirty="0"/>
              <a:t> </a:t>
            </a:r>
            <a:r>
              <a:rPr spc="-10" dirty="0"/>
              <a:t>искать.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455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Потоковые</a:t>
            </a:r>
            <a:r>
              <a:rPr spc="-75" dirty="0"/>
              <a:t> </a:t>
            </a:r>
            <a:r>
              <a:rPr dirty="0"/>
              <a:t>данные</a:t>
            </a:r>
            <a:r>
              <a:rPr spc="-75" dirty="0"/>
              <a:t> </a:t>
            </a:r>
            <a:r>
              <a:rPr spc="-10" dirty="0"/>
              <a:t>где</a:t>
            </a:r>
            <a:r>
              <a:rPr spc="-75" dirty="0"/>
              <a:t> </a:t>
            </a:r>
            <a:r>
              <a:rPr dirty="0"/>
              <a:t>их</a:t>
            </a:r>
            <a:r>
              <a:rPr spc="-65" dirty="0"/>
              <a:t> </a:t>
            </a:r>
            <a:r>
              <a:rPr spc="-10" dirty="0"/>
              <a:t>искать.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989131"/>
            <a:ext cx="489839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dirty="0">
                <a:latin typeface="Times New Roman"/>
                <a:cs typeface="Times New Roman"/>
              </a:rPr>
              <a:t>Датчики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IoT</a:t>
            </a:r>
            <a:endParaRPr sz="1800">
              <a:latin typeface="Times New Roman"/>
              <a:cs typeface="Times New Roman"/>
            </a:endParaRPr>
          </a:p>
          <a:p>
            <a:pPr marL="379095" indent="-366395">
              <a:lnSpc>
                <a:spcPct val="100000"/>
              </a:lnSpc>
              <a:buFont typeface="Microsoft Sans Serif"/>
              <a:buChar char="●"/>
              <a:tabLst>
                <a:tab pos="379095" algn="l"/>
              </a:tabLst>
            </a:pPr>
            <a:r>
              <a:rPr sz="1800" spc="-10" dirty="0">
                <a:latin typeface="Times New Roman"/>
                <a:cs typeface="Times New Roman"/>
              </a:rPr>
              <a:t>Журналы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серверов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и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логи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безопасности</a:t>
            </a:r>
            <a:endParaRPr sz="1800">
              <a:latin typeface="Times New Roman"/>
              <a:cs typeface="Times New Roman"/>
            </a:endParaRPr>
          </a:p>
          <a:p>
            <a:pPr marL="379095" indent="-366395">
              <a:lnSpc>
                <a:spcPct val="100000"/>
              </a:lnSpc>
              <a:buFont typeface="Microsoft Sans Serif"/>
              <a:buChar char="●"/>
              <a:tabLst>
                <a:tab pos="379095" algn="l"/>
              </a:tabLst>
            </a:pPr>
            <a:r>
              <a:rPr sz="1800" spc="-10" dirty="0">
                <a:latin typeface="Times New Roman"/>
                <a:cs typeface="Times New Roman"/>
              </a:rPr>
              <a:t>Реклама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в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режиме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реального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времени</a:t>
            </a:r>
            <a:endParaRPr sz="1800">
              <a:latin typeface="Times New Roman"/>
              <a:cs typeface="Times New Roman"/>
            </a:endParaRPr>
          </a:p>
          <a:p>
            <a:pPr marL="379095" marR="5080" indent="-367030">
              <a:lnSpc>
                <a:spcPct val="100000"/>
              </a:lnSpc>
              <a:buFont typeface="Microsoft Sans Serif"/>
              <a:buChar char="●"/>
              <a:tabLst>
                <a:tab pos="379095" algn="l"/>
              </a:tabLst>
            </a:pPr>
            <a:r>
              <a:rPr sz="1800" spc="-10" dirty="0">
                <a:latin typeface="Times New Roman"/>
                <a:cs typeface="Times New Roman"/>
              </a:rPr>
              <a:t>Передача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данных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из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приложений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и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веб-сайтов </a:t>
            </a:r>
            <a:r>
              <a:rPr sz="1800" dirty="0">
                <a:latin typeface="Times New Roman"/>
                <a:cs typeface="Times New Roman"/>
              </a:rPr>
              <a:t>по </a:t>
            </a:r>
            <a:r>
              <a:rPr sz="1800" spc="-10" dirty="0">
                <a:latin typeface="Times New Roman"/>
                <a:cs typeface="Times New Roman"/>
              </a:rPr>
              <a:t>кликам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35515" y="1017724"/>
            <a:ext cx="2831583" cy="37821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48642" y="2344201"/>
            <a:ext cx="26466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Сценарии</a:t>
            </a:r>
            <a:r>
              <a:rPr spc="-40" dirty="0"/>
              <a:t> </a:t>
            </a:r>
            <a:r>
              <a:rPr spc="-10" dirty="0"/>
              <a:t>отказа.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7286" y="1032563"/>
            <a:ext cx="7798498" cy="307837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707" rIns="0" bIns="0" rtlCol="0">
            <a:spAutoFit/>
          </a:bodyPr>
          <a:lstStyle/>
          <a:p>
            <a:pPr marL="125730">
              <a:lnSpc>
                <a:spcPct val="100000"/>
              </a:lnSpc>
              <a:spcBef>
                <a:spcPts val="100"/>
              </a:spcBef>
            </a:pPr>
            <a:r>
              <a:rPr dirty="0"/>
              <a:t>Отказ</a:t>
            </a:r>
            <a:r>
              <a:rPr spc="-55" dirty="0"/>
              <a:t> </a:t>
            </a:r>
            <a:r>
              <a:rPr dirty="0"/>
              <a:t>во</a:t>
            </a:r>
            <a:r>
              <a:rPr spc="-55" dirty="0"/>
              <a:t> </a:t>
            </a:r>
            <a:r>
              <a:rPr dirty="0"/>
              <a:t>время</a:t>
            </a:r>
            <a:r>
              <a:rPr spc="-55" dirty="0"/>
              <a:t> </a:t>
            </a:r>
            <a:r>
              <a:rPr spc="-10" dirty="0"/>
              <a:t>обработки.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725" y="1651556"/>
            <a:ext cx="7976350" cy="250326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5730" marR="5080">
              <a:lnSpc>
                <a:spcPct val="114999"/>
              </a:lnSpc>
              <a:spcBef>
                <a:spcPts val="100"/>
              </a:spcBef>
            </a:pPr>
            <a:r>
              <a:rPr dirty="0"/>
              <a:t>Отказ</a:t>
            </a:r>
            <a:r>
              <a:rPr spc="-65" dirty="0"/>
              <a:t> </a:t>
            </a:r>
            <a:r>
              <a:rPr dirty="0"/>
              <a:t>во</a:t>
            </a:r>
            <a:r>
              <a:rPr spc="-65" dirty="0"/>
              <a:t> </a:t>
            </a:r>
            <a:r>
              <a:rPr dirty="0"/>
              <a:t>время</a:t>
            </a:r>
            <a:r>
              <a:rPr spc="-70" dirty="0"/>
              <a:t> </a:t>
            </a:r>
            <a:r>
              <a:rPr dirty="0"/>
              <a:t>отправки</a:t>
            </a:r>
            <a:r>
              <a:rPr spc="-65" dirty="0"/>
              <a:t> </a:t>
            </a:r>
            <a:r>
              <a:rPr dirty="0"/>
              <a:t>ответа</a:t>
            </a:r>
            <a:r>
              <a:rPr spc="-70" dirty="0"/>
              <a:t> </a:t>
            </a:r>
            <a:r>
              <a:rPr dirty="0"/>
              <a:t>о</a:t>
            </a:r>
            <a:r>
              <a:rPr spc="-65" dirty="0"/>
              <a:t> </a:t>
            </a:r>
            <a:r>
              <a:rPr spc="-10" dirty="0"/>
              <a:t>результатах обработки.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0174" y="2344201"/>
            <a:ext cx="31000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Лямбда</a:t>
            </a:r>
            <a:r>
              <a:rPr spc="-160" dirty="0"/>
              <a:t> </a:t>
            </a:r>
            <a:r>
              <a:rPr spc="-10" dirty="0"/>
              <a:t>архитектура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1292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Лямбда-</a:t>
            </a:r>
            <a:r>
              <a:rPr spc="-10" dirty="0"/>
              <a:t>архитектура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5208"/>
            <a:ext cx="8360409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Архитектура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обработки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данных,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предназначенная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для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обработки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больших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объемов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данных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с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использованием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как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пакетных,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так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и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потоковых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методов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обработки.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Этот подход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к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архитектуре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пытается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сбалансировать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задержку,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пропускную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способность 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и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отказоустойчивость</a:t>
            </a:r>
            <a:r>
              <a:rPr sz="18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с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помощью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пакетной</a:t>
            </a:r>
            <a:r>
              <a:rPr sz="18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обработки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для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обеспечения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всестороннего</a:t>
            </a:r>
            <a:r>
              <a:rPr sz="1800" spc="5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и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точного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представления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пакетных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данных,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одновременно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используя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потоковую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обработку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в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реальном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времени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для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обеспечения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представления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онлайновых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данных.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287" y="645163"/>
            <a:ext cx="8271837" cy="38531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0284" y="2344201"/>
            <a:ext cx="41217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Spark</a:t>
            </a:r>
            <a:r>
              <a:rPr spc="-25" dirty="0"/>
              <a:t> </a:t>
            </a:r>
            <a:r>
              <a:rPr dirty="0"/>
              <a:t>Streaming</a:t>
            </a:r>
            <a:r>
              <a:rPr spc="-2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spc="-10" dirty="0"/>
              <a:t>DStream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/>
                <a:cs typeface="Times New Roman"/>
              </a:rPr>
              <a:t>Spark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Streaming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dirty="0"/>
              <a:t>это</a:t>
            </a:r>
            <a:r>
              <a:rPr spc="-25" dirty="0"/>
              <a:t> </a:t>
            </a:r>
            <a:r>
              <a:rPr spc="-10" dirty="0"/>
              <a:t>расширение</a:t>
            </a:r>
            <a:r>
              <a:rPr spc="-30" dirty="0"/>
              <a:t> </a:t>
            </a:r>
            <a:r>
              <a:rPr dirty="0"/>
              <a:t>основного</a:t>
            </a:r>
            <a:r>
              <a:rPr spc="-20" dirty="0"/>
              <a:t> </a:t>
            </a:r>
            <a:r>
              <a:rPr dirty="0"/>
              <a:t>API</a:t>
            </a:r>
            <a:r>
              <a:rPr spc="-25" dirty="0"/>
              <a:t> </a:t>
            </a:r>
            <a:r>
              <a:rPr dirty="0"/>
              <a:t>Spark,</a:t>
            </a:r>
            <a:r>
              <a:rPr spc="-25" dirty="0"/>
              <a:t> </a:t>
            </a:r>
            <a:r>
              <a:rPr spc="-10" dirty="0"/>
              <a:t>которое</a:t>
            </a:r>
            <a:r>
              <a:rPr spc="-25" dirty="0"/>
              <a:t> </a:t>
            </a:r>
            <a:r>
              <a:rPr spc="-10" dirty="0"/>
              <a:t>обеспечивает</a:t>
            </a:r>
            <a:r>
              <a:rPr spc="-25" dirty="0"/>
              <a:t> </a:t>
            </a:r>
            <a:r>
              <a:rPr spc="-10" dirty="0"/>
              <a:t>масштабируемую, высокопроизводительную</a:t>
            </a:r>
            <a:r>
              <a:rPr spc="-25" dirty="0"/>
              <a:t> </a:t>
            </a:r>
            <a:r>
              <a:rPr dirty="0"/>
              <a:t>и</a:t>
            </a:r>
            <a:r>
              <a:rPr spc="-20" dirty="0"/>
              <a:t> отказоустойчивую</a:t>
            </a:r>
            <a:r>
              <a:rPr spc="-25" dirty="0"/>
              <a:t> потоковую</a:t>
            </a:r>
            <a:r>
              <a:rPr spc="-20" dirty="0"/>
              <a:t> </a:t>
            </a:r>
            <a:r>
              <a:rPr spc="-10" dirty="0"/>
              <a:t>обработку</a:t>
            </a:r>
            <a:r>
              <a:rPr spc="-15" dirty="0"/>
              <a:t> </a:t>
            </a:r>
            <a:r>
              <a:rPr spc="-20" dirty="0"/>
              <a:t>потоков</a:t>
            </a:r>
            <a:r>
              <a:rPr spc="-25" dirty="0"/>
              <a:t> </a:t>
            </a:r>
            <a:r>
              <a:rPr dirty="0"/>
              <a:t>данных</a:t>
            </a:r>
            <a:r>
              <a:rPr spc="-15" dirty="0"/>
              <a:t> </a:t>
            </a:r>
            <a:r>
              <a:rPr dirty="0"/>
              <a:t>в</a:t>
            </a:r>
            <a:r>
              <a:rPr spc="-20" dirty="0"/>
              <a:t> </a:t>
            </a:r>
            <a:r>
              <a:rPr dirty="0"/>
              <a:t>реальном</a:t>
            </a:r>
            <a:r>
              <a:rPr spc="-25" dirty="0"/>
              <a:t> </a:t>
            </a:r>
            <a:r>
              <a:rPr spc="-10" dirty="0"/>
              <a:t>времени. </a:t>
            </a:r>
            <a:r>
              <a:rPr dirty="0"/>
              <a:t>Данные</a:t>
            </a:r>
            <a:r>
              <a:rPr spc="-45" dirty="0"/>
              <a:t> </a:t>
            </a:r>
            <a:r>
              <a:rPr dirty="0"/>
              <a:t>могут</a:t>
            </a:r>
            <a:r>
              <a:rPr spc="-35" dirty="0"/>
              <a:t> </a:t>
            </a:r>
            <a:r>
              <a:rPr dirty="0"/>
              <a:t>быть</a:t>
            </a:r>
            <a:r>
              <a:rPr spc="-40" dirty="0"/>
              <a:t> </a:t>
            </a:r>
            <a:r>
              <a:rPr dirty="0"/>
              <a:t>получены</a:t>
            </a:r>
            <a:r>
              <a:rPr spc="-45" dirty="0"/>
              <a:t> </a:t>
            </a:r>
            <a:r>
              <a:rPr dirty="0"/>
              <a:t>из</a:t>
            </a:r>
            <a:r>
              <a:rPr spc="-35" dirty="0"/>
              <a:t> </a:t>
            </a:r>
            <a:r>
              <a:rPr dirty="0"/>
              <a:t>многих</a:t>
            </a:r>
            <a:r>
              <a:rPr spc="-40" dirty="0"/>
              <a:t> </a:t>
            </a:r>
            <a:r>
              <a:rPr spc="-10" dirty="0"/>
              <a:t>источников,</a:t>
            </a:r>
            <a:r>
              <a:rPr spc="-35" dirty="0"/>
              <a:t> </a:t>
            </a:r>
            <a:r>
              <a:rPr dirty="0"/>
              <a:t>таких</a:t>
            </a:r>
            <a:r>
              <a:rPr spc="-35" dirty="0"/>
              <a:t> </a:t>
            </a:r>
            <a:r>
              <a:rPr dirty="0"/>
              <a:t>как</a:t>
            </a:r>
            <a:r>
              <a:rPr spc="-45" dirty="0"/>
              <a:t> </a:t>
            </a:r>
            <a:r>
              <a:rPr dirty="0"/>
              <a:t>Kafka,</a:t>
            </a:r>
            <a:r>
              <a:rPr spc="-35" dirty="0"/>
              <a:t> </a:t>
            </a:r>
            <a:r>
              <a:rPr dirty="0"/>
              <a:t>Kinesis</a:t>
            </a:r>
            <a:r>
              <a:rPr spc="-40" dirty="0"/>
              <a:t> </a:t>
            </a:r>
            <a:r>
              <a:rPr dirty="0"/>
              <a:t>или</a:t>
            </a:r>
            <a:r>
              <a:rPr spc="-45" dirty="0"/>
              <a:t> </a:t>
            </a:r>
            <a:r>
              <a:rPr spc="-10" dirty="0"/>
              <a:t>TCP-</a:t>
            </a:r>
            <a:r>
              <a:rPr dirty="0"/>
              <a:t>сокеты,</a:t>
            </a:r>
            <a:r>
              <a:rPr spc="-35" dirty="0"/>
              <a:t> </a:t>
            </a:r>
            <a:r>
              <a:rPr dirty="0"/>
              <a:t>и</a:t>
            </a:r>
            <a:r>
              <a:rPr spc="-40" dirty="0"/>
              <a:t> </a:t>
            </a:r>
            <a:r>
              <a:rPr dirty="0"/>
              <a:t>могут</a:t>
            </a:r>
            <a:r>
              <a:rPr spc="-40" dirty="0"/>
              <a:t> </a:t>
            </a:r>
            <a:r>
              <a:rPr spc="-20" dirty="0"/>
              <a:t>быть </a:t>
            </a:r>
            <a:r>
              <a:rPr spc="-10" dirty="0"/>
              <a:t>обработаны</a:t>
            </a:r>
            <a:r>
              <a:rPr spc="-35" dirty="0"/>
              <a:t> </a:t>
            </a:r>
            <a:r>
              <a:rPr dirty="0"/>
              <a:t>с</a:t>
            </a:r>
            <a:r>
              <a:rPr spc="-30" dirty="0"/>
              <a:t> </a:t>
            </a:r>
            <a:r>
              <a:rPr spc="-10" dirty="0"/>
              <a:t>помощью</a:t>
            </a:r>
            <a:r>
              <a:rPr spc="-35" dirty="0"/>
              <a:t> </a:t>
            </a:r>
            <a:r>
              <a:rPr dirty="0"/>
              <a:t>сложных</a:t>
            </a:r>
            <a:r>
              <a:rPr spc="-25" dirty="0"/>
              <a:t> </a:t>
            </a:r>
            <a:r>
              <a:rPr spc="-10" dirty="0"/>
              <a:t>алгоритмов,</a:t>
            </a:r>
            <a:r>
              <a:rPr spc="-30" dirty="0"/>
              <a:t> </a:t>
            </a:r>
            <a:r>
              <a:rPr dirty="0"/>
              <a:t>выраженных</a:t>
            </a:r>
            <a:r>
              <a:rPr spc="-25" dirty="0"/>
              <a:t> </a:t>
            </a:r>
            <a:r>
              <a:rPr dirty="0"/>
              <a:t>с</a:t>
            </a:r>
            <a:r>
              <a:rPr spc="-35" dirty="0"/>
              <a:t> </a:t>
            </a:r>
            <a:r>
              <a:rPr spc="-10" dirty="0"/>
              <a:t>помощью</a:t>
            </a:r>
            <a:r>
              <a:rPr spc="-30" dirty="0"/>
              <a:t> </a:t>
            </a:r>
            <a:r>
              <a:rPr spc="-10" dirty="0"/>
              <a:t>высокоуровневых</a:t>
            </a:r>
            <a:r>
              <a:rPr spc="-25" dirty="0"/>
              <a:t> </a:t>
            </a:r>
            <a:r>
              <a:rPr dirty="0"/>
              <a:t>функций,</a:t>
            </a:r>
            <a:r>
              <a:rPr spc="-30" dirty="0"/>
              <a:t> </a:t>
            </a:r>
            <a:r>
              <a:rPr dirty="0"/>
              <a:t>таких</a:t>
            </a:r>
            <a:r>
              <a:rPr spc="-25" dirty="0"/>
              <a:t> как </a:t>
            </a:r>
            <a:r>
              <a:rPr dirty="0"/>
              <a:t>map,</a:t>
            </a:r>
            <a:r>
              <a:rPr spc="-30" dirty="0"/>
              <a:t> </a:t>
            </a:r>
            <a:r>
              <a:rPr dirty="0"/>
              <a:t>reduce,</a:t>
            </a:r>
            <a:r>
              <a:rPr spc="-25" dirty="0"/>
              <a:t> </a:t>
            </a:r>
            <a:r>
              <a:rPr dirty="0"/>
              <a:t>join</a:t>
            </a:r>
            <a:r>
              <a:rPr spc="-30" dirty="0"/>
              <a:t> </a:t>
            </a:r>
            <a:r>
              <a:rPr dirty="0"/>
              <a:t>и</a:t>
            </a:r>
            <a:r>
              <a:rPr spc="-30" dirty="0"/>
              <a:t> </a:t>
            </a:r>
            <a:r>
              <a:rPr spc="-20" dirty="0"/>
              <a:t>window.</a:t>
            </a:r>
            <a:r>
              <a:rPr spc="-25" dirty="0"/>
              <a:t> </a:t>
            </a:r>
            <a:r>
              <a:rPr spc="-10" dirty="0"/>
              <a:t>Наконец,</a:t>
            </a:r>
            <a:r>
              <a:rPr spc="-30" dirty="0"/>
              <a:t> </a:t>
            </a:r>
            <a:r>
              <a:rPr spc="-10" dirty="0"/>
              <a:t>обработанные</a:t>
            </a:r>
            <a:r>
              <a:rPr spc="-30" dirty="0"/>
              <a:t> </a:t>
            </a:r>
            <a:r>
              <a:rPr dirty="0"/>
              <a:t>данные</a:t>
            </a:r>
            <a:r>
              <a:rPr spc="-35" dirty="0"/>
              <a:t> </a:t>
            </a:r>
            <a:r>
              <a:rPr dirty="0"/>
              <a:t>могут</a:t>
            </a:r>
            <a:r>
              <a:rPr spc="-25" dirty="0"/>
              <a:t> </a:t>
            </a:r>
            <a:r>
              <a:rPr dirty="0"/>
              <a:t>быть</a:t>
            </a:r>
            <a:r>
              <a:rPr spc="-30" dirty="0"/>
              <a:t> </a:t>
            </a:r>
            <a:r>
              <a:rPr dirty="0"/>
              <a:t>перенесены</a:t>
            </a:r>
            <a:r>
              <a:rPr spc="-35" dirty="0"/>
              <a:t> </a:t>
            </a:r>
            <a:r>
              <a:rPr dirty="0"/>
              <a:t>в</a:t>
            </a:r>
            <a:r>
              <a:rPr spc="-30" dirty="0"/>
              <a:t> </a:t>
            </a:r>
            <a:r>
              <a:rPr spc="-10" dirty="0"/>
              <a:t>файловые</a:t>
            </a:r>
            <a:r>
              <a:rPr spc="-30" dirty="0"/>
              <a:t> </a:t>
            </a:r>
            <a:r>
              <a:rPr dirty="0"/>
              <a:t>системы,</a:t>
            </a:r>
            <a:r>
              <a:rPr spc="-30" dirty="0"/>
              <a:t> </a:t>
            </a:r>
            <a:r>
              <a:rPr spc="-20" dirty="0"/>
              <a:t>базы </a:t>
            </a:r>
            <a:r>
              <a:rPr dirty="0"/>
              <a:t>данных</a:t>
            </a:r>
            <a:r>
              <a:rPr spc="-35" dirty="0"/>
              <a:t> </a:t>
            </a:r>
            <a:r>
              <a:rPr dirty="0"/>
              <a:t>и</a:t>
            </a:r>
            <a:r>
              <a:rPr spc="-40" dirty="0"/>
              <a:t> </a:t>
            </a:r>
            <a:r>
              <a:rPr dirty="0"/>
              <a:t>живые</a:t>
            </a:r>
            <a:r>
              <a:rPr spc="-40" dirty="0"/>
              <a:t> </a:t>
            </a:r>
            <a:r>
              <a:rPr spc="-10" dirty="0"/>
              <a:t>информационные</a:t>
            </a:r>
            <a:r>
              <a:rPr spc="-40" dirty="0"/>
              <a:t> </a:t>
            </a:r>
            <a:r>
              <a:rPr dirty="0"/>
              <a:t>панели.</a:t>
            </a:r>
            <a:r>
              <a:rPr spc="-35" dirty="0"/>
              <a:t> </a:t>
            </a:r>
            <a:r>
              <a:rPr dirty="0"/>
              <a:t>Фактически,</a:t>
            </a:r>
            <a:r>
              <a:rPr spc="-30" dirty="0"/>
              <a:t> </a:t>
            </a:r>
            <a:r>
              <a:rPr dirty="0"/>
              <a:t>вы</a:t>
            </a:r>
            <a:r>
              <a:rPr spc="-40" dirty="0"/>
              <a:t> </a:t>
            </a:r>
            <a:r>
              <a:rPr spc="-10" dirty="0"/>
              <a:t>можете</a:t>
            </a:r>
            <a:r>
              <a:rPr spc="-40" dirty="0"/>
              <a:t> </a:t>
            </a:r>
            <a:r>
              <a:rPr spc="-10" dirty="0"/>
              <a:t>применить</a:t>
            </a:r>
            <a:r>
              <a:rPr spc="-40" dirty="0"/>
              <a:t> </a:t>
            </a:r>
            <a:r>
              <a:rPr dirty="0"/>
              <a:t>алгоритмы</a:t>
            </a:r>
            <a:r>
              <a:rPr spc="-40" dirty="0"/>
              <a:t> </a:t>
            </a:r>
            <a:r>
              <a:rPr spc="-10" dirty="0"/>
              <a:t>машинного</a:t>
            </a:r>
            <a:r>
              <a:rPr spc="-30" dirty="0"/>
              <a:t> </a:t>
            </a:r>
            <a:r>
              <a:rPr spc="-10" dirty="0"/>
              <a:t>обучения </a:t>
            </a:r>
            <a:r>
              <a:rPr dirty="0"/>
              <a:t>Spark</a:t>
            </a:r>
            <a:r>
              <a:rPr spc="-35" dirty="0"/>
              <a:t> </a:t>
            </a:r>
            <a:r>
              <a:rPr dirty="0"/>
              <a:t>и</a:t>
            </a:r>
            <a:r>
              <a:rPr spc="-35" dirty="0"/>
              <a:t> </a:t>
            </a:r>
            <a:r>
              <a:rPr dirty="0"/>
              <a:t>обработки</a:t>
            </a:r>
            <a:r>
              <a:rPr spc="-35" dirty="0"/>
              <a:t> </a:t>
            </a:r>
            <a:r>
              <a:rPr dirty="0"/>
              <a:t>графов</a:t>
            </a:r>
            <a:r>
              <a:rPr spc="-35" dirty="0"/>
              <a:t> </a:t>
            </a:r>
            <a:r>
              <a:rPr dirty="0"/>
              <a:t>к</a:t>
            </a:r>
            <a:r>
              <a:rPr spc="-40" dirty="0"/>
              <a:t> </a:t>
            </a:r>
            <a:r>
              <a:rPr spc="-10" dirty="0"/>
              <a:t>потокам</a:t>
            </a:r>
            <a:r>
              <a:rPr spc="-35" dirty="0"/>
              <a:t> </a:t>
            </a:r>
            <a:r>
              <a:rPr spc="-10" dirty="0"/>
              <a:t>данных.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09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Spark</a:t>
            </a:r>
            <a:r>
              <a:rPr spc="-70" dirty="0"/>
              <a:t> </a:t>
            </a:r>
            <a:r>
              <a:rPr spc="-10" dirty="0"/>
              <a:t>Streaming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920063"/>
            <a:ext cx="8839200" cy="330338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09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Spark</a:t>
            </a:r>
            <a:r>
              <a:rPr spc="-70" dirty="0"/>
              <a:t> </a:t>
            </a:r>
            <a:r>
              <a:rPr spc="-10" dirty="0"/>
              <a:t>Streaming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7178" y="403154"/>
            <a:ext cx="6084787" cy="21080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4343" y="2837606"/>
            <a:ext cx="7223739" cy="183642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585488"/>
            <a:ext cx="8839199" cy="197251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09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Spark</a:t>
            </a:r>
            <a:r>
              <a:rPr spc="-70" dirty="0"/>
              <a:t> </a:t>
            </a:r>
            <a:r>
              <a:rPr spc="-10" dirty="0"/>
              <a:t>Streaming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135" marR="50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Дискретизированный</a:t>
            </a:r>
            <a:r>
              <a:rPr spc="-20" dirty="0"/>
              <a:t> </a:t>
            </a:r>
            <a:r>
              <a:rPr dirty="0"/>
              <a:t>поток</a:t>
            </a:r>
            <a:r>
              <a:rPr spc="-15" dirty="0"/>
              <a:t> </a:t>
            </a:r>
            <a:r>
              <a:rPr dirty="0"/>
              <a:t>или</a:t>
            </a:r>
            <a:r>
              <a:rPr spc="-15" dirty="0"/>
              <a:t> </a:t>
            </a:r>
            <a:r>
              <a:rPr b="1" spc="-10" dirty="0">
                <a:latin typeface="Times New Roman"/>
                <a:cs typeface="Times New Roman"/>
              </a:rPr>
              <a:t>DStream</a:t>
            </a:r>
            <a:r>
              <a:rPr spc="-10" dirty="0"/>
              <a:t>-</a:t>
            </a:r>
            <a:r>
              <a:rPr dirty="0"/>
              <a:t>это</a:t>
            </a:r>
            <a:r>
              <a:rPr spc="-15" dirty="0"/>
              <a:t> </a:t>
            </a:r>
            <a:r>
              <a:rPr spc="-10" dirty="0"/>
              <a:t>базовая</a:t>
            </a:r>
            <a:r>
              <a:rPr spc="-15" dirty="0"/>
              <a:t> </a:t>
            </a:r>
            <a:r>
              <a:rPr dirty="0"/>
              <a:t>абстракция,</a:t>
            </a:r>
            <a:r>
              <a:rPr spc="-10" dirty="0"/>
              <a:t> предоставляемая</a:t>
            </a:r>
            <a:r>
              <a:rPr spc="-20" dirty="0"/>
              <a:t> </a:t>
            </a:r>
            <a:r>
              <a:rPr dirty="0"/>
              <a:t>Spark</a:t>
            </a:r>
            <a:r>
              <a:rPr spc="-10" dirty="0"/>
              <a:t> </a:t>
            </a:r>
            <a:r>
              <a:rPr dirty="0"/>
              <a:t>Streaming.</a:t>
            </a:r>
            <a:r>
              <a:rPr spc="-10" dirty="0"/>
              <a:t> </a:t>
            </a:r>
            <a:r>
              <a:rPr spc="-25" dirty="0"/>
              <a:t>Он </a:t>
            </a:r>
            <a:r>
              <a:rPr spc="-10" dirty="0"/>
              <a:t>представляет</a:t>
            </a:r>
            <a:r>
              <a:rPr spc="-35" dirty="0"/>
              <a:t> </a:t>
            </a:r>
            <a:r>
              <a:rPr dirty="0"/>
              <a:t>собой</a:t>
            </a:r>
            <a:r>
              <a:rPr spc="-40" dirty="0"/>
              <a:t> </a:t>
            </a:r>
            <a:r>
              <a:rPr spc="-10" dirty="0"/>
              <a:t>непрерывный</a:t>
            </a:r>
            <a:r>
              <a:rPr spc="-35" dirty="0"/>
              <a:t> </a:t>
            </a:r>
            <a:r>
              <a:rPr dirty="0"/>
              <a:t>поток</a:t>
            </a:r>
            <a:r>
              <a:rPr spc="-40" dirty="0"/>
              <a:t> </a:t>
            </a:r>
            <a:r>
              <a:rPr dirty="0"/>
              <a:t>данных,</a:t>
            </a:r>
            <a:r>
              <a:rPr spc="-35" dirty="0"/>
              <a:t> </a:t>
            </a:r>
            <a:r>
              <a:rPr dirty="0"/>
              <a:t>либо</a:t>
            </a:r>
            <a:r>
              <a:rPr spc="-30" dirty="0"/>
              <a:t> </a:t>
            </a:r>
            <a:r>
              <a:rPr spc="-20" dirty="0"/>
              <a:t>входной</a:t>
            </a:r>
            <a:r>
              <a:rPr spc="-40" dirty="0"/>
              <a:t> </a:t>
            </a:r>
            <a:r>
              <a:rPr dirty="0"/>
              <a:t>поток</a:t>
            </a:r>
            <a:r>
              <a:rPr spc="-35" dirty="0"/>
              <a:t> </a:t>
            </a:r>
            <a:r>
              <a:rPr dirty="0"/>
              <a:t>данных,</a:t>
            </a:r>
            <a:r>
              <a:rPr spc="-35" dirty="0"/>
              <a:t> </a:t>
            </a:r>
            <a:r>
              <a:rPr spc="-10" dirty="0"/>
              <a:t>полученный</a:t>
            </a:r>
            <a:r>
              <a:rPr spc="-40" dirty="0"/>
              <a:t> </a:t>
            </a:r>
            <a:r>
              <a:rPr dirty="0"/>
              <a:t>из</a:t>
            </a:r>
            <a:r>
              <a:rPr spc="-35" dirty="0"/>
              <a:t> </a:t>
            </a:r>
            <a:r>
              <a:rPr spc="-10" dirty="0"/>
              <a:t>источника,</a:t>
            </a:r>
            <a:r>
              <a:rPr spc="-35" dirty="0"/>
              <a:t> </a:t>
            </a:r>
            <a:r>
              <a:rPr spc="-20" dirty="0"/>
              <a:t>либо </a:t>
            </a:r>
            <a:r>
              <a:rPr spc="-10" dirty="0"/>
              <a:t>обработанный</a:t>
            </a:r>
            <a:r>
              <a:rPr spc="-45" dirty="0"/>
              <a:t> </a:t>
            </a:r>
            <a:r>
              <a:rPr dirty="0"/>
              <a:t>поток</a:t>
            </a:r>
            <a:r>
              <a:rPr spc="-40" dirty="0"/>
              <a:t> </a:t>
            </a:r>
            <a:r>
              <a:rPr dirty="0"/>
              <a:t>данных,</a:t>
            </a:r>
            <a:r>
              <a:rPr spc="-35" dirty="0"/>
              <a:t> </a:t>
            </a:r>
            <a:r>
              <a:rPr spc="-10" dirty="0"/>
              <a:t>созданный</a:t>
            </a:r>
            <a:r>
              <a:rPr spc="-40" dirty="0"/>
              <a:t> </a:t>
            </a:r>
            <a:r>
              <a:rPr dirty="0"/>
              <a:t>путем</a:t>
            </a:r>
            <a:r>
              <a:rPr spc="-40" dirty="0"/>
              <a:t> </a:t>
            </a:r>
            <a:r>
              <a:rPr spc="-10" dirty="0"/>
              <a:t>преобразования</a:t>
            </a:r>
            <a:r>
              <a:rPr spc="-40" dirty="0"/>
              <a:t> </a:t>
            </a:r>
            <a:r>
              <a:rPr spc="-20" dirty="0"/>
              <a:t>входного</a:t>
            </a:r>
            <a:r>
              <a:rPr spc="-35" dirty="0"/>
              <a:t> </a:t>
            </a:r>
            <a:r>
              <a:rPr spc="-10" dirty="0"/>
              <a:t>потока.</a:t>
            </a:r>
            <a:r>
              <a:rPr spc="-35" dirty="0"/>
              <a:t> </a:t>
            </a:r>
            <a:r>
              <a:rPr dirty="0"/>
              <a:t>Внутренне</a:t>
            </a:r>
            <a:r>
              <a:rPr spc="-45" dirty="0"/>
              <a:t> </a:t>
            </a:r>
            <a:r>
              <a:rPr spc="-10" dirty="0"/>
              <a:t>DStream представлен</a:t>
            </a:r>
            <a:r>
              <a:rPr spc="-35" dirty="0"/>
              <a:t> </a:t>
            </a:r>
            <a:r>
              <a:rPr spc="-10" dirty="0"/>
              <a:t>непрерывной</a:t>
            </a:r>
            <a:r>
              <a:rPr spc="-30" dirty="0"/>
              <a:t> </a:t>
            </a:r>
            <a:r>
              <a:rPr dirty="0"/>
              <a:t>серией</a:t>
            </a:r>
            <a:r>
              <a:rPr spc="-30" dirty="0"/>
              <a:t> </a:t>
            </a:r>
            <a:r>
              <a:rPr dirty="0"/>
              <a:t>RDDS,</a:t>
            </a:r>
            <a:r>
              <a:rPr spc="-25" dirty="0"/>
              <a:t> </a:t>
            </a:r>
            <a:r>
              <a:rPr spc="-20" dirty="0"/>
              <a:t>которая</a:t>
            </a:r>
            <a:r>
              <a:rPr spc="-30" dirty="0"/>
              <a:t> </a:t>
            </a:r>
            <a:r>
              <a:rPr dirty="0"/>
              <a:t>является</a:t>
            </a:r>
            <a:r>
              <a:rPr spc="-30" dirty="0"/>
              <a:t> </a:t>
            </a:r>
            <a:r>
              <a:rPr spc="-10" dirty="0"/>
              <a:t>абстракцией</a:t>
            </a:r>
            <a:r>
              <a:rPr spc="-35" dirty="0"/>
              <a:t> </a:t>
            </a:r>
            <a:r>
              <a:rPr dirty="0"/>
              <a:t>Spark</a:t>
            </a:r>
            <a:r>
              <a:rPr spc="-25" dirty="0"/>
              <a:t> </a:t>
            </a:r>
            <a:r>
              <a:rPr spc="-10" dirty="0"/>
              <a:t>неизменяемого</a:t>
            </a:r>
            <a:r>
              <a:rPr spc="-25" dirty="0"/>
              <a:t> </a:t>
            </a:r>
            <a:r>
              <a:rPr spc="-10" dirty="0"/>
              <a:t>распределенного </a:t>
            </a:r>
            <a:r>
              <a:rPr dirty="0"/>
              <a:t>набора</a:t>
            </a:r>
            <a:r>
              <a:rPr spc="-35" dirty="0"/>
              <a:t> </a:t>
            </a:r>
            <a:r>
              <a:rPr dirty="0"/>
              <a:t>данных</a:t>
            </a:r>
            <a:r>
              <a:rPr spc="-30" dirty="0"/>
              <a:t> </a:t>
            </a:r>
            <a:r>
              <a:rPr spc="-10" dirty="0"/>
              <a:t>(подробнее</a:t>
            </a:r>
            <a:r>
              <a:rPr spc="-30" dirty="0"/>
              <a:t> </a:t>
            </a:r>
            <a:r>
              <a:rPr dirty="0"/>
              <a:t>см.</a:t>
            </a:r>
            <a:r>
              <a:rPr spc="-30" dirty="0"/>
              <a:t> </a:t>
            </a:r>
            <a:r>
              <a:rPr spc="-20" dirty="0"/>
              <a:t>Руководство</a:t>
            </a:r>
            <a:r>
              <a:rPr spc="-30" dirty="0"/>
              <a:t> </a:t>
            </a:r>
            <a:r>
              <a:rPr dirty="0"/>
              <a:t>по</a:t>
            </a:r>
            <a:r>
              <a:rPr spc="-25" dirty="0"/>
              <a:t> </a:t>
            </a:r>
            <a:r>
              <a:rPr spc="-10" dirty="0"/>
              <a:t>программированию</a:t>
            </a:r>
            <a:r>
              <a:rPr spc="-35" dirty="0"/>
              <a:t> </a:t>
            </a:r>
            <a:r>
              <a:rPr dirty="0"/>
              <a:t>Spark).</a:t>
            </a:r>
            <a:r>
              <a:rPr spc="-30" dirty="0"/>
              <a:t> </a:t>
            </a:r>
            <a:r>
              <a:rPr dirty="0"/>
              <a:t>Каждый</a:t>
            </a:r>
            <a:r>
              <a:rPr spc="-30" dirty="0"/>
              <a:t> </a:t>
            </a:r>
            <a:r>
              <a:rPr dirty="0"/>
              <a:t>RDD</a:t>
            </a:r>
            <a:r>
              <a:rPr spc="-35" dirty="0"/>
              <a:t> </a:t>
            </a:r>
            <a:r>
              <a:rPr dirty="0"/>
              <a:t>в</a:t>
            </a:r>
            <a:r>
              <a:rPr spc="-30" dirty="0"/>
              <a:t> </a:t>
            </a:r>
            <a:r>
              <a:rPr spc="-10" dirty="0"/>
              <a:t>потоке</a:t>
            </a:r>
            <a:r>
              <a:rPr spc="-35" dirty="0"/>
              <a:t> </a:t>
            </a:r>
            <a:r>
              <a:rPr spc="-10" dirty="0"/>
              <a:t>содержит </a:t>
            </a:r>
            <a:r>
              <a:rPr dirty="0"/>
              <a:t>данные</a:t>
            </a:r>
            <a:r>
              <a:rPr spc="-45" dirty="0"/>
              <a:t> </a:t>
            </a:r>
            <a:r>
              <a:rPr dirty="0"/>
              <a:t>с</a:t>
            </a:r>
            <a:r>
              <a:rPr spc="-40" dirty="0"/>
              <a:t> </a:t>
            </a:r>
            <a:r>
              <a:rPr spc="-10" dirty="0"/>
              <a:t>определенного</a:t>
            </a:r>
            <a:r>
              <a:rPr spc="-35" dirty="0"/>
              <a:t> </a:t>
            </a:r>
            <a:r>
              <a:rPr spc="-10" dirty="0"/>
              <a:t>интервала,</a:t>
            </a:r>
            <a:r>
              <a:rPr spc="-35" dirty="0"/>
              <a:t> </a:t>
            </a:r>
            <a:r>
              <a:rPr dirty="0"/>
              <a:t>как</a:t>
            </a:r>
            <a:r>
              <a:rPr spc="-40" dirty="0"/>
              <a:t> </a:t>
            </a:r>
            <a:r>
              <a:rPr dirty="0"/>
              <a:t>показано</a:t>
            </a:r>
            <a:r>
              <a:rPr spc="-35" dirty="0"/>
              <a:t> </a:t>
            </a:r>
            <a:r>
              <a:rPr dirty="0"/>
              <a:t>на</a:t>
            </a:r>
            <a:r>
              <a:rPr spc="-40" dirty="0"/>
              <a:t> </a:t>
            </a:r>
            <a:r>
              <a:rPr spc="-10" dirty="0"/>
              <a:t>следующем</a:t>
            </a:r>
            <a:r>
              <a:rPr spc="-40" dirty="0"/>
              <a:t> </a:t>
            </a:r>
            <a:r>
              <a:rPr spc="-10" dirty="0"/>
              <a:t>рисунке.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500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DStream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80025"/>
            <a:ext cx="338327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Microsoft Sans Serif"/>
                <a:cs typeface="Microsoft Sans Serif"/>
              </a:rPr>
              <a:t>Fault</a:t>
            </a:r>
            <a:r>
              <a:rPr spc="-9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tolerance</a:t>
            </a:r>
            <a:r>
              <a:rPr spc="-90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levels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8174" y="1382047"/>
            <a:ext cx="7994650" cy="34023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У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любой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системы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передачи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данных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существуют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свои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уровни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надёжности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доставки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данных: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 marR="222885" indent="-351790">
              <a:lnSpc>
                <a:spcPct val="100000"/>
              </a:lnSpc>
              <a:buClr>
                <a:srgbClr val="595959"/>
              </a:buClr>
              <a:buSzPct val="94117"/>
              <a:buFont typeface="Arial"/>
              <a:buChar char="●"/>
              <a:tabLst>
                <a:tab pos="469900" algn="l"/>
              </a:tabLst>
            </a:pPr>
            <a:r>
              <a:rPr sz="1700" b="1" spc="-10" dirty="0">
                <a:solidFill>
                  <a:srgbClr val="0C0D0D"/>
                </a:solidFill>
                <a:latin typeface="Times New Roman"/>
                <a:cs typeface="Times New Roman"/>
              </a:rPr>
              <a:t>At-most-</a:t>
            </a:r>
            <a:r>
              <a:rPr sz="1700" b="1" dirty="0">
                <a:solidFill>
                  <a:srgbClr val="0C0D0D"/>
                </a:solidFill>
                <a:latin typeface="Times New Roman"/>
                <a:cs typeface="Times New Roman"/>
              </a:rPr>
              <a:t>once</a:t>
            </a:r>
            <a:r>
              <a:rPr sz="1700" b="1" spc="-2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0C0D0D"/>
                </a:solidFill>
                <a:latin typeface="Times New Roman"/>
                <a:cs typeface="Times New Roman"/>
              </a:rPr>
              <a:t>delivery</a:t>
            </a:r>
            <a:r>
              <a:rPr sz="1700" b="1" spc="-5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–</a:t>
            </a:r>
            <a:r>
              <a:rPr sz="1600" spc="34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самый</a:t>
            </a:r>
            <a:r>
              <a:rPr sz="1600" spc="-3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низкий</a:t>
            </a:r>
            <a:r>
              <a:rPr sz="1600" spc="-30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уровень</a:t>
            </a:r>
            <a:r>
              <a:rPr sz="1600" spc="-3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надёжности,</a:t>
            </a:r>
            <a:r>
              <a:rPr sz="1600" spc="-30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0C0D0D"/>
                </a:solidFill>
                <a:latin typeface="Times New Roman"/>
                <a:cs typeface="Times New Roman"/>
              </a:rPr>
              <a:t>который</a:t>
            </a:r>
            <a:r>
              <a:rPr sz="1600" spc="-30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C0D0D"/>
                </a:solidFill>
                <a:latin typeface="Times New Roman"/>
                <a:cs typeface="Times New Roman"/>
              </a:rPr>
              <a:t>гарантирует,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что</a:t>
            </a:r>
            <a:r>
              <a:rPr sz="1600" spc="-50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0C0D0D"/>
                </a:solidFill>
                <a:latin typeface="Times New Roman"/>
                <a:cs typeface="Times New Roman"/>
              </a:rPr>
              <a:t>будет</a:t>
            </a:r>
            <a:r>
              <a:rPr sz="1600" spc="-4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C0D0D"/>
                </a:solidFill>
                <a:latin typeface="Times New Roman"/>
                <a:cs typeface="Times New Roman"/>
              </a:rPr>
              <a:t>произведено</a:t>
            </a:r>
            <a:r>
              <a:rPr sz="1600" spc="-4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не</a:t>
            </a:r>
            <a:r>
              <a:rPr sz="1600" spc="-50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более</a:t>
            </a:r>
            <a:r>
              <a:rPr sz="1600" spc="-50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одной</a:t>
            </a:r>
            <a:r>
              <a:rPr sz="1600" spc="-50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доставки</a:t>
            </a:r>
            <a:r>
              <a:rPr sz="1600" spc="-50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данных,</a:t>
            </a:r>
            <a:r>
              <a:rPr sz="1600" spc="-4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может</a:t>
            </a:r>
            <a:r>
              <a:rPr sz="1600" spc="-4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C0D0D"/>
                </a:solidFill>
                <a:latin typeface="Times New Roman"/>
                <a:cs typeface="Times New Roman"/>
              </a:rPr>
              <a:t>приводить</a:t>
            </a:r>
            <a:r>
              <a:rPr sz="1600" spc="-50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к</a:t>
            </a:r>
            <a:r>
              <a:rPr sz="1600" spc="-50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C0D0D"/>
                </a:solidFill>
                <a:latin typeface="Times New Roman"/>
                <a:cs typeface="Times New Roman"/>
              </a:rPr>
              <a:t>потере данных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595959"/>
              </a:buClr>
              <a:buFont typeface="Arial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469900" marR="221615" indent="-351790" algn="just">
              <a:lnSpc>
                <a:spcPct val="100000"/>
              </a:lnSpc>
              <a:buSzPct val="94117"/>
              <a:buFont typeface="Arial"/>
              <a:buChar char="●"/>
              <a:tabLst>
                <a:tab pos="469900" algn="l"/>
                <a:tab pos="471805" algn="l"/>
              </a:tabLst>
            </a:pPr>
            <a:r>
              <a:rPr sz="1700" b="1" dirty="0">
                <a:solidFill>
                  <a:srgbClr val="595959"/>
                </a:solidFill>
                <a:latin typeface="Times New Roman"/>
                <a:cs typeface="Times New Roman"/>
              </a:rPr>
              <a:t>	</a:t>
            </a:r>
            <a:r>
              <a:rPr sz="1700" b="1" spc="-10" dirty="0">
                <a:latin typeface="Times New Roman"/>
                <a:cs typeface="Times New Roman"/>
              </a:rPr>
              <a:t>At-least-</a:t>
            </a:r>
            <a:r>
              <a:rPr sz="1700" b="1" dirty="0">
                <a:latin typeface="Times New Roman"/>
                <a:cs typeface="Times New Roman"/>
              </a:rPr>
              <a:t>once</a:t>
            </a:r>
            <a:r>
              <a:rPr sz="1700" b="1" spc="-3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delivery</a:t>
            </a:r>
            <a:r>
              <a:rPr sz="1700" b="1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–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более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высокий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уровень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надёжности,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который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гарантирует, </a:t>
            </a:r>
            <a:r>
              <a:rPr sz="1600" dirty="0">
                <a:latin typeface="Times New Roman"/>
                <a:cs typeface="Times New Roman"/>
              </a:rPr>
              <a:t>что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будет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произведена,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как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минимум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одна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доставка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данных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будет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выполнена,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может приводить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к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дубляжу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данных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на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стороне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приёмника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45"/>
              </a:spcBef>
              <a:buClr>
                <a:srgbClr val="595959"/>
              </a:buClr>
              <a:buFont typeface="Arial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469900" marR="140970" indent="-351790">
              <a:lnSpc>
                <a:spcPct val="115100"/>
              </a:lnSpc>
              <a:buChar char="●"/>
              <a:tabLst>
                <a:tab pos="469900" algn="l"/>
                <a:tab pos="523240" algn="l"/>
              </a:tabLst>
            </a:pP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sz="1700" b="1" spc="-10" dirty="0">
                <a:solidFill>
                  <a:srgbClr val="0C0D0D"/>
                </a:solidFill>
                <a:latin typeface="Times New Roman"/>
                <a:cs typeface="Times New Roman"/>
              </a:rPr>
              <a:t>Exactly-</a:t>
            </a:r>
            <a:r>
              <a:rPr sz="1700" b="1" dirty="0">
                <a:solidFill>
                  <a:srgbClr val="0C0D0D"/>
                </a:solidFill>
                <a:latin typeface="Times New Roman"/>
                <a:cs typeface="Times New Roman"/>
              </a:rPr>
              <a:t>once</a:t>
            </a:r>
            <a:r>
              <a:rPr sz="1700" b="1" spc="-30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0C0D0D"/>
                </a:solidFill>
                <a:latin typeface="Times New Roman"/>
                <a:cs typeface="Times New Roman"/>
              </a:rPr>
              <a:t>delivery</a:t>
            </a:r>
            <a:r>
              <a:rPr sz="1700" b="1" spc="-60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–</a:t>
            </a:r>
            <a:r>
              <a:rPr sz="1600" spc="-3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самый</a:t>
            </a:r>
            <a:r>
              <a:rPr sz="1600" spc="-40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высокий</a:t>
            </a:r>
            <a:r>
              <a:rPr sz="1600" spc="-3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уровень</a:t>
            </a:r>
            <a:r>
              <a:rPr sz="1600" spc="-40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надёжности,</a:t>
            </a:r>
            <a:r>
              <a:rPr sz="1600" spc="-30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0C0D0D"/>
                </a:solidFill>
                <a:latin typeface="Times New Roman"/>
                <a:cs typeface="Times New Roman"/>
              </a:rPr>
              <a:t>который</a:t>
            </a:r>
            <a:r>
              <a:rPr sz="1600" spc="-40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C0D0D"/>
                </a:solidFill>
                <a:latin typeface="Times New Roman"/>
                <a:cs typeface="Times New Roman"/>
              </a:rPr>
              <a:t>гарантирует,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что</a:t>
            </a:r>
            <a:r>
              <a:rPr sz="1600" spc="-4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данных</a:t>
            </a:r>
            <a:r>
              <a:rPr sz="1600" spc="-4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не</a:t>
            </a:r>
            <a:r>
              <a:rPr sz="1600" spc="-4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0C0D0D"/>
                </a:solidFill>
                <a:latin typeface="Times New Roman"/>
                <a:cs typeface="Times New Roman"/>
              </a:rPr>
              <a:t>будут</a:t>
            </a:r>
            <a:r>
              <a:rPr sz="1600" spc="-4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C0D0D"/>
                </a:solidFill>
                <a:latin typeface="Times New Roman"/>
                <a:cs typeface="Times New Roman"/>
              </a:rPr>
              <a:t>потеряны</a:t>
            </a:r>
            <a:r>
              <a:rPr sz="1600" spc="-4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и</a:t>
            </a:r>
            <a:r>
              <a:rPr sz="1600" spc="-50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не</a:t>
            </a:r>
            <a:r>
              <a:rPr sz="1600" spc="-4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0C0D0D"/>
                </a:solidFill>
                <a:latin typeface="Times New Roman"/>
                <a:cs typeface="Times New Roman"/>
              </a:rPr>
              <a:t>будут</a:t>
            </a:r>
            <a:r>
              <a:rPr sz="1600" spc="-4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C0D0D"/>
                </a:solidFill>
                <a:latin typeface="Times New Roman"/>
                <a:cs typeface="Times New Roman"/>
              </a:rPr>
              <a:t>задублированы.</a:t>
            </a:r>
            <a:r>
              <a:rPr sz="1600" spc="-40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Именно</a:t>
            </a:r>
            <a:r>
              <a:rPr sz="1600" spc="-4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C0D0D"/>
                </a:solidFill>
                <a:latin typeface="Times New Roman"/>
                <a:cs typeface="Times New Roman"/>
              </a:rPr>
              <a:t>такой</a:t>
            </a:r>
            <a:r>
              <a:rPr sz="1600" spc="-4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C0D0D"/>
                </a:solidFill>
                <a:latin typeface="Times New Roman"/>
                <a:cs typeface="Times New Roman"/>
              </a:rPr>
              <a:t>уровень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надёжности</a:t>
            </a:r>
            <a:r>
              <a:rPr sz="1600" spc="-4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C0D0D"/>
                </a:solidFill>
                <a:latin typeface="Times New Roman"/>
                <a:cs typeface="Times New Roman"/>
              </a:rPr>
              <a:t>гарантирует</a:t>
            </a:r>
            <a:r>
              <a:rPr sz="1600" spc="-3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Spark</a:t>
            </a:r>
            <a:r>
              <a:rPr sz="1600" spc="-3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C0D0D"/>
                </a:solidFill>
                <a:latin typeface="Times New Roman"/>
                <a:cs typeface="Times New Roman"/>
              </a:rPr>
              <a:t>Streaming.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603575"/>
            <a:ext cx="8839199" cy="193635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500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DStream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999975"/>
            <a:ext cx="8839199" cy="314354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500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DStream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846600"/>
            <a:ext cx="8839199" cy="345031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500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DStream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125" y="1791062"/>
            <a:ext cx="865568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Вы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также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можете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легко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использовать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алгоритмы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машинного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обучения,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предоставляемые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MLlib.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Прежде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всего, существуют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алгоритмы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потокового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машинного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обучения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(например,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потоковая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линейная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регрессия,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Потоковые </a:t>
            </a:r>
            <a:r>
              <a:rPr sz="1400" b="1" dirty="0">
                <a:latin typeface="Times New Roman"/>
                <a:cs typeface="Times New Roman"/>
              </a:rPr>
              <a:t>KMeans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и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30" dirty="0">
                <a:latin typeface="Times New Roman"/>
                <a:cs typeface="Times New Roman"/>
              </a:rPr>
              <a:t>т. </a:t>
            </a:r>
            <a:r>
              <a:rPr sz="1400" dirty="0">
                <a:latin typeface="Times New Roman"/>
                <a:cs typeface="Times New Roman"/>
              </a:rPr>
              <a:t>Д.),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которые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могут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одновременно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учиться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на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потоковых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данных,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а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также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применять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модель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к </a:t>
            </a:r>
            <a:r>
              <a:rPr sz="1400" spc="-10" dirty="0">
                <a:latin typeface="Times New Roman"/>
                <a:cs typeface="Times New Roman"/>
              </a:rPr>
              <a:t>потоковым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данным.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Помимо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этого,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для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гораздо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более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широкого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класса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алгоритмов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машинного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обучения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вы </a:t>
            </a:r>
            <a:r>
              <a:rPr sz="1400" spc="-10" dirty="0">
                <a:latin typeface="Times New Roman"/>
                <a:cs typeface="Times New Roman"/>
              </a:rPr>
              <a:t>можете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изучить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модель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обучения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в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автономном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режиме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(то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есть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с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использованием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исторических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данных),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а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затем применить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модель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онлайн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к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потоковым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данным.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500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ML</a:t>
            </a:r>
            <a:r>
              <a:rPr spc="-114" dirty="0"/>
              <a:t> </a:t>
            </a:r>
            <a:r>
              <a:rPr dirty="0"/>
              <a:t>&amp;</a:t>
            </a:r>
            <a:r>
              <a:rPr spc="-5" dirty="0"/>
              <a:t> </a:t>
            </a:r>
            <a:r>
              <a:rPr spc="-10" dirty="0"/>
              <a:t>DStream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6054" y="2344201"/>
            <a:ext cx="49498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Structured streaming &amp;</a:t>
            </a:r>
            <a:r>
              <a:rPr spc="-5" dirty="0"/>
              <a:t> </a:t>
            </a:r>
            <a:r>
              <a:rPr spc="-10" dirty="0">
                <a:solidFill>
                  <a:srgbClr val="0097A7"/>
                </a:solidFill>
                <a:hlinkClick r:id="rId2"/>
              </a:rPr>
              <a:t>Dataframe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9978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Structured </a:t>
            </a:r>
            <a:r>
              <a:rPr spc="-10" dirty="0"/>
              <a:t>streaming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5208"/>
            <a:ext cx="8365490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Ключевая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идея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структурированной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потоковой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передачи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состоит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в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том,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чтобы 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рассматривать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поток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живых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данных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как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таблицу,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которая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постоянно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добавляется.</a:t>
            </a:r>
            <a:r>
              <a:rPr sz="1800" spc="5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Это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приводит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к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новой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модели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потоковой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обработки,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которая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очень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похожа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на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модель пакетной</a:t>
            </a:r>
            <a:r>
              <a:rPr sz="18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обработки.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Вы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будете</a:t>
            </a:r>
            <a:r>
              <a:rPr sz="18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выражать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свои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потоковые</a:t>
            </a:r>
            <a:r>
              <a:rPr sz="18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вычисления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в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виде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стандартного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пакетного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запроса,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как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в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статической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таблице,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а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Spark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запускает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его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как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инкрементный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запрос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в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неограниченной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входной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таблице.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286" y="877010"/>
            <a:ext cx="7709375" cy="356985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9987" y="464574"/>
            <a:ext cx="4682612" cy="433575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6962" y="467967"/>
            <a:ext cx="5163032" cy="43828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247" y="825112"/>
            <a:ext cx="3323872" cy="328655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1936" y="1228430"/>
            <a:ext cx="4981776" cy="28588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462" y="496692"/>
            <a:ext cx="7804369" cy="423095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0812" y="457580"/>
            <a:ext cx="7490058" cy="442476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3397" y="397729"/>
            <a:ext cx="6384793" cy="430352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123333"/>
            <a:ext cx="22485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Microsoft Sans Serif"/>
                <a:cs typeface="Microsoft Sans Serif"/>
              </a:rPr>
              <a:t>Window</a:t>
            </a:r>
            <a:r>
              <a:rPr sz="2700" spc="-145" dirty="0">
                <a:latin typeface="Microsoft Sans Serif"/>
                <a:cs typeface="Microsoft Sans Serif"/>
              </a:rPr>
              <a:t> </a:t>
            </a:r>
            <a:r>
              <a:rPr sz="2700" spc="-10" dirty="0">
                <a:latin typeface="Microsoft Sans Serif"/>
                <a:cs typeface="Microsoft Sans Serif"/>
              </a:rPr>
              <a:t>Types</a:t>
            </a:r>
            <a:endParaRPr sz="270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3950" y="852975"/>
            <a:ext cx="7010021" cy="41235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629</Words>
  <Application>Microsoft Office PowerPoint</Application>
  <PresentationFormat>Экран (16:9)</PresentationFormat>
  <Paragraphs>47</Paragraphs>
  <Slides>31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6" baseType="lpstr">
      <vt:lpstr>Arial</vt:lpstr>
      <vt:lpstr>Comic Sans MS</vt:lpstr>
      <vt:lpstr>Microsoft Sans Serif</vt:lpstr>
      <vt:lpstr>Times New Roman</vt:lpstr>
      <vt:lpstr>Office Theme</vt:lpstr>
      <vt:lpstr>Промышленное машинное обучение на Spark</vt:lpstr>
      <vt:lpstr>08. Обработка потоковых данных. Structured Streaming и интеграция с spark.ml.</vt:lpstr>
      <vt:lpstr>Потоковые данные где их искать.</vt:lpstr>
      <vt:lpstr>Потоковые данные где их искать.</vt:lpstr>
      <vt:lpstr>Сценарии отказа.</vt:lpstr>
      <vt:lpstr>Отказ во время обработки.</vt:lpstr>
      <vt:lpstr>Отказ во время отправки ответа о результатах обработки.</vt:lpstr>
      <vt:lpstr>Лямбда архитектура</vt:lpstr>
      <vt:lpstr>Лямбда-архитектура</vt:lpstr>
      <vt:lpstr>Презентация PowerPoint</vt:lpstr>
      <vt:lpstr>Spark Streaming &amp; DStream</vt:lpstr>
      <vt:lpstr>Spark Streaming</vt:lpstr>
      <vt:lpstr>Spark Streaming</vt:lpstr>
      <vt:lpstr>Презентация PowerPoint</vt:lpstr>
      <vt:lpstr>Spark Streaming</vt:lpstr>
      <vt:lpstr>DStream</vt:lpstr>
      <vt:lpstr>Fault tolerance levels</vt:lpstr>
      <vt:lpstr>DStream</vt:lpstr>
      <vt:lpstr>DStream</vt:lpstr>
      <vt:lpstr>DStream</vt:lpstr>
      <vt:lpstr>ML &amp; DStream</vt:lpstr>
      <vt:lpstr>Structured streaming &amp; Dataframe</vt:lpstr>
      <vt:lpstr>Structured streaming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Window Types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без названия</dc:title>
  <cp:lastModifiedBy>Илья Толоконов</cp:lastModifiedBy>
  <cp:revision>1</cp:revision>
  <dcterms:created xsi:type="dcterms:W3CDTF">2025-11-09T09:15:31Z</dcterms:created>
  <dcterms:modified xsi:type="dcterms:W3CDTF">2026-05-11T09:28:00Z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2025-11-09T00:00:00Z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2025-11-09T00:00:00Z</vt:filetime>
  </property>
</Properties>
</file>